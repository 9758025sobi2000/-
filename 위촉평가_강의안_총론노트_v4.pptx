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0" r:id="rId2"/>
    <p:sldId id="265" r:id="rId3"/>
    <p:sldId id="264" r:id="rId4"/>
    <p:sldId id="267" r:id="rId5"/>
    <p:sldId id="2155" r:id="rId6"/>
    <p:sldId id="2156" r:id="rId7"/>
    <p:sldId id="269" r:id="rId8"/>
    <p:sldId id="2123" r:id="rId9"/>
    <p:sldId id="2128" r:id="rId10"/>
    <p:sldId id="2157" r:id="rId11"/>
    <p:sldId id="270" r:id="rId12"/>
    <p:sldId id="2160" r:id="rId13"/>
    <p:sldId id="256" r:id="rId14"/>
    <p:sldId id="257" r:id="rId15"/>
    <p:sldId id="258" r:id="rId16"/>
    <p:sldId id="279" r:id="rId17"/>
    <p:sldId id="2159" r:id="rId18"/>
    <p:sldId id="2131" r:id="rId19"/>
    <p:sldId id="2076" r:id="rId20"/>
    <p:sldId id="2110" r:id="rId21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B21B4CC-9CD7-4B75-90EC-DCC7C2825A76}">
          <p14:sldIdLst>
            <p14:sldId id="260"/>
            <p14:sldId id="265"/>
            <p14:sldId id="264"/>
            <p14:sldId id="267"/>
          </p14:sldIdLst>
        </p14:section>
        <p14:section name="2026 폭력예방 통합교육 강의안" id="{9BD0213B-6C7C-4342-A2D1-B773F731DA21}">
          <p14:sldIdLst>
            <p14:sldId id="2155"/>
            <p14:sldId id="2156"/>
            <p14:sldId id="269"/>
            <p14:sldId id="2123"/>
            <p14:sldId id="2128"/>
            <p14:sldId id="2157"/>
            <p14:sldId id="270"/>
            <p14:sldId id="2160"/>
            <p14:sldId id="256"/>
            <p14:sldId id="257"/>
            <p14:sldId id="258"/>
            <p14:sldId id="279"/>
            <p14:sldId id="2159"/>
            <p14:sldId id="2131"/>
            <p14:sldId id="2076"/>
            <p14:sldId id="21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1" clrIdx="0">
    <p:extLst>
      <p:ext uri="{19B8F6BF-5375-455C-9EA6-DF929625EA0E}">
        <p15:presenceInfo xmlns:p15="http://schemas.microsoft.com/office/powerpoint/2012/main" userId="PC" providerId="None"/>
      </p:ext>
    </p:extLst>
  </p:cmAuthor>
  <p:cmAuthor id="2" name="sobi2000@naver.com" initials="s" lastIdx="1" clrIdx="1">
    <p:extLst>
      <p:ext uri="{19B8F6BF-5375-455C-9EA6-DF929625EA0E}">
        <p15:presenceInfo xmlns:p15="http://schemas.microsoft.com/office/powerpoint/2012/main" userId="f0afb955722d4c3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E9EC"/>
    <a:srgbClr val="E8F2F0"/>
    <a:srgbClr val="EBF1DE"/>
    <a:srgbClr val="1F497D"/>
    <a:srgbClr val="ACC8C4"/>
    <a:srgbClr val="3B1E3F"/>
    <a:srgbClr val="F4EEF6"/>
    <a:srgbClr val="7A4A1E"/>
    <a:srgbClr val="D2E7FE"/>
    <a:srgbClr val="7F77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42" autoAdjust="0"/>
    <p:restoredTop sz="60451" autoAdjust="0"/>
  </p:normalViewPr>
  <p:slideViewPr>
    <p:cSldViewPr>
      <p:cViewPr varScale="1">
        <p:scale>
          <a:sx n="64" d="100"/>
          <a:sy n="64" d="100"/>
        </p:scale>
        <p:origin x="3036" y="72"/>
      </p:cViewPr>
      <p:guideLst>
        <p:guide orient="horz" pos="2160"/>
        <p:guide pos="2880"/>
      </p:guideLst>
    </p:cSldViewPr>
  </p:slideViewPr>
  <p:outlineViewPr>
    <p:cViewPr>
      <p:scale>
        <a:sx n="100" d="100"/>
        <a:sy n="100" d="100"/>
      </p:scale>
      <p:origin x="0" y="-17083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4020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남성</c:v>
                </c:pt>
              </c:strCache>
            </c:strRef>
          </c:tx>
          <c:spPr>
            <a:solidFill>
              <a:srgbClr val="7F77D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맞벌이 (2.9배)</c:v>
                </c:pt>
                <c:pt idx="1">
                  <c:v>아내 외벌이 (1.5배)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</c:v>
                </c:pt>
                <c:pt idx="1">
                  <c:v>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57-477B-8FF3-3D71D22BD8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여성</c:v>
                </c:pt>
              </c:strCache>
            </c:strRef>
          </c:tx>
          <c:spPr>
            <a:solidFill>
              <a:srgbClr val="D4537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맞벌이 (2.9배)</c:v>
                </c:pt>
                <c:pt idx="1">
                  <c:v>아내 외벌이 (1.5배)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171</c:v>
                </c:pt>
                <c:pt idx="1">
                  <c:v>160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57-477B-8FF3-3D71D22BD8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0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600" b="1"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돌봄노동자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53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90D-4722-9764-906F8C81BFC0}"/>
              </c:ext>
            </c:extLst>
          </c:dPt>
          <c:dPt>
            <c:idx val="1"/>
            <c:bubble3D val="0"/>
            <c:spPr>
              <a:solidFill>
                <a:srgbClr val="D3D1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0D-4722-9764-906F8C81BFC0}"/>
              </c:ext>
            </c:extLst>
          </c:dPt>
          <c:dLbls>
            <c:dLbl>
              <c:idx val="0"/>
              <c:numFmt formatCode="0.0" sourceLinked="0"/>
              <c:spPr/>
              <c:txPr>
                <a:bodyPr/>
                <a:lstStyle/>
                <a:p>
                  <a:pPr>
                    <a:defRPr/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90D-4722-9764-906F8C81BFC0}"/>
                </c:ext>
              </c:extLst>
            </c:dLbl>
            <c:dLbl>
              <c:idx val="1"/>
              <c:numFmt formatCode="0.0" sourceLinked="0"/>
              <c:spPr/>
              <c:txPr>
                <a:bodyPr/>
                <a:lstStyle/>
                <a:p>
                  <a:pPr>
                    <a:defRPr/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90D-4722-9764-906F8C81BFC0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여성</c:v>
                </c:pt>
                <c:pt idx="1">
                  <c:v>남성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90.8</c:v>
                </c:pt>
                <c:pt idx="1">
                  <c:v>9.1999999999999993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90D-4722-9764-906F8C81BF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600" b="1"/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5656101380729397E-2"/>
          <c:y val="0.10255288410716593"/>
          <c:w val="0.90868779723854121"/>
          <c:h val="0.517349569527478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시간당 임금</c:v>
                </c:pt>
              </c:strCache>
            </c:strRef>
          </c:tx>
          <c:spPr>
            <a:solidFill>
              <a:srgbClr val="7F77D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F55-47F1-8119-5184E6289E35}"/>
              </c:ext>
            </c:extLst>
          </c:dPt>
          <c:dPt>
            <c:idx val="1"/>
            <c:invertIfNegative val="0"/>
            <c:bubble3D val="0"/>
            <c:spPr>
              <a:solidFill>
                <a:srgbClr val="D453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F55-47F1-8119-5184E6289E35}"/>
              </c:ext>
            </c:extLst>
          </c:dPt>
          <c:dLbls>
            <c:dLbl>
              <c:idx val="0"/>
              <c:layout>
                <c:manualLayout>
                  <c:x val="0"/>
                  <c:y val="3.0378147176047436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690725503883874"/>
                      <c:h val="0.1961419753086419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AF55-47F1-8119-5184E6289E3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남성</c:v>
                </c:pt>
                <c:pt idx="1">
                  <c:v>여성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29411</c:v>
                </c:pt>
                <c:pt idx="1">
                  <c:v>21164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F55-47F1-8119-5184E6289E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60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600" b="1"/>
      </a:pPr>
      <a:endParaRPr lang="ko-K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국회의원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F77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CDD-4ACF-A4D6-8A17E7972FBD}"/>
              </c:ext>
            </c:extLst>
          </c:dPt>
          <c:dPt>
            <c:idx val="1"/>
            <c:bubble3D val="0"/>
            <c:spPr>
              <a:solidFill>
                <a:srgbClr val="D453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CDD-4ACF-A4D6-8A17E7972FBD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CDD-4ACF-A4D6-8A17E7972FBD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CDD-4ACF-A4D6-8A17E7972FBD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남성</c:v>
                </c:pt>
                <c:pt idx="1">
                  <c:v>여성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236</c:v>
                </c:pt>
                <c:pt idx="1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CDD-4ACF-A4D6-8A17E7972F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latin typeface="맑은 고딕"/>
              <a:cs typeface="맑은 고딕"/>
            </a:defRPr>
          </a:pPr>
          <a:endParaRPr lang="ko-K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남성</c:v>
                </c:pt>
              </c:strCache>
            </c:strRef>
          </c:tx>
          <c:spPr>
            <a:solidFill>
              <a:srgbClr val="7F77DD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고용률</c:v>
                </c:pt>
                <c:pt idx="1">
                  <c:v>비정규직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70.900000000000006</c:v>
                </c:pt>
                <c:pt idx="1">
                  <c:v>30.5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35-4E83-A786-D03410F3B4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여성</c:v>
                </c:pt>
              </c:strCache>
            </c:strRef>
          </c:tx>
          <c:spPr>
            <a:solidFill>
              <a:srgbClr val="D4537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고용률</c:v>
                </c:pt>
                <c:pt idx="1">
                  <c:v>비정규직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56</c:v>
                </c:pt>
                <c:pt idx="1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35-4E83-A786-D03410F3B4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600" b="1"/>
      </a:pPr>
      <a:endParaRPr lang="ko-K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피해율</c:v>
                </c:pt>
              </c:strCache>
            </c:strRef>
          </c:tx>
          <c:spPr>
            <a:solidFill>
              <a:srgbClr val="D4537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472-46C5-A12B-42DAD5A6C6A5}"/>
              </c:ext>
            </c:extLst>
          </c:dPt>
          <c:dPt>
            <c:idx val="1"/>
            <c:invertIfNegative val="0"/>
            <c:bubble3D val="0"/>
            <c:spPr>
              <a:solidFill>
                <a:srgbClr val="7F77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472-46C5-A12B-42DAD5A6C6A5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000000"/>
                    </a:solidFill>
                    <a:latin typeface="맑은 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여성</c:v>
                </c:pt>
                <c:pt idx="1">
                  <c:v>남성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59.6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472-46C5-A12B-42DAD5A6C6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맑은 고딕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임원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F77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C3C-4881-8878-1AB1B52A8B21}"/>
              </c:ext>
            </c:extLst>
          </c:dPt>
          <c:dPt>
            <c:idx val="1"/>
            <c:bubble3D val="0"/>
            <c:spPr>
              <a:solidFill>
                <a:srgbClr val="D453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C3C-4881-8878-1AB1B52A8B21}"/>
              </c:ext>
            </c:extLst>
          </c:dPt>
          <c:dLbls>
            <c:dLbl>
              <c:idx val="0"/>
              <c:numFmt formatCode="0.0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C3C-4881-8878-1AB1B52A8B21}"/>
                </c:ext>
              </c:extLst>
            </c:dLbl>
            <c:dLbl>
              <c:idx val="1"/>
              <c:numFmt formatCode="0.0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C3C-4881-8878-1AB1B52A8B21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남성</c:v>
                </c:pt>
                <c:pt idx="1">
                  <c:v>여성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91.7</c:v>
                </c:pt>
                <c:pt idx="1">
                  <c:v>8.3000000000000007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C3C-4881-8878-1AB1B52A8B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맑은 고딕"/>
              <a:cs typeface="맑은 고딕"/>
            </a:defRPr>
          </a:pPr>
          <a:endParaRPr lang="ko-K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6411"/>
          </a:xfrm>
          <a:prstGeom prst="rect">
            <a:avLst/>
          </a:prstGeom>
        </p:spPr>
        <p:txBody>
          <a:bodyPr vert="horz" lIns="95563" tIns="47781" rIns="95563" bIns="47781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2" y="1"/>
            <a:ext cx="2945659" cy="496411"/>
          </a:xfrm>
          <a:prstGeom prst="rect">
            <a:avLst/>
          </a:prstGeom>
        </p:spPr>
        <p:txBody>
          <a:bodyPr vert="horz" lIns="95563" tIns="47781" rIns="95563" bIns="47781" rtlCol="0"/>
          <a:lstStyle>
            <a:lvl1pPr algn="r">
              <a:defRPr sz="1300"/>
            </a:lvl1pPr>
          </a:lstStyle>
          <a:p>
            <a:fld id="{800C3837-8754-45BB-8631-EC85D99E2DAA}" type="datetimeFigureOut">
              <a:rPr lang="ko-KR" altLang="en-US" smtClean="0"/>
              <a:pPr/>
              <a:t>2026-10-13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2950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3" tIns="47781" rIns="95563" bIns="4778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5563" tIns="47781" rIns="95563" bIns="47781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5563" tIns="47781" rIns="95563" bIns="47781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2" y="9430091"/>
            <a:ext cx="2945659" cy="496411"/>
          </a:xfrm>
          <a:prstGeom prst="rect">
            <a:avLst/>
          </a:prstGeom>
        </p:spPr>
        <p:txBody>
          <a:bodyPr vert="horz" lIns="95563" tIns="47781" rIns="95563" bIns="47781" rtlCol="0" anchor="b"/>
          <a:lstStyle>
            <a:lvl1pPr algn="r">
              <a:defRPr sz="1300"/>
            </a:lvl1pPr>
          </a:lstStyle>
          <a:p>
            <a:fld id="{4D5993E0-9481-4A54-BEF4-C7FFC7BE916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617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[A </a:t>
            </a:r>
            <a:r>
              <a:rPr lang="ko-KR" altLang="en-US" dirty="0"/>
              <a:t>분석</a:t>
            </a:r>
            <a:r>
              <a:rPr lang="en-US" altLang="ko-KR" dirty="0"/>
              <a:t>]</a:t>
            </a:r>
            <a:r>
              <a:rPr lang="ko-KR" altLang="en-US" dirty="0"/>
              <a:t> 작성 가이드 </a:t>
            </a:r>
            <a:r>
              <a:rPr lang="en-US" altLang="ko-KR" dirty="0"/>
              <a:t>(*</a:t>
            </a:r>
            <a:r>
              <a:rPr lang="ko-KR" altLang="en-US" dirty="0"/>
              <a:t>참고 </a:t>
            </a:r>
            <a:r>
              <a:rPr lang="en-US" altLang="ko-KR" dirty="0"/>
              <a:t>: </a:t>
            </a:r>
            <a:r>
              <a:rPr lang="ko-KR" altLang="en-US" dirty="0"/>
              <a:t>강의안 전체 분량 </a:t>
            </a:r>
            <a:r>
              <a:rPr lang="en-US" altLang="ko-KR" dirty="0"/>
              <a:t>: 4</a:t>
            </a:r>
            <a:r>
              <a:rPr lang="ko-KR" altLang="en-US" dirty="0"/>
              <a:t>시간 강의용 </a:t>
            </a:r>
            <a:r>
              <a:rPr lang="en-US" altLang="ko-KR" dirty="0"/>
              <a:t>/ </a:t>
            </a:r>
            <a:r>
              <a:rPr lang="ko-KR" altLang="en-US" dirty="0"/>
              <a:t>최소 </a:t>
            </a:r>
            <a:r>
              <a:rPr lang="en-US" altLang="ko-KR" dirty="0"/>
              <a:t>40</a:t>
            </a:r>
            <a:r>
              <a:rPr lang="ko-KR" altLang="en-US" dirty="0"/>
              <a:t>페이지 </a:t>
            </a:r>
            <a:r>
              <a:rPr lang="en-US" altLang="ko-KR" dirty="0"/>
              <a:t>– </a:t>
            </a:r>
            <a:r>
              <a:rPr lang="ko-KR" altLang="en-US" dirty="0"/>
              <a:t>최대 </a:t>
            </a:r>
            <a:r>
              <a:rPr lang="en-US" altLang="ko-KR" dirty="0"/>
              <a:t>100</a:t>
            </a:r>
            <a:r>
              <a:rPr lang="ko-KR" altLang="en-US" dirty="0"/>
              <a:t>페이지</a:t>
            </a:r>
            <a:r>
              <a:rPr lang="en-US" altLang="ko-KR" dirty="0"/>
              <a:t>)</a:t>
            </a:r>
          </a:p>
          <a:p>
            <a:pPr>
              <a:buFontTx/>
              <a:buChar char="-"/>
            </a:pPr>
            <a:r>
              <a:rPr lang="ko-KR" altLang="en-US" dirty="0"/>
              <a:t>강의주제 </a:t>
            </a:r>
            <a:r>
              <a:rPr lang="en-US" altLang="ko-KR" dirty="0"/>
              <a:t>: </a:t>
            </a:r>
            <a:r>
              <a:rPr lang="ko-KR" altLang="en-US" dirty="0"/>
              <a:t>교육의 핵심내용</a:t>
            </a:r>
            <a:r>
              <a:rPr lang="en-US" altLang="ko-KR" dirty="0"/>
              <a:t>, </a:t>
            </a:r>
            <a:r>
              <a:rPr lang="ko-KR" altLang="en-US" dirty="0"/>
              <a:t>소재</a:t>
            </a:r>
            <a:r>
              <a:rPr lang="en-US" altLang="ko-KR" dirty="0"/>
              <a:t>, </a:t>
            </a:r>
            <a:r>
              <a:rPr lang="ko-KR" altLang="en-US" dirty="0"/>
              <a:t>주된 내용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강의제목 </a:t>
            </a:r>
            <a:r>
              <a:rPr lang="en-US" altLang="ko-KR" dirty="0"/>
              <a:t>: </a:t>
            </a:r>
            <a:r>
              <a:rPr lang="ko-KR" altLang="en-US" dirty="0"/>
              <a:t>제목은 주제와 같을 수도 있으나</a:t>
            </a:r>
            <a:r>
              <a:rPr lang="en-US" altLang="ko-KR" dirty="0"/>
              <a:t>, </a:t>
            </a:r>
            <a:r>
              <a:rPr lang="ko-KR" altLang="en-US" dirty="0"/>
              <a:t>학습자의 참여를 유도할 수 있는 제목으로 선정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강의대상 </a:t>
            </a:r>
            <a:r>
              <a:rPr lang="en-US" altLang="ko-KR" dirty="0"/>
              <a:t>: </a:t>
            </a:r>
            <a:r>
              <a:rPr lang="ko-KR" altLang="en-US" dirty="0"/>
              <a:t>폭력예방교육 의무대상기관 중 </a:t>
            </a:r>
            <a:r>
              <a:rPr lang="ko-KR" altLang="en-US" u="sng" dirty="0"/>
              <a:t>성인 종사자</a:t>
            </a:r>
            <a:r>
              <a:rPr lang="en-US" altLang="ko-KR" dirty="0"/>
              <a:t>(</a:t>
            </a:r>
            <a:r>
              <a:rPr lang="ko-KR" altLang="en-US" dirty="0"/>
              <a:t>세부 대상은 자유 설정</a:t>
            </a:r>
            <a:r>
              <a:rPr lang="en-US" altLang="ko-KR" dirty="0"/>
              <a:t>)</a:t>
            </a:r>
          </a:p>
          <a:p>
            <a:pPr>
              <a:buFontTx/>
              <a:buChar char="-"/>
            </a:pPr>
            <a:r>
              <a:rPr lang="ko-KR" altLang="en-US" dirty="0" err="1"/>
              <a:t>대상별</a:t>
            </a:r>
            <a:r>
              <a:rPr lang="ko-KR" altLang="en-US" dirty="0"/>
              <a:t> 특성 </a:t>
            </a:r>
            <a:r>
              <a:rPr lang="en-US" altLang="ko-KR" dirty="0"/>
              <a:t>: </a:t>
            </a:r>
            <a:r>
              <a:rPr lang="ko-KR" altLang="en-US" dirty="0"/>
              <a:t>교육대상과 현장분석 내용을 기초로 폭력예방교육인식</a:t>
            </a:r>
            <a:r>
              <a:rPr lang="en-US" altLang="ko-KR" dirty="0"/>
              <a:t>, </a:t>
            </a:r>
            <a:r>
              <a:rPr lang="ko-KR" altLang="en-US" dirty="0"/>
              <a:t>참여동기</a:t>
            </a:r>
            <a:r>
              <a:rPr lang="en-US" altLang="ko-KR" dirty="0"/>
              <a:t>, </a:t>
            </a:r>
            <a:r>
              <a:rPr lang="ko-KR" altLang="en-US" dirty="0"/>
              <a:t>선행지식</a:t>
            </a:r>
            <a:r>
              <a:rPr lang="en-US" altLang="ko-KR" dirty="0"/>
              <a:t>, </a:t>
            </a:r>
            <a:r>
              <a:rPr lang="ko-KR" altLang="en-US" dirty="0"/>
              <a:t>핵심 내용 등을 중심으로 기술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5993E0-9481-4A54-BEF4-C7FFC7BE916A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534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55624">
              <a:defRPr/>
            </a:pPr>
            <a:r>
              <a:rPr lang="en-US" altLang="ko-KR" dirty="0"/>
              <a:t>[B </a:t>
            </a:r>
            <a:r>
              <a:rPr lang="ko-KR" altLang="en-US" dirty="0"/>
              <a:t>설계</a:t>
            </a:r>
            <a:r>
              <a:rPr lang="en-US" altLang="ko-KR" dirty="0"/>
              <a:t>]</a:t>
            </a:r>
            <a:r>
              <a:rPr lang="ko-KR" altLang="en-US" dirty="0"/>
              <a:t> 작성 가이드 </a:t>
            </a:r>
            <a:r>
              <a:rPr lang="en-US" altLang="ko-KR" dirty="0"/>
              <a:t>(*</a:t>
            </a:r>
            <a:r>
              <a:rPr lang="ko-KR" altLang="en-US" dirty="0"/>
              <a:t>참고 </a:t>
            </a:r>
            <a:r>
              <a:rPr lang="en-US" altLang="ko-KR" dirty="0"/>
              <a:t>: </a:t>
            </a:r>
            <a:r>
              <a:rPr lang="ko-KR" altLang="en-US" dirty="0"/>
              <a:t>강의안 전체 분량 </a:t>
            </a:r>
            <a:r>
              <a:rPr lang="en-US" altLang="ko-KR" dirty="0"/>
              <a:t>: 4</a:t>
            </a:r>
            <a:r>
              <a:rPr lang="ko-KR" altLang="en-US" dirty="0"/>
              <a:t>시간 강의용 </a:t>
            </a:r>
            <a:r>
              <a:rPr lang="en-US" altLang="ko-KR" dirty="0"/>
              <a:t>/ </a:t>
            </a:r>
            <a:r>
              <a:rPr lang="ko-KR" altLang="en-US" dirty="0"/>
              <a:t>최소 </a:t>
            </a:r>
            <a:r>
              <a:rPr lang="en-US" altLang="ko-KR" dirty="0"/>
              <a:t>40</a:t>
            </a:r>
            <a:r>
              <a:rPr lang="ko-KR" altLang="en-US" dirty="0"/>
              <a:t>페이지 </a:t>
            </a:r>
            <a:r>
              <a:rPr lang="en-US" altLang="ko-KR" dirty="0"/>
              <a:t>– </a:t>
            </a:r>
            <a:r>
              <a:rPr lang="ko-KR" altLang="en-US" dirty="0"/>
              <a:t>최대 </a:t>
            </a:r>
            <a:r>
              <a:rPr lang="en-US" altLang="ko-KR" dirty="0"/>
              <a:t>100</a:t>
            </a:r>
            <a:r>
              <a:rPr lang="ko-KR" altLang="en-US" dirty="0"/>
              <a:t>페이지</a:t>
            </a:r>
            <a:r>
              <a:rPr lang="en-US" altLang="ko-KR" dirty="0"/>
              <a:t>)</a:t>
            </a:r>
          </a:p>
          <a:p>
            <a:pPr>
              <a:buFontTx/>
              <a:buChar char="-"/>
            </a:pPr>
            <a:r>
              <a:rPr lang="ko-KR" altLang="en-US" dirty="0"/>
              <a:t>목표설정 </a:t>
            </a:r>
            <a:r>
              <a:rPr lang="en-US" altLang="ko-KR" dirty="0"/>
              <a:t>: </a:t>
            </a:r>
            <a:r>
              <a:rPr lang="ko-KR" altLang="en-US" dirty="0"/>
              <a:t>교육대상의 입장에서 무엇을</a:t>
            </a:r>
            <a:r>
              <a:rPr lang="en-US" altLang="ko-KR" dirty="0"/>
              <a:t>, </a:t>
            </a:r>
            <a:r>
              <a:rPr lang="ko-KR" altLang="en-US" dirty="0"/>
              <a:t>얼마나 변화시킬 것인가를 확인 가능한 구체적 진술문으로 제시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차시구성 </a:t>
            </a:r>
            <a:r>
              <a:rPr lang="en-US" altLang="ko-KR" dirty="0"/>
              <a:t>: </a:t>
            </a:r>
            <a:r>
              <a:rPr lang="ko-KR" altLang="en-US" dirty="0"/>
              <a:t>총론을 제외한 각론</a:t>
            </a:r>
            <a:r>
              <a:rPr lang="en-US" altLang="ko-KR" dirty="0"/>
              <a:t>(</a:t>
            </a:r>
            <a:r>
              <a:rPr lang="ko-KR" altLang="en-US" dirty="0"/>
              <a:t>성폭력</a:t>
            </a:r>
            <a:r>
              <a:rPr lang="en-US" altLang="ko-KR" dirty="0"/>
              <a:t>,</a:t>
            </a:r>
            <a:r>
              <a:rPr lang="ko-KR" altLang="en-US" dirty="0"/>
              <a:t>성희롱</a:t>
            </a:r>
            <a:r>
              <a:rPr lang="en-US" altLang="ko-KR" dirty="0"/>
              <a:t>,</a:t>
            </a:r>
            <a:r>
              <a:rPr lang="ko-KR" altLang="en-US" dirty="0"/>
              <a:t>성매매</a:t>
            </a:r>
            <a:r>
              <a:rPr lang="en-US" altLang="ko-KR" dirty="0"/>
              <a:t>,</a:t>
            </a:r>
            <a:r>
              <a:rPr lang="ko-KR" altLang="en-US" dirty="0"/>
              <a:t>가정폭력</a:t>
            </a:r>
            <a:r>
              <a:rPr lang="en-US" altLang="ko-KR" dirty="0"/>
              <a:t>) </a:t>
            </a:r>
            <a:r>
              <a:rPr lang="ko-KR" altLang="en-US" dirty="0"/>
              <a:t>으로 구성 </a:t>
            </a:r>
            <a:r>
              <a:rPr lang="en-US" altLang="ko-KR" dirty="0"/>
              <a:t>/ </a:t>
            </a:r>
            <a:r>
              <a:rPr lang="ko-KR" altLang="en-US" dirty="0"/>
              <a:t>각론 분야 순서는 자유롭게 구성 가능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매체선정 </a:t>
            </a:r>
            <a:r>
              <a:rPr lang="en-US" altLang="ko-KR" dirty="0"/>
              <a:t>:</a:t>
            </a:r>
            <a:r>
              <a:rPr lang="en-US" altLang="ko-KR" baseline="0" dirty="0"/>
              <a:t> </a:t>
            </a:r>
            <a:r>
              <a:rPr lang="ko-KR" altLang="en-US" baseline="0" dirty="0"/>
              <a:t>교육에 활용되는 도구 선정</a:t>
            </a:r>
            <a:r>
              <a:rPr lang="en-US" altLang="ko-KR" baseline="0" dirty="0"/>
              <a:t>(</a:t>
            </a:r>
            <a:r>
              <a:rPr lang="ko-KR" altLang="en-US" baseline="0" dirty="0"/>
              <a:t>컴퓨터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빔프로젝트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플립차트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포스트잇</a:t>
            </a:r>
            <a:r>
              <a:rPr lang="ko-KR" altLang="en-US" baseline="0" dirty="0"/>
              <a:t> 등</a:t>
            </a:r>
            <a:r>
              <a:rPr lang="en-US" altLang="ko-KR" baseline="0" dirty="0"/>
              <a:t>)</a:t>
            </a:r>
          </a:p>
          <a:p>
            <a:pPr>
              <a:buFontTx/>
              <a:buChar char="-"/>
            </a:pPr>
            <a:r>
              <a:rPr lang="ko-KR" altLang="en-US" dirty="0"/>
              <a:t>교육방법 </a:t>
            </a:r>
            <a:r>
              <a:rPr lang="en-US" altLang="ko-KR" dirty="0"/>
              <a:t>: </a:t>
            </a:r>
            <a:r>
              <a:rPr lang="ko-KR" altLang="en-US" dirty="0"/>
              <a:t>구체적인 방법론</a:t>
            </a:r>
            <a:r>
              <a:rPr lang="en-US" altLang="ko-KR" dirty="0"/>
              <a:t>(</a:t>
            </a:r>
            <a:r>
              <a:rPr lang="ko-KR" altLang="en-US" dirty="0"/>
              <a:t>강의식</a:t>
            </a:r>
            <a:r>
              <a:rPr lang="en-US" altLang="ko-KR" dirty="0"/>
              <a:t>, </a:t>
            </a:r>
            <a:r>
              <a:rPr lang="ko-KR" altLang="en-US" dirty="0"/>
              <a:t>토론식</a:t>
            </a:r>
            <a:r>
              <a:rPr lang="en-US" altLang="ko-KR" dirty="0"/>
              <a:t>, </a:t>
            </a:r>
            <a:r>
              <a:rPr lang="ko-KR" altLang="en-US" dirty="0"/>
              <a:t>참여형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 제시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5993E0-9481-4A54-BEF4-C7FFC7BE916A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340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55624">
              <a:defRPr/>
            </a:pPr>
            <a:r>
              <a:rPr lang="en-US" altLang="ko-KR" dirty="0"/>
              <a:t>[D </a:t>
            </a:r>
            <a:r>
              <a:rPr lang="ko-KR" altLang="en-US" dirty="0"/>
              <a:t>개발 </a:t>
            </a:r>
            <a:r>
              <a:rPr lang="en-US" altLang="ko-KR" dirty="0"/>
              <a:t>/ I </a:t>
            </a:r>
            <a:r>
              <a:rPr lang="ko-KR" altLang="en-US" dirty="0"/>
              <a:t>실행</a:t>
            </a:r>
            <a:r>
              <a:rPr lang="en-US" altLang="ko-KR" dirty="0"/>
              <a:t>]</a:t>
            </a:r>
            <a:r>
              <a:rPr lang="ko-KR" altLang="en-US" dirty="0"/>
              <a:t> 작성 가이드 </a:t>
            </a:r>
            <a:r>
              <a:rPr lang="en-US" altLang="ko-KR" dirty="0"/>
              <a:t>(*</a:t>
            </a:r>
            <a:r>
              <a:rPr lang="ko-KR" altLang="en-US" dirty="0"/>
              <a:t>참고 </a:t>
            </a:r>
            <a:r>
              <a:rPr lang="en-US" altLang="ko-KR" dirty="0"/>
              <a:t>: </a:t>
            </a:r>
            <a:r>
              <a:rPr lang="ko-KR" altLang="en-US" dirty="0"/>
              <a:t>강의안 전체 분량 </a:t>
            </a:r>
            <a:r>
              <a:rPr lang="en-US" altLang="ko-KR" dirty="0"/>
              <a:t>: 4</a:t>
            </a:r>
            <a:r>
              <a:rPr lang="ko-KR" altLang="en-US" dirty="0"/>
              <a:t>시간 강의용 </a:t>
            </a:r>
            <a:r>
              <a:rPr lang="en-US" altLang="ko-KR" dirty="0"/>
              <a:t>/ </a:t>
            </a:r>
            <a:r>
              <a:rPr lang="ko-KR" altLang="en-US" dirty="0"/>
              <a:t>최소 </a:t>
            </a:r>
            <a:r>
              <a:rPr lang="en-US" altLang="ko-KR" dirty="0"/>
              <a:t>40</a:t>
            </a:r>
            <a:r>
              <a:rPr lang="ko-KR" altLang="en-US" dirty="0"/>
              <a:t>페이지 </a:t>
            </a:r>
            <a:r>
              <a:rPr lang="en-US" altLang="ko-KR" dirty="0"/>
              <a:t>– </a:t>
            </a:r>
            <a:r>
              <a:rPr lang="ko-KR" altLang="en-US" dirty="0"/>
              <a:t>최대 </a:t>
            </a:r>
            <a:r>
              <a:rPr lang="en-US" altLang="ko-KR" dirty="0"/>
              <a:t>100</a:t>
            </a:r>
            <a:r>
              <a:rPr lang="ko-KR" altLang="en-US" dirty="0"/>
              <a:t>페이지</a:t>
            </a:r>
            <a:r>
              <a:rPr lang="en-US" altLang="ko-KR" dirty="0"/>
              <a:t>)</a:t>
            </a:r>
          </a:p>
          <a:p>
            <a:pPr marL="179179" indent="-179179" defTabSz="955624">
              <a:buFontTx/>
              <a:buChar char="-"/>
              <a:defRPr/>
            </a:pPr>
            <a:r>
              <a:rPr lang="en-US" altLang="ko-KR" dirty="0"/>
              <a:t>[B </a:t>
            </a:r>
            <a:r>
              <a:rPr lang="ko-KR" altLang="en-US" dirty="0"/>
              <a:t>설계</a:t>
            </a:r>
            <a:r>
              <a:rPr lang="en-US" altLang="ko-KR" dirty="0"/>
              <a:t>] </a:t>
            </a:r>
            <a:r>
              <a:rPr lang="ko-KR" altLang="en-US" dirty="0"/>
              <a:t>에서 작성한 </a:t>
            </a:r>
            <a:r>
              <a:rPr lang="en-US" altLang="ko-KR" dirty="0"/>
              <a:t>‘</a:t>
            </a:r>
            <a:r>
              <a:rPr lang="ko-KR" altLang="en-US" dirty="0"/>
              <a:t>차시 구성</a:t>
            </a:r>
            <a:r>
              <a:rPr lang="en-US" altLang="ko-KR" dirty="0"/>
              <a:t>(</a:t>
            </a:r>
            <a:r>
              <a:rPr lang="ko-KR" altLang="en-US" dirty="0"/>
              <a:t>성폭력</a:t>
            </a:r>
            <a:r>
              <a:rPr lang="en-US" altLang="ko-KR" dirty="0"/>
              <a:t>,</a:t>
            </a:r>
            <a:r>
              <a:rPr lang="ko-KR" altLang="en-US" dirty="0"/>
              <a:t>성희롱</a:t>
            </a:r>
            <a:r>
              <a:rPr lang="en-US" altLang="ko-KR" dirty="0"/>
              <a:t>,</a:t>
            </a:r>
            <a:r>
              <a:rPr lang="ko-KR" altLang="en-US" dirty="0"/>
              <a:t>성매매</a:t>
            </a:r>
            <a:r>
              <a:rPr lang="en-US" altLang="ko-KR" dirty="0"/>
              <a:t>,</a:t>
            </a:r>
            <a:r>
              <a:rPr lang="ko-KR" altLang="en-US" dirty="0"/>
              <a:t>가정폭력</a:t>
            </a:r>
            <a:r>
              <a:rPr lang="en-US" altLang="ko-KR" dirty="0"/>
              <a:t>)‘ </a:t>
            </a:r>
            <a:r>
              <a:rPr lang="ko-KR" altLang="en-US" dirty="0"/>
              <a:t>의 주요 목차를 간략히 작성</a:t>
            </a:r>
            <a:endParaRPr lang="en-US" altLang="ko-KR" dirty="0"/>
          </a:p>
          <a:p>
            <a:pPr marL="179179" indent="-179179" defTabSz="955624">
              <a:buFontTx/>
              <a:buChar char="-"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5993E0-9481-4A54-BEF4-C7FFC7BE916A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197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993E0-9481-4A54-BEF4-C7FFC7BE916A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014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[0:40 | 누적 0:40]</a:t>
            </a:r>
          </a:p>
          <a:p>
            <a:r>
              <a:rPr lang="ko-KR" altLang="en-US" dirty="0"/>
              <a:t>(애니메이션 없음) ― 강의소개 시작</a:t>
            </a:r>
          </a:p>
          <a:p>
            <a:endParaRPr lang="ko-KR" altLang="en-US" dirty="0"/>
          </a:p>
          <a:p>
            <a:r>
              <a:rPr lang="ko-KR" altLang="en-US" dirty="0"/>
              <a:t>【시연 운영 메모】 총론 10분(강의소개 1분 미만 포함) → 목표 9:30, 여유 30초</a:t>
            </a:r>
          </a:p>
          <a:p>
            <a:r>
              <a:rPr lang="ko-KR" altLang="en-US" dirty="0"/>
              <a:t>· 참여활동·토론은 진행한 것으로 간주하고 생략(노트의 [참여] 표시) / 각론은 심사위원 지정 슬라이드로 별도 10분</a:t>
            </a:r>
          </a:p>
          <a:p>
            <a:r>
              <a:rPr lang="ko-KR" altLang="en-US" dirty="0"/>
              <a:t>· 20분 내 최소 8개 슬라이드 이상 시연(총론 16장 전체 시연 시 충족)</a:t>
            </a:r>
          </a:p>
          <a:p>
            <a:endParaRPr lang="ko-KR" altLang="en-US" dirty="0"/>
          </a:p>
          <a:p>
            <a:r>
              <a:rPr lang="ko-KR" altLang="en-US" dirty="0"/>
              <a:t>안녕하십니까. 경상국립대학교 인권센터 이은주입니다.</a:t>
            </a:r>
          </a:p>
          <a:p>
            <a:r>
              <a:rPr lang="ko-KR" altLang="en-US" dirty="0"/>
              <a:t>(청중 전체를 천천히 둘러보며)</a:t>
            </a:r>
          </a:p>
          <a:p>
            <a:r>
              <a:rPr lang="ko-KR" altLang="en-US" dirty="0"/>
              <a:t>이 강의는 국립대 총장, 처장, 학장 등 고위직 50분을 위한 4시간 폭력예방 통합교육으로, 총론과 네 개의 각론으로 구성됩니다.</a:t>
            </a:r>
          </a:p>
          <a:p>
            <a:r>
              <a:rPr lang="ko-KR" altLang="en-US" dirty="0"/>
              <a:t>인사와 징계 권한을 가진 고위직의 성인지 관점이 조직문화 전체를 좌우하기 때문입니다.</a:t>
            </a:r>
          </a:p>
          <a:p>
            <a:r>
              <a:rPr lang="ko-KR" altLang="en-US" dirty="0"/>
              <a:t>제목은 '보이지 않는 권력, 보이는 책임'입니다. 권력은 가진 사람에게 잘 보이지 않지만, 책임은 분명히 드러납니다.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993E0-9481-4A54-BEF4-C7FFC7BE916A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7650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[0:10 | 누적 0:50]</a:t>
            </a:r>
          </a:p>
          <a:p>
            <a:r>
              <a:rPr lang="ko-KR" altLang="en-US" dirty="0"/>
              <a:t>(애니메이션 없음) ― 여기까지 강의소개 1분 이내</a:t>
            </a:r>
          </a:p>
          <a:p>
            <a:endParaRPr lang="ko-KR" altLang="en-US" dirty="0"/>
          </a:p>
          <a:p>
            <a:r>
              <a:rPr lang="ko-KR" altLang="en-US" dirty="0"/>
              <a:t>학습목표는 세 가지입니다.</a:t>
            </a:r>
          </a:p>
          <a:p>
            <a:r>
              <a:rPr lang="ko-KR" altLang="en-US" dirty="0"/>
              <a:t>(손가락으로 하나, 둘, 셋을 짚으며)</a:t>
            </a:r>
          </a:p>
          <a:p>
            <a:r>
              <a:rPr lang="ko-KR" altLang="en-US" dirty="0"/>
              <a:t>폭력이 만들어지는 구조를 이해하고, 고위직의 영향력을 인식하고, 실천계획 하나를 세우는 것입니다.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993E0-9481-4A54-BEF4-C7FFC7BE916A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683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[1:10 | 누적 2:00]</a:t>
            </a:r>
          </a:p>
          <a:p>
            <a:r>
              <a:rPr lang="ko-KR" altLang="en-US" dirty="0"/>
              <a:t>(시작 화면: 인물들만 보이는 상태 / 클릭 9회)</a:t>
            </a:r>
          </a:p>
          <a:p>
            <a:endParaRPr lang="ko-KR" altLang="en-US" dirty="0"/>
          </a:p>
          <a:p>
            <a:r>
              <a:rPr lang="ko-KR" altLang="en-US" dirty="0"/>
              <a:t>한 가지 상황을 보겠습니다. 국책사업단에서 성희롱 사건이 발생했습니다.</a:t>
            </a:r>
          </a:p>
          <a:p>
            <a:endParaRPr lang="ko-KR" altLang="en-US" dirty="0"/>
          </a:p>
          <a:p>
            <a:r>
              <a:rPr lang="ko-KR" altLang="en-US" dirty="0"/>
              <a:t>▶ 클릭1 – 사업단장이 말합니다. "A직원은 업무를 계속하게 하고, 피해직원 B에게는 유급휴가를 주는 게 어떨까요?"</a:t>
            </a:r>
          </a:p>
          <a:p>
            <a:r>
              <a:rPr lang="ko-KR" altLang="en-US" dirty="0"/>
              <a:t>▶ 클릭2 – 속마음은 '직원들도 이해하겠지.' 악의 없는, 배려처럼 보이는 결정입니다.</a:t>
            </a:r>
          </a:p>
          <a:p>
            <a:r>
              <a:rPr lang="ko-KR" altLang="en-US" dirty="0"/>
              <a:t>▶ 클릭3 – 모두 "네, 알겠습니다"라고 답합니다. (잠시 멈춤) 이 침묵 속에서 직원들은 무엇을 배웠을까요?</a:t>
            </a:r>
          </a:p>
          <a:p>
            <a:r>
              <a:rPr lang="ko-KR" altLang="en-US" dirty="0"/>
              <a:t>[참여] 본 과정에서는 1~2명의 의견을 듣습니다. → 시연에서는 "의견을 나눈 것으로 하고 넘어가겠습니다" 한마디 후 바로 클릭4</a:t>
            </a:r>
          </a:p>
          <a:p>
            <a:r>
              <a:rPr lang="ko-KR" altLang="en-US" dirty="0"/>
              <a:t>▶ 클릭4 – 팀장은 '다음엔 조용히 처리하자',</a:t>
            </a:r>
          </a:p>
          <a:p>
            <a:r>
              <a:rPr lang="ko-KR" altLang="en-US" dirty="0"/>
              <a:t>▶ 클릭5 – 동료들은 '신고하면 피해자가 빠지는구나',</a:t>
            </a:r>
          </a:p>
          <a:p>
            <a:r>
              <a:rPr lang="ko-KR" altLang="en-US" dirty="0"/>
              <a:t>▶ 클릭6 – 행위자는 '별일 아니었구나'.</a:t>
            </a:r>
          </a:p>
          <a:p>
            <a:r>
              <a:rPr lang="ko-KR" altLang="en-US" dirty="0"/>
              <a:t>▶ 클릭7 – 그리고 피해직원 B는 '결국 자리를 비우는 건 나구나, 말하지 말걸' 하고 후회합니다.</a:t>
            </a:r>
          </a:p>
          <a:p>
            <a:r>
              <a:rPr lang="ko-KR" altLang="en-US" dirty="0"/>
              <a:t>▶ 클릭8 – 의도하지 않았어도, 이 한마디가 피해를 방관하는 조직문화를 만듭니다.</a:t>
            </a:r>
          </a:p>
          <a:p>
            <a:r>
              <a:rPr lang="ko-KR" altLang="en-US" dirty="0"/>
              <a:t>▶ 클릭9 – (천천히, 힘주어) 고위직의 말 한마디가 조직의 기준이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[0:35 | 누적 2:35]</a:t>
            </a:r>
          </a:p>
          <a:p>
            <a:r>
              <a:rPr lang="ko-KR" altLang="en-US" dirty="0"/>
              <a:t>(시작 화면: 지침 조문 / 클릭 1회)</a:t>
            </a:r>
          </a:p>
          <a:p>
            <a:endParaRPr lang="ko-KR" altLang="en-US" dirty="0"/>
          </a:p>
          <a:p>
            <a:r>
              <a:rPr lang="ko-KR" altLang="en-US" dirty="0"/>
              <a:t>그래서 우리 대학은 올해 6월 시행한 2차 피해 방지 지침 제4조에 총장의 책무로 '가해자에 대한 무관용 원칙 천명'을 담았습니다. 천명은 구성원이 듣도록 분명히 말하는 것입니다.</a:t>
            </a:r>
          </a:p>
          <a:p>
            <a:r>
              <a:rPr lang="ko-KR" altLang="en-US" dirty="0"/>
              <a:t>그런데 엄정한 처벌만으로 충분할까요?</a:t>
            </a:r>
          </a:p>
          <a:p>
            <a:r>
              <a:rPr lang="ko-KR" altLang="en-US" dirty="0"/>
              <a:t>▶ 클릭1 – 더 중요한 것은 피해자의 피해가 무엇인지 아는 것입니다. 앞의 사업단장은 B에게 무엇이 필요한지 묻지 않았습니다.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993E0-9481-4A54-BEF4-C7FFC7BE916A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224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[0:10 | 누적 2:45]</a:t>
            </a:r>
          </a:p>
          <a:p>
            <a:r>
              <a:rPr lang="ko-KR" altLang="en-US" dirty="0"/>
              <a:t>(시작 화면: 질문과 이미지 / 클릭 1회)</a:t>
            </a:r>
          </a:p>
          <a:p>
            <a:endParaRPr lang="ko-KR" altLang="en-US" dirty="0"/>
          </a:p>
          <a:p>
            <a:r>
              <a:rPr lang="ko-KR" altLang="en-US" dirty="0"/>
              <a:t>그렇다면 고위직으로서 나는 무엇을 할 수 있을까요?</a:t>
            </a:r>
          </a:p>
          <a:p>
            <a:r>
              <a:rPr lang="ko-KR" altLang="en-US" dirty="0"/>
              <a:t>▶ 클릭1 – 출발점은 우리 안의 선입견, 고정관념, 편견을 점검하는 것입니다.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993E0-9481-4A54-BEF4-C7FFC7BE916A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235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[0:45 | 누적 3:30]</a:t>
            </a:r>
          </a:p>
          <a:p>
            <a:r>
              <a:rPr lang="ko-KR" altLang="en-US" dirty="0"/>
              <a:t>(시작 화면: 7가지 발언 / 클릭 3회)</a:t>
            </a:r>
          </a:p>
          <a:p>
            <a:endParaRPr lang="ko-KR" altLang="en-US" dirty="0"/>
          </a:p>
          <a:p>
            <a:r>
              <a:rPr lang="ko-KR" altLang="en-US" dirty="0"/>
              <a:t>혹시 이런 말, 해 보셨거나 들어 보신 적 있으십니까?</a:t>
            </a:r>
          </a:p>
          <a:p>
            <a:r>
              <a:rPr lang="ko-KR" altLang="en-US" dirty="0"/>
              <a:t>[참여] 본 과정에서는 해 본 적 있는 말에 마음속으로 체크합니다. → 시연에서는 체크한 것으로 간주하고 바로 클릭1</a:t>
            </a:r>
          </a:p>
          <a:p>
            <a:r>
              <a:rPr lang="ko-KR" altLang="en-US" dirty="0"/>
              <a:t>▶ 클릭1 – (해석이 차례로 나타나는 동안) 발언마다 숨은 규범이 있습니다. 의전은 여성, 힘든 일과 리더십은 남성. 칭찬처럼 들리는 '남자직원이 요리 잘하네'에도 가사는 여성의 일이라는 전제가 있습니다.</a:t>
            </a:r>
          </a:p>
          <a:p>
            <a:r>
              <a:rPr lang="ko-KR" altLang="en-US" dirty="0"/>
              <a:t>▶ 클릭2 – 마지막 발언을 봐 주십시오. 같은 강한 말이 남성에게는 '카리스마', 여성에게는 '드세다'가 됩니다. 이 이중잣대가 성별 권력관계가 작동하는 방식입니다.</a:t>
            </a:r>
          </a:p>
          <a:p>
            <a:r>
              <a:rPr lang="ko-KR" altLang="en-US" dirty="0"/>
              <a:t>▶ 클릭3 – 고정관념이 규범이 되고, 규범이 권력관계가 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993E0-9481-4A54-BEF4-C7FFC7BE916A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8998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[1:10 | 누적 4:40]</a:t>
            </a:r>
          </a:p>
          <a:p>
            <a:r>
              <a:rPr lang="ko-KR" altLang="en-US" dirty="0"/>
              <a:t>(시작 화면: 톱니 4개 + "ㅇㅇㅇㅇㅇㅇ이 만들어지는 구조" / 클릭 1회 – 정답은 마지막에 공개)</a:t>
            </a:r>
          </a:p>
          <a:p>
            <a:endParaRPr lang="ko-KR" altLang="en-US" dirty="0"/>
          </a:p>
          <a:p>
            <a:r>
              <a:rPr lang="ko-KR" altLang="en-US" dirty="0"/>
              <a:t>이 여섯 글자는 무엇일까요? 정답은 잠시 뒤에 공개하고, 톱니부터 보겠습니다.</a:t>
            </a:r>
          </a:p>
          <a:p>
            <a:r>
              <a:rPr lang="ko-KR" altLang="en-US" dirty="0"/>
              <a:t>(톱니를 왼쪽부터 손으로 짚으며)</a:t>
            </a:r>
          </a:p>
          <a:p>
            <a:r>
              <a:rPr lang="ko-KR" altLang="en-US" dirty="0"/>
              <a:t>'남자는 이렇다'는 고정관념이 '그래야 한다'는 성역할 규범이 되고, 제도와 관행 속 성차별 구조가 되어, 결정권이 한쪽 성별에 몰린 성별 권력관계가 됩니다.</a:t>
            </a:r>
          </a:p>
          <a:p>
            <a:r>
              <a:rPr lang="ko-KR" altLang="en-US" dirty="0"/>
              <a:t>이 권력이 남용될 때 폭력이 보이게 됩니다. 주변이 방관하고 묵인하면 톱니는 더 세게 돌고, 폭력은 반복되고 강화됩니다.</a:t>
            </a:r>
          </a:p>
          <a:p>
            <a:r>
              <a:rPr lang="ko-KR" altLang="en-US" dirty="0"/>
              <a:t>그렇다면 이렇게 만들어지는 것은 무엇일까요? (잠시 멈춤)</a:t>
            </a:r>
          </a:p>
          <a:p>
            <a:r>
              <a:rPr lang="ko-KR" altLang="en-US" dirty="0"/>
              <a:t>▶ 클릭1 – 바로 '젠더기반폭력'입니다. UN 여성차별철폐위원회는 이를 '여성이라는 이유로 가해지거나 여성에게 불균형적으로 영향을 미치는 폭력'으로 정의하고, 근본 원인을 성별 간 권력과 자원의 불평등으로 봅니다.</a:t>
            </a:r>
          </a:p>
          <a:p>
            <a:r>
              <a:rPr lang="ko-KR" altLang="en-US" dirty="0"/>
              <a:t>남성 피해자를 배제하는 개념이 아니라, 폭력이 특정 성별에 집중되는 이유를 구조로 설명하는 개념입니다.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[0:20 | 누적 5:00]</a:t>
            </a:r>
          </a:p>
          <a:p>
            <a:r>
              <a:rPr lang="ko-KR" altLang="en-US" dirty="0"/>
              <a:t>(애니메이션 없음)</a:t>
            </a:r>
          </a:p>
          <a:p>
            <a:endParaRPr lang="ko-KR" altLang="en-US" dirty="0"/>
          </a:p>
          <a:p>
            <a:r>
              <a:rPr lang="ko-KR" altLang="en-US" dirty="0"/>
              <a:t>수치로 보겠습니다. 2024년 기준 여성의 36.1%, 세 명 중 한 명이 평생 한 번 이상 폭력 피해를 경험했습니다. 지난 1년만 봐도 7.6%입니다. 특별한 일이 아니라 일상 가까이에 있는 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[0:35 | 누적 5:35]</a:t>
            </a:r>
          </a:p>
          <a:p>
            <a:r>
              <a:rPr lang="ko-KR" altLang="en-US" dirty="0"/>
              <a:t>(애니메이션 없음)</a:t>
            </a:r>
          </a:p>
          <a:p>
            <a:endParaRPr lang="ko-KR" altLang="en-US" dirty="0"/>
          </a:p>
          <a:p>
            <a:r>
              <a:rPr lang="ko-KR" altLang="en-US" dirty="0"/>
              <a:t>왜 반복될까요? 구조를 세 가지로 보겠습니다.</a:t>
            </a:r>
          </a:p>
          <a:p>
            <a:r>
              <a:rPr lang="ko-KR" altLang="en-US" dirty="0"/>
              <a:t>첫째, 성역할 규범입니다. 여성에게는 돌봄, 남성에게는 공적 영역과 가장의 역할이 주어지고, 그 가치도 다르게 매겨집니다.</a:t>
            </a:r>
          </a:p>
          <a:p>
            <a:r>
              <a:rPr lang="ko-KR" altLang="en-US" dirty="0"/>
              <a:t>맞벌이 가구에서도 여성의 가사시간은 남성의 약 2.9배, 돌봄노동자의 90.8%가 여성입니다.</a:t>
            </a:r>
          </a:p>
          <a:p>
            <a:r>
              <a:rPr lang="ko-KR" altLang="en-US" dirty="0"/>
              <a:t>이 규범에서 벗어난 여성에게 폭력이 허용되고, 그 책임은 '여성 탓'으로 돌아갑니다.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[0:25 | 누적 6:00]</a:t>
            </a:r>
          </a:p>
          <a:p>
            <a:r>
              <a:rPr lang="ko-KR" altLang="en-US" dirty="0"/>
              <a:t>(애니메이션 없음)</a:t>
            </a:r>
          </a:p>
          <a:p>
            <a:endParaRPr lang="ko-KR" altLang="en-US" dirty="0"/>
          </a:p>
          <a:p>
            <a:r>
              <a:rPr lang="ko-KR" altLang="en-US" dirty="0"/>
              <a:t>둘째, 성차별 구조입니다. 의사결정 자리에서 여성은 과소대표되고, 여성의 노동은 평가절하됩니다.</a:t>
            </a:r>
          </a:p>
          <a:p>
            <a:r>
              <a:rPr lang="ko-KR" altLang="en-US" dirty="0"/>
              <a:t>성별 임금격차는 OECD 평균의 약 2.9배, 유리천장지수는 29개국 중 28위입니다.</a:t>
            </a:r>
          </a:p>
          <a:p>
            <a:r>
              <a:rPr lang="ko-KR" altLang="en-US" dirty="0"/>
              <a:t>낮은 지위와 경제적 의존은 폭력에 대응하는 힘을 약하게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[0:30 | 누적 6:30]</a:t>
            </a:r>
          </a:p>
          <a:p>
            <a:r>
              <a:rPr lang="ko-KR" altLang="en-US" dirty="0"/>
              <a:t>(애니메이션 없음)</a:t>
            </a:r>
          </a:p>
          <a:p>
            <a:endParaRPr lang="ko-KR" altLang="en-US" dirty="0"/>
          </a:p>
          <a:p>
            <a:r>
              <a:rPr lang="ko-KR" altLang="en-US" dirty="0"/>
              <a:t>셋째, 성별 권력관계입니다. 남성은 '리더'이자 '가장', 여성은 보호와 통제의 대상이 될 때, 폭력은 지배를 유지하는 수단이 됩니다.</a:t>
            </a:r>
          </a:p>
          <a:p>
            <a:r>
              <a:rPr lang="ko-KR" altLang="en-US" dirty="0"/>
              <a:t>기사 제목을 보십시오. "감히 날 신고해?", "잔소리가 심해서". 모두 '감히 나에게?'라는 말입니다.</a:t>
            </a:r>
          </a:p>
          <a:p>
            <a:r>
              <a:rPr lang="ko-KR" altLang="en-US" dirty="0"/>
              <a:t>이별 전후 폭력 피해율도 여성이 59.6%로 더 높습니다. 관계를 끝내려 할 때 위험이 커진다는 뜻입니다.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[0:35 | 누적 7:05]</a:t>
            </a:r>
          </a:p>
          <a:p>
            <a:r>
              <a:rPr lang="ko-KR" altLang="en-US" dirty="0"/>
              <a:t>(애니메이션 없음)</a:t>
            </a:r>
          </a:p>
          <a:p>
            <a:endParaRPr lang="ko-KR" altLang="en-US" dirty="0"/>
          </a:p>
          <a:p>
            <a:r>
              <a:rPr lang="ko-KR" altLang="en-US" dirty="0"/>
              <a:t>이 구조가 우리 대학에서는 어떨까요? 2025년 말 기준 재학생 여성비율은 44.1%인데 전임교원은 21.3%, 주요보직자는 9.7%, 주요 위원회는 8.62%입니다. 재정위원회와 대학평의원회에는 여성 위원이 한 명도 없습니다. 국회의 20.8%보다도 낮습니다.</a:t>
            </a:r>
          </a:p>
          <a:p>
            <a:r>
              <a:rPr lang="ko-KR" altLang="en-US" dirty="0"/>
              <a:t>(청중을 바라보며) 개인 능력의 문제가 아니라, 앞에서 본 성차별 구조가 우리 조직 안에서도 작동한다는 신호입니다.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[1:05 | 누적 8:10]</a:t>
            </a:r>
          </a:p>
          <a:p>
            <a:r>
              <a:rPr lang="ko-KR" altLang="en-US" dirty="0"/>
              <a:t>(시작 화면: 상단 설명 문장만 / 클릭 5회)</a:t>
            </a:r>
          </a:p>
          <a:p>
            <a:endParaRPr lang="ko-KR" altLang="en-US" dirty="0"/>
          </a:p>
          <a:p>
            <a:r>
              <a:rPr lang="ko-KR" altLang="en-US" dirty="0"/>
              <a:t>지금까지 본 구조를 우리 대학의 예로 하나의 그림에 모아 보겠습니다.</a:t>
            </a:r>
          </a:p>
          <a:p>
            <a:r>
              <a:rPr lang="ko-KR" altLang="en-US" dirty="0"/>
              <a:t>▶ 클릭1 – '리더는 남자가 맞다'는 고정관념에서 벗어난 여성은 '드세다'는 평가를 받고, 그 극단에 폭력이 있습니다.</a:t>
            </a:r>
          </a:p>
          <a:p>
            <a:r>
              <a:rPr lang="ko-KR" altLang="en-US" dirty="0"/>
              <a:t>▶ 클릭2 – 그 기준이 인사에 들어오면 주요보직 여성 9.7%라는 구조가 되고, 낮은 위치에서는 피해를 말하기 어렵습니다.</a:t>
            </a:r>
          </a:p>
          <a:p>
            <a:r>
              <a:rPr lang="ko-KR" altLang="en-US" dirty="0"/>
              <a:t>▶ 클릭3 – 평가와 징계 권한이 한쪽에 몰리면, 그 남용이 통제와 지배의 폭력이 됩니다.</a:t>
            </a:r>
          </a:p>
          <a:p>
            <a:r>
              <a:rPr lang="ko-KR" altLang="en-US" dirty="0"/>
              <a:t>▶ 클릭4 – 이 톱니들이 맞물린 한가운데에서 젠더기반폭력이 만들어집니다.</a:t>
            </a:r>
          </a:p>
          <a:p>
            <a:r>
              <a:rPr lang="ko-KR" altLang="en-US" dirty="0"/>
              <a:t>▶ 클릭5 – 톱니는 하나가 돌면 함께 돕니다. 거꾸로, 하나만 멈춰도 전체가 멈춥니다. (잠시 멈춤)</a:t>
            </a:r>
          </a:p>
          <a:p>
            <a:r>
              <a:rPr lang="ko-KR" altLang="en-US" dirty="0"/>
              <a:t>앞의 사업단장이 "B에게 무엇이 필요한지 먼저 묻겠다"고 말했다면 어땠을까요? 그 한마디가 톱니 하나를 멈춥니다.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8952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[0:20 | 누적 8:30]</a:t>
            </a:r>
          </a:p>
          <a:p>
            <a:r>
              <a:rPr lang="ko-KR" altLang="en-US" dirty="0"/>
              <a:t>(시작 화면: 뿌리와 네 가지 / 클릭 1회)</a:t>
            </a:r>
          </a:p>
          <a:p>
            <a:endParaRPr lang="ko-KR" altLang="en-US" dirty="0"/>
          </a:p>
          <a:p>
            <a:r>
              <a:rPr lang="ko-KR" altLang="en-US" dirty="0"/>
              <a:t>성희롱은 조직의 권력, 성폭력은 위력, 성매매는 대상화, 가정폭력은 친밀한 관계의 권력. 각론마다 법과 사례는 달라도 뿌리는 하나입니다.</a:t>
            </a:r>
          </a:p>
          <a:p>
            <a:r>
              <a:rPr lang="ko-KR" altLang="en-US" dirty="0"/>
              <a:t>▶ 클릭1 – 언제나 젠더기반폭력이라는 뿌리로 돌아와 들어 주십시오.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[0:25 | 누적 8:55]</a:t>
            </a:r>
          </a:p>
          <a:p>
            <a:r>
              <a:rPr lang="ko-KR" altLang="en-US" dirty="0"/>
              <a:t>(애니메이션 없음)</a:t>
            </a:r>
          </a:p>
          <a:p>
            <a:endParaRPr lang="ko-KR" altLang="en-US" dirty="0"/>
          </a:p>
          <a:p>
            <a:r>
              <a:rPr lang="ko-KR" altLang="en-US" dirty="0"/>
              <a:t>자리로 돌아가시면 네 가지를 물어봐 주십시오. 우리 의사결정 구조가 남성 중심적이지는 않은가. 성별에 맞는 역할을 무의식적으로 나누고 있지 않은가. 성별 권력이 남용되는 지점은 없는가. 말하지 못하는 구성원은 없는가.</a:t>
            </a:r>
          </a:p>
          <a:p>
            <a:r>
              <a:rPr lang="ko-KR" altLang="en-US" dirty="0"/>
              <a:t>[참여] 본 과정에서는 포스트잇에 우리 부서에서 먼저 점검할 질문 하나를 적습니다. → 시연에서는 적은 것으로 간주하고 바로 다음 슬라이드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993E0-9481-4A54-BEF4-C7FFC7BE916A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797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[0:35 | 누적 9:30]</a:t>
            </a:r>
          </a:p>
          <a:p>
            <a:r>
              <a:rPr lang="ko-KR" altLang="en-US" dirty="0"/>
              <a:t>(시작 화면: 제목만 / 클릭 1회) ― 총론 마무리</a:t>
            </a:r>
          </a:p>
          <a:p>
            <a:endParaRPr lang="ko-KR" altLang="en-US" dirty="0"/>
          </a:p>
          <a:p>
            <a:r>
              <a:rPr lang="ko-KR" altLang="en-US" dirty="0"/>
              <a:t>마지막으로 부탁드립니다. 부서의 첫 회의에서 이 메시지를 밝혀 주십시오. 오늘의 첫 실천계획입니다.</a:t>
            </a:r>
          </a:p>
          <a:p>
            <a:r>
              <a:rPr lang="ko-KR" altLang="en-US" dirty="0"/>
              <a:t>▶ 클릭1 – (천천히, 또박또박) "누구라도 피해를 당하거나 목격하면 즉시 인권센터에 알려주십시오. 피해자 보호와 2차 피해 방지를 최우선으로, 행위자에게는 무관용 원칙으로 엄정히 처리하겠습니다."</a:t>
            </a:r>
          </a:p>
          <a:p>
            <a:r>
              <a:rPr lang="ko-KR" altLang="en-US" dirty="0"/>
              <a:t>보이지 않던 권력을 보이는 책임으로, 그 시작은 여러분의 말 한마디입니다. 감사합니다.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993E0-9481-4A54-BEF4-C7FFC7BE916A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812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1CBD-25C8-4C29-B06B-F8D731D8A269}" type="datetimeFigureOut">
              <a:rPr lang="ko-KR" altLang="en-US" smtClean="0"/>
              <a:pPr/>
              <a:t>2026-10-13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7A7EF-D2BB-47BC-A96D-3E49B11BAF5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1CBD-25C8-4C29-B06B-F8D731D8A269}" type="datetimeFigureOut">
              <a:rPr lang="ko-KR" altLang="en-US" smtClean="0"/>
              <a:pPr/>
              <a:t>2026-10-13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7A7EF-D2BB-47BC-A96D-3E49B11BAF5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1CBD-25C8-4C29-B06B-F8D731D8A269}" type="datetimeFigureOut">
              <a:rPr lang="ko-KR" altLang="en-US" smtClean="0"/>
              <a:pPr/>
              <a:t>2026-10-13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7A7EF-D2BB-47BC-A96D-3E49B11BAF5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1CBD-25C8-4C29-B06B-F8D731D8A269}" type="datetimeFigureOut">
              <a:rPr lang="ko-KR" altLang="en-US" smtClean="0"/>
              <a:pPr/>
              <a:t>2026-10-13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7A7EF-D2BB-47BC-A96D-3E49B11BAF5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1CBD-25C8-4C29-B06B-F8D731D8A269}" type="datetimeFigureOut">
              <a:rPr lang="ko-KR" altLang="en-US" smtClean="0"/>
              <a:pPr/>
              <a:t>2026-10-13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7A7EF-D2BB-47BC-A96D-3E49B11BAF5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1CBD-25C8-4C29-B06B-F8D731D8A269}" type="datetimeFigureOut">
              <a:rPr lang="ko-KR" altLang="en-US" smtClean="0"/>
              <a:pPr/>
              <a:t>2026-10-13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7A7EF-D2BB-47BC-A96D-3E49B11BAF5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1CBD-25C8-4C29-B06B-F8D731D8A269}" type="datetimeFigureOut">
              <a:rPr lang="ko-KR" altLang="en-US" smtClean="0"/>
              <a:pPr/>
              <a:t>2026-10-13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7A7EF-D2BB-47BC-A96D-3E49B11BAF5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1CBD-25C8-4C29-B06B-F8D731D8A269}" type="datetimeFigureOut">
              <a:rPr lang="ko-KR" altLang="en-US" smtClean="0"/>
              <a:pPr/>
              <a:t>2026-10-13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7A7EF-D2BB-47BC-A96D-3E49B11BAF5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1CBD-25C8-4C29-B06B-F8D731D8A269}" type="datetimeFigureOut">
              <a:rPr lang="ko-KR" altLang="en-US" smtClean="0"/>
              <a:pPr/>
              <a:t>2026-10-13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7A7EF-D2BB-47BC-A96D-3E49B11BAF5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1CBD-25C8-4C29-B06B-F8D731D8A269}" type="datetimeFigureOut">
              <a:rPr lang="ko-KR" altLang="en-US" smtClean="0"/>
              <a:pPr/>
              <a:t>2026-10-13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7A7EF-D2BB-47BC-A96D-3E49B11BAF5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1CBD-25C8-4C29-B06B-F8D731D8A269}" type="datetimeFigureOut">
              <a:rPr lang="ko-KR" altLang="en-US" smtClean="0"/>
              <a:pPr/>
              <a:t>2026-10-13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7A7EF-D2BB-47BC-A96D-3E49B11BAF5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870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D1CBD-25C8-4C29-B06B-F8D731D8A269}" type="datetimeFigureOut">
              <a:rPr lang="ko-KR" altLang="en-US" smtClean="0"/>
              <a:pPr/>
              <a:t>2026-10-13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7A7EF-D2BB-47BC-A96D-3E49B11BAF5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nwomen.org.au/types-of-violence-against-women-and-girls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9512" y="188640"/>
            <a:ext cx="6498895" cy="6796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ko-KR" sz="1600" b="1" dirty="0"/>
              <a:t>2026</a:t>
            </a:r>
            <a:r>
              <a:rPr lang="ko-KR" altLang="en-US" sz="1600" b="1" dirty="0"/>
              <a:t>년 신규 폭력예방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통합교육 전문강사 양성과정</a:t>
            </a:r>
            <a:endParaRPr lang="en-US" altLang="ko-KR" sz="1600" b="1" dirty="0"/>
          </a:p>
          <a:p>
            <a:pPr>
              <a:spcAft>
                <a:spcPts val="500"/>
              </a:spcAft>
            </a:pPr>
            <a:r>
              <a:rPr lang="en-US" altLang="ko-KR" b="1" dirty="0">
                <a:solidFill>
                  <a:srgbClr val="FF0000"/>
                </a:solidFill>
              </a:rPr>
              <a:t>[3</a:t>
            </a:r>
            <a:r>
              <a:rPr lang="ko-KR" altLang="en-US" b="1" dirty="0">
                <a:solidFill>
                  <a:srgbClr val="FF0000"/>
                </a:solidFill>
              </a:rPr>
              <a:t>단계</a:t>
            </a:r>
            <a:r>
              <a:rPr lang="en-US" altLang="ko-KR" b="1" dirty="0">
                <a:solidFill>
                  <a:srgbClr val="FF0000"/>
                </a:solidFill>
              </a:rPr>
              <a:t>]</a:t>
            </a:r>
            <a:r>
              <a:rPr lang="ko-KR" altLang="en-US" b="1" dirty="0" err="1">
                <a:solidFill>
                  <a:srgbClr val="FF0000"/>
                </a:solidFill>
              </a:rPr>
              <a:t>강의력향상과정</a:t>
            </a:r>
            <a:r>
              <a:rPr lang="ko-KR" altLang="en-US" b="1" dirty="0"/>
              <a:t> 및 </a:t>
            </a:r>
            <a:r>
              <a:rPr lang="en-US" altLang="ko-KR" b="1" dirty="0">
                <a:solidFill>
                  <a:srgbClr val="FF0000"/>
                </a:solidFill>
              </a:rPr>
              <a:t>[4</a:t>
            </a:r>
            <a:r>
              <a:rPr lang="ko-KR" altLang="en-US" b="1" dirty="0">
                <a:solidFill>
                  <a:srgbClr val="FF0000"/>
                </a:solidFill>
              </a:rPr>
              <a:t>단계</a:t>
            </a:r>
            <a:r>
              <a:rPr lang="en-US" altLang="ko-KR" b="1" dirty="0">
                <a:solidFill>
                  <a:srgbClr val="FF0000"/>
                </a:solidFill>
              </a:rPr>
              <a:t>]</a:t>
            </a:r>
            <a:r>
              <a:rPr lang="ko-KR" altLang="en-US" b="1" dirty="0">
                <a:solidFill>
                  <a:srgbClr val="FF0000"/>
                </a:solidFill>
              </a:rPr>
              <a:t>위촉 평가</a:t>
            </a:r>
            <a:r>
              <a:rPr lang="ko-KR" altLang="en-US" b="1" dirty="0"/>
              <a:t>용 강의안 개요</a:t>
            </a:r>
            <a:endParaRPr lang="en-US" altLang="ko-KR" b="1" dirty="0"/>
          </a:p>
        </p:txBody>
      </p:sp>
      <p:sp>
        <p:nvSpPr>
          <p:cNvPr id="5" name="직사각형 4"/>
          <p:cNvSpPr/>
          <p:nvPr/>
        </p:nvSpPr>
        <p:spPr>
          <a:xfrm>
            <a:off x="1071538" y="1059404"/>
            <a:ext cx="6997429" cy="369332"/>
          </a:xfrm>
          <a:prstGeom prst="rect">
            <a:avLst/>
          </a:prstGeom>
          <a:solidFill>
            <a:srgbClr val="D1F8FD"/>
          </a:solidFill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lang="ko-KR" altLang="en-US" b="1" dirty="0"/>
              <a:t>슬라이드 노트를 참고하여 본 양식에 직접 작성하시기 바랍니다</a:t>
            </a:r>
            <a:r>
              <a:rPr lang="en-US" altLang="ko-KR" b="1" dirty="0"/>
              <a:t>.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163941"/>
              </p:ext>
            </p:extLst>
          </p:nvPr>
        </p:nvGraphicFramePr>
        <p:xfrm>
          <a:off x="193718" y="1700838"/>
          <a:ext cx="8736000" cy="43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C82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소속</a:t>
                      </a:r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직위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C82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경상국립대학교 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인권센터팀장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69987" y="2259421"/>
            <a:ext cx="315503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ko-KR" b="1" dirty="0"/>
              <a:t>A </a:t>
            </a:r>
            <a:r>
              <a:rPr lang="ko-KR" altLang="en-US" b="1" dirty="0"/>
              <a:t>분석  </a:t>
            </a:r>
            <a:r>
              <a:rPr lang="en-US" altLang="ko-KR" b="1" dirty="0"/>
              <a:t>   </a:t>
            </a:r>
            <a:r>
              <a:rPr lang="ko-KR" altLang="en-US" sz="1200" b="1" dirty="0"/>
              <a:t>해당 칸에 직접 입력하세요</a:t>
            </a:r>
            <a:endParaRPr lang="en-US" altLang="ko-KR" sz="1200" b="1" dirty="0"/>
          </a:p>
        </p:txBody>
      </p:sp>
      <p:sp>
        <p:nvSpPr>
          <p:cNvPr id="11" name="내용 개체 틀 7"/>
          <p:cNvSpPr>
            <a:spLocks noGrp="1"/>
          </p:cNvSpPr>
          <p:nvPr>
            <p:ph idx="1"/>
          </p:nvPr>
        </p:nvSpPr>
        <p:spPr>
          <a:xfrm>
            <a:off x="169986" y="2812229"/>
            <a:ext cx="8759731" cy="3857131"/>
          </a:xfrm>
        </p:spPr>
        <p:txBody>
          <a:bodyPr>
            <a:normAutofit lnSpcReduction="10000"/>
          </a:bodyPr>
          <a:lstStyle/>
          <a:p>
            <a:r>
              <a:rPr lang="ko-KR" altLang="en-US" sz="1600" dirty="0">
                <a:latin typeface="+mj-lt"/>
                <a:ea typeface="나눔명조" panose="02020603020101020101" pitchFamily="18" charset="-127"/>
              </a:rPr>
              <a:t>강의주제 </a:t>
            </a:r>
            <a:r>
              <a:rPr lang="en-US" altLang="ko-KR" sz="1600" dirty="0">
                <a:latin typeface="+mj-lt"/>
                <a:ea typeface="나눔명조" panose="02020603020101020101" pitchFamily="18" charset="-127"/>
              </a:rPr>
              <a:t>: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젠더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기반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폭력의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이해</a:t>
            </a:r>
            <a:endParaRPr lang="en-US" altLang="ko-KR" sz="1600" dirty="0">
              <a:solidFill>
                <a:srgbClr val="2B2230"/>
              </a:solidFill>
              <a:latin typeface="+mj-lt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1600" dirty="0">
                <a:latin typeface="+mj-lt"/>
                <a:ea typeface="나눔명조" panose="02020603020101020101" pitchFamily="18" charset="-127"/>
              </a:rPr>
              <a:t>강의제목 </a:t>
            </a:r>
            <a:r>
              <a:rPr lang="en-US" altLang="ko-KR" sz="1600" dirty="0">
                <a:latin typeface="+mj-lt"/>
                <a:ea typeface="나눔명조" panose="02020603020101020101" pitchFamily="18" charset="-127"/>
              </a:rPr>
              <a:t>: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보이지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않는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권력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보이는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책임</a:t>
            </a:r>
            <a:endParaRPr lang="en-US" altLang="ko-KR" sz="1000" dirty="0">
              <a:latin typeface="+mj-lt"/>
              <a:ea typeface="나눔명조" panose="02020603020101020101" pitchFamily="18" charset="-127"/>
            </a:endParaRPr>
          </a:p>
          <a:p>
            <a:pPr>
              <a:lnSpc>
                <a:spcPct val="108000"/>
              </a:lnSpc>
            </a:pPr>
            <a:r>
              <a:rPr lang="ko-KR" altLang="en-US" sz="1600" dirty="0">
                <a:latin typeface="+mj-lt"/>
                <a:ea typeface="나눔명조" panose="02020603020101020101" pitchFamily="18" charset="-127"/>
              </a:rPr>
              <a:t>강의대상 </a:t>
            </a:r>
            <a:r>
              <a:rPr lang="en-US" altLang="ko-KR" sz="1600" dirty="0">
                <a:latin typeface="+mj-lt"/>
                <a:ea typeface="나눔명조" panose="02020603020101020101" pitchFamily="18" charset="-127"/>
              </a:rPr>
              <a:t>: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국립대학교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고위직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총장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처장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학장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등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) 교</a:t>
            </a:r>
            <a:r>
              <a:rPr lang="ko-KR" altLang="en-US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원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50</a:t>
            </a:r>
            <a:r>
              <a:rPr lang="ko-KR" altLang="en-US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명</a:t>
            </a:r>
            <a:endParaRPr lang="en-US" altLang="ko-KR" sz="900" dirty="0">
              <a:latin typeface="+mj-lt"/>
              <a:ea typeface="나눔명조" panose="02020603020101020101" pitchFamily="18" charset="-127"/>
            </a:endParaRPr>
          </a:p>
          <a:p>
            <a:pPr>
              <a:lnSpc>
                <a:spcPct val="108000"/>
              </a:lnSpc>
            </a:pPr>
            <a:r>
              <a:rPr lang="ko-KR" altLang="en-US" sz="1600" dirty="0" err="1">
                <a:latin typeface="+mj-lt"/>
                <a:ea typeface="나눔명조" panose="02020603020101020101" pitchFamily="18" charset="-127"/>
              </a:rPr>
              <a:t>대상별</a:t>
            </a:r>
            <a:r>
              <a:rPr lang="ko-KR" altLang="en-US" sz="1600" dirty="0">
                <a:latin typeface="+mj-lt"/>
                <a:ea typeface="나눔명조" panose="02020603020101020101" pitchFamily="18" charset="-127"/>
              </a:rPr>
              <a:t> 특성 </a:t>
            </a:r>
            <a:r>
              <a:rPr lang="en-US" altLang="ko-KR" sz="1600" dirty="0">
                <a:latin typeface="+mj-lt"/>
                <a:ea typeface="나눔명조" panose="02020603020101020101" pitchFamily="18" charset="-127"/>
              </a:rPr>
              <a:t>: </a:t>
            </a:r>
          </a:p>
          <a:p>
            <a:pPr lvl="1">
              <a:lnSpc>
                <a:spcPct val="108000"/>
              </a:lnSpc>
              <a:buFontTx/>
              <a:buChar char="-"/>
            </a:pPr>
            <a:r>
              <a:rPr lang="en-US" altLang="ko-KR" sz="1600" dirty="0">
                <a:latin typeface="+mj-lt"/>
                <a:ea typeface="나눔명조" panose="02020603020101020101" pitchFamily="18" charset="-127"/>
              </a:rPr>
              <a:t>40</a:t>
            </a:r>
            <a:r>
              <a:rPr lang="ko-KR" altLang="en-US" sz="1600" dirty="0">
                <a:latin typeface="+mj-lt"/>
                <a:ea typeface="나눔명조" panose="02020603020101020101" pitchFamily="18" charset="-127"/>
              </a:rPr>
              <a:t>대부터 </a:t>
            </a:r>
            <a:r>
              <a:rPr lang="en-US" altLang="ko-KR" sz="1600" dirty="0">
                <a:latin typeface="+mj-lt"/>
                <a:ea typeface="나눔명조" panose="02020603020101020101" pitchFamily="18" charset="-127"/>
              </a:rPr>
              <a:t>60</a:t>
            </a:r>
            <a:r>
              <a:rPr lang="ko-KR" altLang="en-US" sz="1600" dirty="0">
                <a:latin typeface="+mj-lt"/>
                <a:ea typeface="나눔명조" panose="02020603020101020101" pitchFamily="18" charset="-127"/>
              </a:rPr>
              <a:t>대까지의 연령 분포</a:t>
            </a:r>
            <a:endParaRPr lang="en-US" altLang="ko-KR" sz="1600" dirty="0">
              <a:latin typeface="+mj-lt"/>
              <a:ea typeface="나눔명조" panose="02020603020101020101" pitchFamily="18" charset="-127"/>
            </a:endParaRPr>
          </a:p>
          <a:p>
            <a:pPr lvl="1">
              <a:lnSpc>
                <a:spcPct val="108000"/>
              </a:lnSpc>
              <a:buFontTx/>
              <a:buChar char="-"/>
            </a:pP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경상국립대는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전임교수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여성비율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21.3%(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재학생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여성비율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44.1%),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주요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보직자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여성</a:t>
            </a:r>
            <a:r>
              <a:rPr lang="ko-KR" altLang="en-US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비율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9.7%로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의사결정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구조의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성별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불균형이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뚜렷하여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고위직의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구조적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성찰이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특히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요구되는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상황</a:t>
            </a:r>
            <a:endParaRPr lang="en-US" altLang="ko-KR" sz="1600" dirty="0">
              <a:latin typeface="+mj-lt"/>
              <a:ea typeface="나눔명조" panose="02020603020101020101" pitchFamily="18" charset="-127"/>
            </a:endParaRPr>
          </a:p>
          <a:p>
            <a:pPr lvl="1">
              <a:lnSpc>
                <a:spcPct val="108000"/>
              </a:lnSpc>
              <a:buFontTx/>
              <a:buChar char="-"/>
            </a:pP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조직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의사결정권과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인사·징계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권한을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실질적으로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보유한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집단으로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개인의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성인지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감수성이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조직문화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전체에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파급되는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영향력이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큼</a:t>
            </a:r>
            <a:endParaRPr lang="en-US" altLang="ko-KR" sz="1600" dirty="0">
              <a:latin typeface="+mj-lt"/>
            </a:endParaRPr>
          </a:p>
          <a:p>
            <a:pPr lvl="1">
              <a:lnSpc>
                <a:spcPct val="108000"/>
              </a:lnSpc>
              <a:buFontTx/>
              <a:buChar char="-"/>
            </a:pPr>
            <a:r>
              <a:rPr lang="ko-KR" altLang="en-US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매년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경험은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있으나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, 4대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폭력을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'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개별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사건'이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아닌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'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불평등한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성별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권력관계에서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비롯된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구조적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문제'로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바라보는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성인지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관점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경험은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상대적으로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적음</a:t>
            </a:r>
            <a:endParaRPr lang="en-US" altLang="ko-KR" sz="1600" dirty="0">
              <a:latin typeface="+mj-lt"/>
            </a:endParaRPr>
          </a:p>
          <a:p>
            <a:pPr lvl="1">
              <a:lnSpc>
                <a:spcPct val="108000"/>
              </a:lnSpc>
              <a:buFontTx/>
              <a:buChar char="-"/>
            </a:pP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최근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대학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내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사건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처리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경험이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있는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보직자의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경우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실질적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필요성을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인식하고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있음</a:t>
            </a:r>
            <a:endParaRPr lang="en-US" altLang="ko-KR" sz="160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88640"/>
            <a:ext cx="314060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ko-KR" b="1" dirty="0"/>
              <a:t>B </a:t>
            </a:r>
            <a:r>
              <a:rPr lang="ko-KR" altLang="en-US" b="1" dirty="0"/>
              <a:t>설계  </a:t>
            </a:r>
            <a:r>
              <a:rPr lang="en-US" altLang="ko-KR" b="1" dirty="0"/>
              <a:t>   </a:t>
            </a:r>
            <a:r>
              <a:rPr lang="ko-KR" altLang="en-US" sz="1200" b="1" dirty="0"/>
              <a:t>해당 칸에 맞게 입력하세요</a:t>
            </a:r>
            <a:endParaRPr lang="en-US" altLang="ko-KR" sz="1200" b="1" dirty="0"/>
          </a:p>
        </p:txBody>
      </p:sp>
      <p:sp>
        <p:nvSpPr>
          <p:cNvPr id="4" name="내용 개체 틀 7">
            <a:extLst>
              <a:ext uri="{FF2B5EF4-FFF2-40B4-BE49-F238E27FC236}">
                <a16:creationId xmlns:a16="http://schemas.microsoft.com/office/drawing/2014/main" id="{3218A6E6-0ED5-4C99-BE84-74ADD3FB65F1}"/>
              </a:ext>
            </a:extLst>
          </p:cNvPr>
          <p:cNvSpPr txBox="1">
            <a:spLocks/>
          </p:cNvSpPr>
          <p:nvPr/>
        </p:nvSpPr>
        <p:spPr>
          <a:xfrm>
            <a:off x="179512" y="980728"/>
            <a:ext cx="8784976" cy="5305792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342900" lvl="0" indent="-3429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목표설정</a:t>
            </a:r>
            <a:endParaRPr lang="en-US" altLang="ko-KR" sz="1600" b="1" dirty="0">
              <a:latin typeface="+mj-lt"/>
            </a:endParaRPr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성인지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관점에서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각각의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폭력이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'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불평등한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성별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권력관계'에서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비롯된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하나의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젠더기반폭력임을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설명할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수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있다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고위직으로서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자신의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영향력과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조직문화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형성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책임을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인식하고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사건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발생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시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대응의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기본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원칙을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진술할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수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있다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자신의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성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인식을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성찰하고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성평등한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조직문화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조성을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위한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실천계획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액션플랜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)을 1개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이상</a:t>
            </a:r>
            <a:r>
              <a:rPr lang="en-US" altLang="ko-KR" sz="1600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수립한다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lvl="1">
              <a:spcBef>
                <a:spcPct val="20000"/>
              </a:spcBef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차시구성</a:t>
            </a:r>
            <a:endParaRPr lang="en-US" altLang="ko-KR" sz="1600" b="1" dirty="0">
              <a:latin typeface="+mj-lt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dirty="0">
                <a:latin typeface="+mj-lt"/>
              </a:rPr>
              <a:t>    - </a:t>
            </a:r>
            <a:r>
              <a:rPr lang="ko-KR" altLang="en-US" dirty="0">
                <a:latin typeface="+mj-lt"/>
              </a:rPr>
              <a:t>총론 </a:t>
            </a:r>
            <a:r>
              <a:rPr lang="en-US" altLang="ko-KR" dirty="0">
                <a:latin typeface="+mj-lt"/>
              </a:rPr>
              <a:t>:</a:t>
            </a:r>
            <a:r>
              <a:rPr lang="ko-KR" altLang="en-US" dirty="0">
                <a:latin typeface="+mj-lt"/>
              </a:rPr>
              <a:t> 젠더기반폭력 예방을 위한 고위직 성인지 감수성 증진시키기</a:t>
            </a:r>
            <a:endParaRPr lang="en-US" altLang="ko-KR" dirty="0">
              <a:latin typeface="+mj-lt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dirty="0">
                <a:latin typeface="+mj-lt"/>
              </a:rPr>
              <a:t>    </a:t>
            </a:r>
            <a:r>
              <a:rPr lang="en-US" altLang="ko-KR" dirty="0">
                <a:latin typeface="+mj-lt"/>
              </a:rPr>
              <a:t>-</a:t>
            </a:r>
            <a:r>
              <a:rPr lang="ko-KR" altLang="en-US" dirty="0">
                <a:latin typeface="+mj-lt"/>
              </a:rPr>
              <a:t> 각론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(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성폭력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,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성희롱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,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성매매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,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가정폭력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)</a:t>
            </a: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+mj-lt"/>
              </a:rPr>
              <a:t>       - 1</a:t>
            </a:r>
            <a:r>
              <a:rPr lang="ko-KR" altLang="en-US" dirty="0">
                <a:solidFill>
                  <a:prstClr val="black"/>
                </a:solidFill>
                <a:latin typeface="+mj-lt"/>
              </a:rPr>
              <a:t>차시 </a:t>
            </a:r>
            <a:r>
              <a:rPr lang="en-US" altLang="ko-KR" dirty="0">
                <a:solidFill>
                  <a:prstClr val="black"/>
                </a:solidFill>
                <a:latin typeface="+mj-lt"/>
              </a:rPr>
              <a:t>: </a:t>
            </a:r>
            <a:r>
              <a:rPr lang="ko-KR" altLang="en-US" dirty="0">
                <a:solidFill>
                  <a:prstClr val="black"/>
                </a:solidFill>
                <a:latin typeface="+mj-lt"/>
              </a:rPr>
              <a:t>성폭력 예방교육</a:t>
            </a:r>
            <a:r>
              <a:rPr lang="en-US" altLang="ko-KR" dirty="0">
                <a:solidFill>
                  <a:prstClr val="black"/>
                </a:solidFill>
                <a:latin typeface="+mj-lt"/>
              </a:rPr>
              <a:t>(</a:t>
            </a:r>
            <a:r>
              <a:rPr lang="ko-KR" altLang="en-US" dirty="0">
                <a:solidFill>
                  <a:prstClr val="black"/>
                </a:solidFill>
                <a:latin typeface="+mj-lt"/>
              </a:rPr>
              <a:t>동의와 권력</a:t>
            </a:r>
            <a:r>
              <a:rPr lang="en-US" altLang="ko-KR" dirty="0">
                <a:solidFill>
                  <a:prstClr val="black"/>
                </a:solidFill>
                <a:latin typeface="+mj-lt"/>
              </a:rPr>
              <a:t>: </a:t>
            </a:r>
            <a:r>
              <a:rPr lang="ko-KR" altLang="en-US" dirty="0">
                <a:solidFill>
                  <a:prstClr val="black"/>
                </a:solidFill>
                <a:latin typeface="+mj-lt"/>
              </a:rPr>
              <a:t>성폭력을 보는 두 개의 축</a:t>
            </a:r>
            <a:r>
              <a:rPr lang="en-US" altLang="ko-KR" dirty="0">
                <a:solidFill>
                  <a:prstClr val="black"/>
                </a:solidFill>
                <a:latin typeface="+mj-lt"/>
              </a:rPr>
              <a:t>)</a:t>
            </a:r>
          </a:p>
          <a:p>
            <a:pPr>
              <a:spcBef>
                <a:spcPct val="20000"/>
              </a:spcBef>
              <a:defRPr/>
            </a:pPr>
            <a:r>
              <a:rPr lang="en-US" altLang="ko-KR" dirty="0">
                <a:solidFill>
                  <a:prstClr val="black"/>
                </a:solidFill>
                <a:latin typeface="+mj-lt"/>
              </a:rPr>
              <a:t>       - 2</a:t>
            </a:r>
            <a:r>
              <a:rPr lang="ko-KR" altLang="en-US" dirty="0">
                <a:solidFill>
                  <a:prstClr val="black"/>
                </a:solidFill>
                <a:latin typeface="+mj-lt"/>
              </a:rPr>
              <a:t>차시 </a:t>
            </a:r>
            <a:r>
              <a:rPr lang="en-US" altLang="ko-KR" dirty="0">
                <a:solidFill>
                  <a:prstClr val="black"/>
                </a:solidFill>
                <a:latin typeface="+mj-lt"/>
              </a:rPr>
              <a:t>: </a:t>
            </a:r>
            <a:r>
              <a:rPr lang="ko-KR" altLang="en-US" dirty="0">
                <a:solidFill>
                  <a:prstClr val="black"/>
                </a:solidFill>
                <a:latin typeface="+mj-lt"/>
              </a:rPr>
              <a:t>성희롱 예방교육</a:t>
            </a:r>
            <a:r>
              <a:rPr lang="en-US" altLang="ko-KR" dirty="0">
                <a:solidFill>
                  <a:prstClr val="black"/>
                </a:solidFill>
                <a:latin typeface="+mj-lt"/>
              </a:rPr>
              <a:t>(</a:t>
            </a:r>
            <a:r>
              <a:rPr lang="ko-KR" altLang="en-US" sz="18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내 </a:t>
            </a:r>
            <a:r>
              <a:rPr lang="ko-KR" altLang="en-US" sz="18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젠더권력과</a:t>
            </a:r>
            <a:r>
              <a:rPr lang="ko-KR" altLang="en-US" sz="18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ko-KR" altLang="en-US" sz="18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 피해 예방</a:t>
            </a:r>
            <a:r>
              <a:rPr lang="en-US" altLang="ko-KR" dirty="0">
                <a:ea typeface="Malgun Gothic" pitchFamily="34" charset="-122"/>
                <a:cs typeface="Malgun Gothic" pitchFamily="34" charset="-120"/>
              </a:rPr>
              <a:t>)</a:t>
            </a:r>
            <a:endParaRPr lang="en-US" altLang="ko-KR" dirty="0">
              <a:latin typeface="+mj-lt"/>
            </a:endParaRPr>
          </a:p>
          <a:p>
            <a:pPr>
              <a:spcBef>
                <a:spcPct val="20000"/>
              </a:spcBef>
              <a:defRPr/>
            </a:pPr>
            <a:r>
              <a:rPr lang="en-US" altLang="ko-KR" dirty="0">
                <a:latin typeface="+mj-lt"/>
              </a:rPr>
              <a:t>       - 3</a:t>
            </a:r>
            <a:r>
              <a:rPr lang="ko-KR" altLang="en-US" dirty="0">
                <a:latin typeface="+mj-lt"/>
              </a:rPr>
              <a:t>차시 </a:t>
            </a:r>
            <a:r>
              <a:rPr lang="en-US" altLang="ko-KR" dirty="0">
                <a:latin typeface="+mj-lt"/>
              </a:rPr>
              <a:t>: </a:t>
            </a:r>
            <a:r>
              <a:rPr lang="ko-KR" altLang="en-US" dirty="0">
                <a:latin typeface="+mj-lt"/>
              </a:rPr>
              <a:t>성매매 예방교육</a:t>
            </a:r>
            <a:r>
              <a:rPr lang="en-US" altLang="ko-KR" dirty="0">
                <a:latin typeface="+mj-lt"/>
              </a:rPr>
              <a:t>(</a:t>
            </a:r>
            <a:r>
              <a:rPr lang="ko-KR" altLang="en-US" dirty="0" err="1">
                <a:latin typeface="+mj-lt"/>
              </a:rPr>
              <a:t>성구매</a:t>
            </a:r>
            <a:r>
              <a:rPr lang="ko-KR" altLang="en-US" dirty="0">
                <a:latin typeface="+mj-lt"/>
              </a:rPr>
              <a:t> 수요</a:t>
            </a:r>
            <a:r>
              <a:rPr lang="en-US" altLang="ko-KR" dirty="0">
                <a:latin typeface="+mj-lt"/>
              </a:rPr>
              <a:t>, </a:t>
            </a:r>
            <a:r>
              <a:rPr lang="ko-KR" altLang="en-US" dirty="0">
                <a:latin typeface="+mj-lt"/>
              </a:rPr>
              <a:t>왜 차단해야 하는가</a:t>
            </a:r>
            <a:r>
              <a:rPr lang="en-US" altLang="ko-KR" dirty="0">
                <a:latin typeface="+mj-lt"/>
              </a:rPr>
              <a:t>)</a:t>
            </a:r>
          </a:p>
          <a:p>
            <a:pPr>
              <a:spcBef>
                <a:spcPct val="20000"/>
              </a:spcBef>
              <a:defRPr/>
            </a:pPr>
            <a:r>
              <a:rPr lang="en-US" altLang="ko-KR" dirty="0">
                <a:solidFill>
                  <a:prstClr val="black"/>
                </a:solidFill>
                <a:latin typeface="+mj-lt"/>
              </a:rPr>
              <a:t>       - 4</a:t>
            </a:r>
            <a:r>
              <a:rPr lang="ko-KR" altLang="en-US" dirty="0">
                <a:solidFill>
                  <a:prstClr val="black"/>
                </a:solidFill>
                <a:latin typeface="+mj-lt"/>
              </a:rPr>
              <a:t>차시 </a:t>
            </a:r>
            <a:r>
              <a:rPr lang="en-US" altLang="ko-KR" dirty="0">
                <a:solidFill>
                  <a:prstClr val="black"/>
                </a:solidFill>
                <a:latin typeface="+mj-lt"/>
              </a:rPr>
              <a:t>: </a:t>
            </a:r>
            <a:r>
              <a:rPr lang="ko-KR" altLang="en-US" dirty="0">
                <a:solidFill>
                  <a:prstClr val="black"/>
                </a:solidFill>
                <a:latin typeface="+mj-lt"/>
              </a:rPr>
              <a:t>가정폭력 예방교육</a:t>
            </a:r>
            <a:r>
              <a:rPr lang="en-US" altLang="ko-KR" dirty="0">
                <a:solidFill>
                  <a:prstClr val="black"/>
                </a:solidFill>
                <a:latin typeface="+mj-lt"/>
              </a:rPr>
              <a:t>(</a:t>
            </a:r>
            <a:r>
              <a:rPr lang="ko-KR" altLang="en-US" dirty="0">
                <a:solidFill>
                  <a:prstClr val="black"/>
                </a:solidFill>
                <a:latin typeface="+mj-lt"/>
              </a:rPr>
              <a:t>가장 가까운 관계의 권력</a:t>
            </a:r>
            <a:r>
              <a:rPr lang="en-US" altLang="ko-KR" dirty="0">
                <a:solidFill>
                  <a:prstClr val="black"/>
                </a:solidFill>
                <a:latin typeface="+mj-lt"/>
              </a:rPr>
              <a:t>)</a:t>
            </a: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latin typeface="+mj-lt"/>
              </a:rPr>
              <a:t>                                       </a:t>
            </a:r>
            <a:endParaRPr lang="en-US" altLang="ko-KR" sz="1000" dirty="0">
              <a:latin typeface="+mj-lt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매체선정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: </a:t>
            </a:r>
            <a:r>
              <a:rPr lang="ko-KR" altLang="en-US" sz="1600" b="1" dirty="0">
                <a:latin typeface="+mj-lt"/>
              </a:rPr>
              <a:t>노트북</a:t>
            </a:r>
            <a:r>
              <a:rPr lang="en-US" altLang="ko-KR" sz="1600" b="1" dirty="0">
                <a:latin typeface="+mj-lt"/>
              </a:rPr>
              <a:t>,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빔프로젝트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,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포스트잇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교육방법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: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강의식</a:t>
            </a:r>
            <a:r>
              <a:rPr lang="en-US" altLang="ko-KR" sz="1600" b="1" dirty="0">
                <a:latin typeface="+mj-lt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일부 참여형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88640"/>
            <a:ext cx="4145785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ko-KR" b="1" dirty="0"/>
              <a:t>D </a:t>
            </a:r>
            <a:r>
              <a:rPr lang="ko-KR" altLang="en-US" b="1" dirty="0"/>
              <a:t>개발 </a:t>
            </a:r>
            <a:r>
              <a:rPr lang="en-US" altLang="ko-KR" b="1" dirty="0"/>
              <a:t>/ I </a:t>
            </a:r>
            <a:r>
              <a:rPr lang="ko-KR" altLang="en-US" b="1" dirty="0"/>
              <a:t>실행  </a:t>
            </a:r>
            <a:r>
              <a:rPr lang="en-US" altLang="ko-KR" b="1" dirty="0"/>
              <a:t>   </a:t>
            </a:r>
            <a:r>
              <a:rPr lang="ko-KR" altLang="en-US" sz="1200" b="1" dirty="0"/>
              <a:t>해당 칸에 맞게 입력하세요</a:t>
            </a:r>
            <a:endParaRPr lang="en-US" altLang="ko-KR" sz="1200" b="1" dirty="0"/>
          </a:p>
        </p:txBody>
      </p:sp>
      <p:sp>
        <p:nvSpPr>
          <p:cNvPr id="9" name="내용 개체 틀 7"/>
          <p:cNvSpPr txBox="1">
            <a:spLocks/>
          </p:cNvSpPr>
          <p:nvPr/>
        </p:nvSpPr>
        <p:spPr>
          <a:xfrm>
            <a:off x="457200" y="908720"/>
            <a:ext cx="8435280" cy="521744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나눔명조" panose="02020603020101020101" pitchFamily="18" charset="-127"/>
              </a:rPr>
              <a:t>1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나눔명조" panose="02020603020101020101" pitchFamily="18" charset="-127"/>
              </a:rPr>
              <a:t>차시 주요 목차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나눔명조" panose="02020603020101020101" pitchFamily="18" charset="-127"/>
              </a:rPr>
              <a:t> </a:t>
            </a:r>
            <a:endParaRPr lang="en-US" altLang="ko-KR" sz="2000" b="1" dirty="0">
              <a:latin typeface="+mj-lt"/>
              <a:ea typeface="나눔명조" panose="02020603020101020101" pitchFamily="18" charset="-127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 - </a:t>
            </a:r>
            <a:r>
              <a:rPr lang="en-US" altLang="ko-KR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성적</a:t>
            </a: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자기결정권</a:t>
            </a: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 - </a:t>
            </a:r>
            <a:r>
              <a:rPr lang="en-US" altLang="ko-KR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동의</a:t>
            </a:r>
            <a:endParaRPr lang="en-US" altLang="ko-KR" dirty="0">
              <a:solidFill>
                <a:srgbClr val="2B2230"/>
              </a:solidFill>
              <a:latin typeface="+mj-lt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 - </a:t>
            </a:r>
            <a:r>
              <a:rPr lang="ko-KR" altLang="en-US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위력</a:t>
            </a:r>
            <a:endParaRPr lang="en-US" altLang="ko-KR" dirty="0">
              <a:solidFill>
                <a:srgbClr val="2B2230"/>
              </a:solidFill>
              <a:latin typeface="+mj-lt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 - </a:t>
            </a:r>
            <a:r>
              <a:rPr lang="ko-KR" altLang="en-US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통념과 </a:t>
            </a:r>
            <a:r>
              <a:rPr lang="en-US" altLang="ko-KR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피해자다움</a:t>
            </a:r>
            <a:endParaRPr lang="en-US" altLang="ko-KR" dirty="0">
              <a:solidFill>
                <a:srgbClr val="2B2230"/>
              </a:solidFill>
              <a:latin typeface="+mj-lt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 - </a:t>
            </a:r>
            <a:r>
              <a:rPr lang="ko-KR" altLang="en-US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액션플랜</a:t>
            </a: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나의다짐</a:t>
            </a: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0" indent="0">
              <a:lnSpc>
                <a:spcPct val="108000"/>
              </a:lnSpc>
              <a:buNone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나눔명조" panose="02020603020101020101" pitchFamily="18" charset="-127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ko-KR" sz="2000" b="1" dirty="0">
                <a:latin typeface="+mj-lt"/>
                <a:ea typeface="나눔명조" panose="02020603020101020101" pitchFamily="18" charset="-127"/>
              </a:rPr>
              <a:t>2</a:t>
            </a:r>
            <a:r>
              <a:rPr lang="ko-KR" altLang="en-US" sz="2000" b="1" dirty="0">
                <a:latin typeface="+mj-lt"/>
                <a:ea typeface="나눔명조" panose="02020603020101020101" pitchFamily="18" charset="-127"/>
              </a:rPr>
              <a:t>차시 주요 목차</a:t>
            </a:r>
            <a:endParaRPr lang="en-US" altLang="ko-KR" sz="2000" b="1" dirty="0">
              <a:latin typeface="+mj-lt"/>
              <a:ea typeface="나눔명조" panose="02020603020101020101" pitchFamily="18" charset="-127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 - </a:t>
            </a:r>
            <a:r>
              <a:rPr lang="en-US" altLang="ko-KR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성희롱</a:t>
            </a: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발생</a:t>
            </a:r>
            <a:r>
              <a:rPr lang="ko-KR" altLang="en-US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원인</a:t>
            </a:r>
            <a:endParaRPr lang="en-US" altLang="ko-KR" dirty="0">
              <a:solidFill>
                <a:srgbClr val="2B2230"/>
              </a:solidFill>
              <a:latin typeface="+mj-lt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 - </a:t>
            </a:r>
            <a:r>
              <a:rPr lang="en-US" altLang="ko-KR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성희롱</a:t>
            </a:r>
            <a:r>
              <a:rPr lang="ko-KR" altLang="en-US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의</a:t>
            </a: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정의</a:t>
            </a: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판단기준</a:t>
            </a: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 - 2차 </a:t>
            </a:r>
            <a:r>
              <a:rPr lang="en-US" altLang="ko-KR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피해와</a:t>
            </a: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조직의 책임</a:t>
            </a:r>
            <a:endParaRPr lang="en-US" altLang="ko-KR" dirty="0">
              <a:solidFill>
                <a:srgbClr val="2B2230"/>
              </a:solidFill>
              <a:latin typeface="+mj-lt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 - </a:t>
            </a:r>
            <a:r>
              <a:rPr lang="ko-KR" altLang="en-US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고위직의 대응</a:t>
            </a:r>
            <a:endParaRPr lang="en-US" altLang="ko-KR" dirty="0">
              <a:solidFill>
                <a:srgbClr val="2B2230"/>
              </a:solidFill>
              <a:latin typeface="+mj-lt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 - </a:t>
            </a:r>
            <a:r>
              <a:rPr lang="ko-KR" altLang="en-US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액션플랜</a:t>
            </a: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나의다짐</a:t>
            </a: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)</a:t>
            </a:r>
            <a:endParaRPr lang="en-US" altLang="ko-KR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A3244D-0A6E-49C4-97CE-2782D514ADF8}"/>
              </a:ext>
            </a:extLst>
          </p:cNvPr>
          <p:cNvSpPr txBox="1"/>
          <p:nvPr/>
        </p:nvSpPr>
        <p:spPr>
          <a:xfrm>
            <a:off x="179512" y="188640"/>
            <a:ext cx="4145785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ko-KR" b="1" dirty="0"/>
              <a:t>D </a:t>
            </a:r>
            <a:r>
              <a:rPr lang="ko-KR" altLang="en-US" b="1" dirty="0"/>
              <a:t>개발 </a:t>
            </a:r>
            <a:r>
              <a:rPr lang="en-US" altLang="ko-KR" b="1" dirty="0"/>
              <a:t>/ I </a:t>
            </a:r>
            <a:r>
              <a:rPr lang="ko-KR" altLang="en-US" b="1" dirty="0"/>
              <a:t>실행  </a:t>
            </a:r>
            <a:r>
              <a:rPr lang="en-US" altLang="ko-KR" b="1" dirty="0"/>
              <a:t>   </a:t>
            </a:r>
            <a:r>
              <a:rPr lang="ko-KR" altLang="en-US" sz="1200" b="1" dirty="0"/>
              <a:t>해당 칸에 맞게 입력하세요</a:t>
            </a:r>
            <a:endParaRPr lang="en-US" altLang="ko-KR" sz="1200" b="1" dirty="0"/>
          </a:p>
        </p:txBody>
      </p:sp>
      <p:sp>
        <p:nvSpPr>
          <p:cNvPr id="3" name="내용 개체 틀 7">
            <a:extLst>
              <a:ext uri="{FF2B5EF4-FFF2-40B4-BE49-F238E27FC236}">
                <a16:creationId xmlns:a16="http://schemas.microsoft.com/office/drawing/2014/main" id="{931E150B-12BA-49AB-8BBA-1AD082444877}"/>
              </a:ext>
            </a:extLst>
          </p:cNvPr>
          <p:cNvSpPr txBox="1">
            <a:spLocks/>
          </p:cNvSpPr>
          <p:nvPr/>
        </p:nvSpPr>
        <p:spPr>
          <a:xfrm>
            <a:off x="457200" y="908720"/>
            <a:ext cx="8435280" cy="521744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나눔명조" panose="02020603020101020101" pitchFamily="18" charset="-127"/>
              </a:rPr>
              <a:t>3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나눔명조" panose="02020603020101020101" pitchFamily="18" charset="-127"/>
              </a:rPr>
              <a:t>차시 주요 목차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나눔명조" panose="02020603020101020101" pitchFamily="18" charset="-127"/>
              </a:rPr>
              <a:t> </a:t>
            </a:r>
            <a:endParaRPr lang="en-US" altLang="ko-KR" b="1" dirty="0">
              <a:latin typeface="+mj-lt"/>
              <a:ea typeface="나눔명조" panose="02020603020101020101" pitchFamily="18" charset="-127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 - </a:t>
            </a:r>
            <a:r>
              <a:rPr lang="ko-KR" altLang="en-US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누가 사는가</a:t>
            </a:r>
            <a:endParaRPr lang="en-US" altLang="ko-KR" dirty="0">
              <a:solidFill>
                <a:srgbClr val="2B2230"/>
              </a:solidFill>
              <a:latin typeface="+mj-lt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 - </a:t>
            </a:r>
            <a:r>
              <a:rPr lang="ko-KR" altLang="en-US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젠더 분석</a:t>
            </a: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altLang="ko-KR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성매매의</a:t>
            </a: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발생원인</a:t>
            </a: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 - </a:t>
            </a:r>
            <a:r>
              <a:rPr lang="ko-KR" altLang="en-US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법은 누구를 보는가</a:t>
            </a: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 - </a:t>
            </a:r>
            <a:r>
              <a:rPr lang="ko-KR" altLang="en-US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대학이라는 조직</a:t>
            </a: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 - </a:t>
            </a:r>
            <a:r>
              <a:rPr lang="en-US" altLang="ko-KR" dirty="0" err="1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액션플랜</a:t>
            </a: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나의 다짐</a:t>
            </a: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0" indent="0">
              <a:lnSpc>
                <a:spcPct val="108000"/>
              </a:lnSpc>
              <a:buNone/>
            </a:pPr>
            <a:endParaRPr lang="en-US" altLang="ko-KR" dirty="0">
              <a:latin typeface="+mj-lt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ko-KR" b="1" dirty="0">
                <a:latin typeface="+mj-lt"/>
                <a:ea typeface="나눔명조" panose="02020603020101020101" pitchFamily="18" charset="-127"/>
              </a:rPr>
              <a:t>4</a:t>
            </a:r>
            <a:r>
              <a:rPr lang="ko-KR" altLang="en-US" b="1" dirty="0">
                <a:latin typeface="+mj-lt"/>
                <a:ea typeface="나눔명조" panose="02020603020101020101" pitchFamily="18" charset="-127"/>
              </a:rPr>
              <a:t>차시 주요 목차</a:t>
            </a:r>
            <a:endParaRPr lang="en-US" altLang="ko-KR" b="1" dirty="0">
              <a:latin typeface="+mj-lt"/>
              <a:ea typeface="나눔명조" panose="02020603020101020101" pitchFamily="18" charset="-127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 - </a:t>
            </a:r>
            <a:r>
              <a:rPr lang="ko-KR" altLang="en-US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위대한 집안일</a:t>
            </a:r>
            <a:endParaRPr lang="en-US" altLang="ko-KR" dirty="0">
              <a:solidFill>
                <a:srgbClr val="2B2230"/>
              </a:solidFill>
              <a:latin typeface="+mj-lt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 - </a:t>
            </a:r>
            <a:r>
              <a:rPr lang="ko-KR" altLang="en-US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친밀한 관계 폭력</a:t>
            </a:r>
            <a:endParaRPr lang="en-US" altLang="ko-KR" dirty="0">
              <a:solidFill>
                <a:srgbClr val="2B2230"/>
              </a:solidFill>
              <a:latin typeface="+mj-lt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 - </a:t>
            </a:r>
            <a:r>
              <a:rPr lang="ko-KR" altLang="en-US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강압적 통제</a:t>
            </a:r>
            <a:endParaRPr lang="en-US" altLang="ko-KR" dirty="0">
              <a:solidFill>
                <a:srgbClr val="2B2230"/>
              </a:solidFill>
              <a:latin typeface="+mj-lt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 - </a:t>
            </a:r>
            <a:r>
              <a:rPr lang="ko-KR" altLang="en-US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교제폭력</a:t>
            </a:r>
            <a:endParaRPr lang="en-US" altLang="ko-KR" dirty="0">
              <a:solidFill>
                <a:srgbClr val="2B2230"/>
              </a:solidFill>
              <a:latin typeface="+mj-lt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 - </a:t>
            </a:r>
            <a:r>
              <a:rPr lang="ko-KR" altLang="en-US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왜 계속되는가</a:t>
            </a:r>
            <a:endParaRPr lang="en-US" altLang="ko-KR" dirty="0">
              <a:solidFill>
                <a:srgbClr val="2B2230"/>
              </a:solidFill>
              <a:latin typeface="+mj-lt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  - </a:t>
            </a:r>
            <a:r>
              <a:rPr lang="ko-KR" altLang="en-US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액션플랜</a:t>
            </a: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나의 다짐</a:t>
            </a:r>
            <a:r>
              <a:rPr lang="en-US" altLang="ko-KR" dirty="0">
                <a:solidFill>
                  <a:srgbClr val="2B2230"/>
                </a:solidFill>
                <a:latin typeface="+mj-lt"/>
                <a:ea typeface="Malgun Gothic" pitchFamily="34" charset="-122"/>
                <a:cs typeface="Malgun Gothic" pitchFamily="34" charset="-120"/>
              </a:rPr>
              <a:t>)</a:t>
            </a:r>
            <a:endParaRPr lang="en-US" altLang="ko-KR" dirty="0">
              <a:latin typeface="+mj-lt"/>
            </a:endParaRPr>
          </a:p>
          <a:p>
            <a:pPr marL="0" indent="0">
              <a:lnSpc>
                <a:spcPct val="108000"/>
              </a:lnSpc>
              <a:buNone/>
            </a:pPr>
            <a:endParaRPr lang="en-US" altLang="ko-K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60611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8FF33DB-D279-41B2-AB1F-9EEB6A3922F6}"/>
              </a:ext>
            </a:extLst>
          </p:cNvPr>
          <p:cNvSpPr/>
          <p:nvPr/>
        </p:nvSpPr>
        <p:spPr>
          <a:xfrm>
            <a:off x="579919" y="2563749"/>
            <a:ext cx="8168544" cy="1033156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b="1" dirty="0">
                <a:solidFill>
                  <a:srgbClr val="A591BD"/>
                </a:solidFill>
              </a:rPr>
              <a:t>보이지 않는 권력</a:t>
            </a:r>
            <a:r>
              <a:rPr lang="en-US" altLang="ko-KR" sz="4000" b="1" dirty="0">
                <a:solidFill>
                  <a:srgbClr val="A591BD"/>
                </a:solidFill>
              </a:rPr>
              <a:t>,</a:t>
            </a:r>
            <a:r>
              <a:rPr lang="en-US" altLang="ko-KR"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ko-KR" altLang="en-US" sz="4000" b="1" dirty="0">
                <a:solidFill>
                  <a:schemeClr val="accent4">
                    <a:lumMod val="75000"/>
                  </a:schemeClr>
                </a:solidFill>
              </a:rPr>
              <a:t>보이는 책임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8DFA8C-75B7-44C4-9354-A62D0FB43F16}"/>
              </a:ext>
            </a:extLst>
          </p:cNvPr>
          <p:cNvSpPr txBox="1"/>
          <p:nvPr/>
        </p:nvSpPr>
        <p:spPr>
          <a:xfrm>
            <a:off x="4439448" y="5944807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>
                <a:solidFill>
                  <a:schemeClr val="accent4">
                    <a:lumMod val="50000"/>
                  </a:schemeClr>
                </a:solidFill>
              </a:rPr>
              <a:t>경상국립대학교 인권센터 이은주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9B099-AB32-4C3B-A61B-F27CEACC0923}"/>
              </a:ext>
            </a:extLst>
          </p:cNvPr>
          <p:cNvSpPr txBox="1"/>
          <p:nvPr/>
        </p:nvSpPr>
        <p:spPr>
          <a:xfrm>
            <a:off x="2828837" y="3821755"/>
            <a:ext cx="36707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2400" dirty="0">
                <a:solidFill>
                  <a:schemeClr val="accent5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en-US" altLang="ko-KR" sz="2400" dirty="0" err="1">
                <a:solidFill>
                  <a:schemeClr val="accent5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젠더기반폭력의</a:t>
            </a:r>
            <a:r>
              <a:rPr lang="en-US" altLang="ko-KR" sz="2400" dirty="0">
                <a:solidFill>
                  <a:schemeClr val="accent5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400" dirty="0" err="1">
                <a:solidFill>
                  <a:schemeClr val="accent5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</a:t>
            </a:r>
            <a:r>
              <a:rPr lang="en-US" altLang="ko-KR" sz="2400" dirty="0">
                <a:solidFill>
                  <a:schemeClr val="accent5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</a:t>
            </a:r>
            <a:endParaRPr lang="en-US" altLang="ko-KR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E665412-8359-4EEF-A681-F7537198E937}"/>
              </a:ext>
            </a:extLst>
          </p:cNvPr>
          <p:cNvGrpSpPr/>
          <p:nvPr/>
        </p:nvGrpSpPr>
        <p:grpSpPr>
          <a:xfrm>
            <a:off x="395536" y="673269"/>
            <a:ext cx="7272808" cy="731481"/>
            <a:chOff x="539552" y="1151981"/>
            <a:chExt cx="7632848" cy="731481"/>
          </a:xfrm>
        </p:grpSpPr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4046DECB-6849-4DD4-9A1C-82D508D1C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552" y="1151981"/>
              <a:ext cx="7632848" cy="731481"/>
            </a:xfrm>
            <a:prstGeom prst="rect">
              <a:avLst/>
            </a:prstGeom>
          </p:spPr>
        </p:pic>
        <p:sp>
          <p:nvSpPr>
            <p:cNvPr id="9" name="TextBox 5">
              <a:extLst>
                <a:ext uri="{FF2B5EF4-FFF2-40B4-BE49-F238E27FC236}">
                  <a16:creationId xmlns:a16="http://schemas.microsoft.com/office/drawing/2014/main" id="{218E5496-06F3-46D1-AFFC-43B8D68CAB54}"/>
                </a:ext>
              </a:extLst>
            </p:cNvPr>
            <p:cNvSpPr txBox="1"/>
            <p:nvPr/>
          </p:nvSpPr>
          <p:spPr>
            <a:xfrm>
              <a:off x="808637" y="1343428"/>
              <a:ext cx="6463838" cy="37032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>
                <a:lnSpc>
                  <a:spcPct val="116199"/>
                </a:lnSpc>
              </a:pPr>
              <a:r>
                <a:rPr lang="ko-KR" altLang="en-US" sz="2400" b="1" i="0" u="none" strike="noStrike" dirty="0">
                  <a:solidFill>
                    <a:srgbClr val="204F6E"/>
                  </a:solidFill>
                  <a:latin typeface="+mj-lt"/>
                  <a:ea typeface="Pretendard Bold" panose="020B0600000101010101" charset="-127"/>
                </a:rPr>
                <a:t>경상국립대학교 고위직 성인지 리더십</a:t>
              </a:r>
              <a:endParaRPr lang="ko-KR" altLang="ko-KR" sz="2400" b="1" i="0" u="none" strike="noStrike" dirty="0">
                <a:solidFill>
                  <a:srgbClr val="204F6E"/>
                </a:solidFill>
                <a:latin typeface="+mj-lt"/>
                <a:ea typeface="Pretendard Bold" panose="020B0600000101010101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449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04FD9EE0-4B19-4A00-8D19-48358B8932BE}"/>
              </a:ext>
            </a:extLst>
          </p:cNvPr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EFEAF3"/>
          </a:solidFill>
          <a:ln/>
        </p:spPr>
        <p:txBody>
          <a:bodyPr/>
          <a:lstStyle/>
          <a:p>
            <a:endParaRPr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4C1A694-3E13-4501-8157-F25227256674}"/>
              </a:ext>
            </a:extLst>
          </p:cNvPr>
          <p:cNvGrpSpPr/>
          <p:nvPr/>
        </p:nvGrpSpPr>
        <p:grpSpPr>
          <a:xfrm>
            <a:off x="251521" y="332656"/>
            <a:ext cx="8640959" cy="6192687"/>
            <a:chOff x="251521" y="332656"/>
            <a:chExt cx="8627152" cy="622462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EC2D9C5-C51A-44D4-BEC0-D6127328FBC7}"/>
                </a:ext>
              </a:extLst>
            </p:cNvPr>
            <p:cNvSpPr txBox="1"/>
            <p:nvPr/>
          </p:nvSpPr>
          <p:spPr>
            <a:xfrm>
              <a:off x="3491880" y="6249504"/>
              <a:ext cx="23042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경상국립대학교 인권센터</a:t>
              </a: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064DA5-1A80-4679-97CC-FE5C4383E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521" y="332656"/>
              <a:ext cx="8627152" cy="6192688"/>
            </a:xfrm>
            <a:prstGeom prst="rect">
              <a:avLst/>
            </a:prstGeom>
          </p:spPr>
        </p:pic>
      </p:grpSp>
      <p:sp>
        <p:nvSpPr>
          <p:cNvPr id="14" name="Shape 11">
            <a:extLst>
              <a:ext uri="{FF2B5EF4-FFF2-40B4-BE49-F238E27FC236}">
                <a16:creationId xmlns:a16="http://schemas.microsoft.com/office/drawing/2014/main" id="{8C69F509-F7F2-4E0C-9D6D-21237ED30D22}"/>
              </a:ext>
            </a:extLst>
          </p:cNvPr>
          <p:cNvSpPr/>
          <p:nvPr/>
        </p:nvSpPr>
        <p:spPr>
          <a:xfrm>
            <a:off x="620648" y="1994517"/>
            <a:ext cx="8046720" cy="592659"/>
          </a:xfrm>
          <a:prstGeom prst="rect">
            <a:avLst/>
          </a:prstGeom>
          <a:solidFill>
            <a:srgbClr val="EFEAF3"/>
          </a:solidFill>
          <a:ln w="6350">
            <a:solidFill>
              <a:srgbClr val="EFEA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F0E0FBC-6CCF-4254-8934-E104204A05F4}"/>
              </a:ext>
            </a:extLst>
          </p:cNvPr>
          <p:cNvSpPr/>
          <p:nvPr/>
        </p:nvSpPr>
        <p:spPr>
          <a:xfrm>
            <a:off x="731520" y="1990537"/>
            <a:ext cx="7680960" cy="592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800" b="1" dirty="0" err="1">
                <a:solidFill>
                  <a:srgbClr val="3B3050"/>
                </a:solidFill>
                <a:latin typeface="+mj-ea"/>
                <a:ea typeface="+mj-ea"/>
                <a:cs typeface="Malgun Gothic" pitchFamily="34" charset="-120"/>
              </a:rPr>
              <a:t>젠더기반폭력의</a:t>
            </a:r>
            <a:r>
              <a:rPr lang="ko-KR" altLang="en-US" sz="2800" b="1" dirty="0">
                <a:solidFill>
                  <a:srgbClr val="3B3050"/>
                </a:solidFill>
                <a:latin typeface="+mj-ea"/>
                <a:ea typeface="+mj-ea"/>
                <a:cs typeface="Malgun Gothic" pitchFamily="34" charset="-120"/>
              </a:rPr>
              <a:t> 발생구조 </a:t>
            </a:r>
            <a:endParaRPr lang="en-US" altLang="ko-KR" sz="2800" b="1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E785C0C4-8F33-45A9-97B3-371447282756}"/>
              </a:ext>
            </a:extLst>
          </p:cNvPr>
          <p:cNvSpPr/>
          <p:nvPr/>
        </p:nvSpPr>
        <p:spPr>
          <a:xfrm>
            <a:off x="3490070" y="479192"/>
            <a:ext cx="2150054" cy="686652"/>
          </a:xfrm>
          <a:prstGeom prst="roundRect">
            <a:avLst>
              <a:gd name="adj" fmla="val 4706"/>
            </a:avLst>
          </a:prstGeom>
          <a:solidFill>
            <a:srgbClr val="6C5B7B"/>
          </a:solidFill>
          <a:ln/>
        </p:spPr>
        <p:txBody>
          <a:bodyPr/>
          <a:lstStyle/>
          <a:p>
            <a:pPr algn="ctr"/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목 차</a:t>
            </a:r>
            <a:endParaRPr lang="ko-KR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350F58A2-7CB4-4DF7-8FE3-90602AA2D100}"/>
              </a:ext>
            </a:extLst>
          </p:cNvPr>
          <p:cNvSpPr/>
          <p:nvPr/>
        </p:nvSpPr>
        <p:spPr>
          <a:xfrm>
            <a:off x="620648" y="1273347"/>
            <a:ext cx="8046720" cy="592659"/>
          </a:xfrm>
          <a:prstGeom prst="rect">
            <a:avLst/>
          </a:prstGeom>
          <a:solidFill>
            <a:srgbClr val="EFEAF3"/>
          </a:solidFill>
          <a:ln w="6350">
            <a:solidFill>
              <a:srgbClr val="EFEAF3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9178B663-5C98-40AD-886D-C4C397126F89}"/>
              </a:ext>
            </a:extLst>
          </p:cNvPr>
          <p:cNvSpPr/>
          <p:nvPr/>
        </p:nvSpPr>
        <p:spPr>
          <a:xfrm>
            <a:off x="731520" y="1286560"/>
            <a:ext cx="7680960" cy="592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800" b="1" dirty="0" err="1">
                <a:solidFill>
                  <a:srgbClr val="3B3050"/>
                </a:solidFill>
                <a:latin typeface="+mj-ea"/>
                <a:ea typeface="+mj-ea"/>
                <a:cs typeface="Malgun Gothic" pitchFamily="34" charset="-120"/>
              </a:rPr>
              <a:t>젠더기반폭력의</a:t>
            </a:r>
            <a:r>
              <a:rPr lang="ko-KR" altLang="en-US" sz="2800" b="1" dirty="0">
                <a:solidFill>
                  <a:srgbClr val="3B3050"/>
                </a:solidFill>
                <a:latin typeface="+mj-ea"/>
                <a:ea typeface="+mj-ea"/>
                <a:cs typeface="Malgun Gothic" pitchFamily="34" charset="-120"/>
              </a:rPr>
              <a:t> 이해 </a:t>
            </a:r>
            <a:endParaRPr lang="en-US" altLang="ko-KR" sz="2800" b="1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AFEC51BD-4A8D-4EBC-B355-E47FFC85B9DB}"/>
              </a:ext>
            </a:extLst>
          </p:cNvPr>
          <p:cNvSpPr/>
          <p:nvPr/>
        </p:nvSpPr>
        <p:spPr>
          <a:xfrm>
            <a:off x="620648" y="2692325"/>
            <a:ext cx="8046720" cy="592659"/>
          </a:xfrm>
          <a:prstGeom prst="rect">
            <a:avLst/>
          </a:prstGeom>
          <a:solidFill>
            <a:srgbClr val="EFEAF3"/>
          </a:solidFill>
          <a:ln w="6350">
            <a:solidFill>
              <a:srgbClr val="EFEAF3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FC7CCFC4-CEEB-4093-899A-5D1547E5365B}"/>
              </a:ext>
            </a:extLst>
          </p:cNvPr>
          <p:cNvSpPr/>
          <p:nvPr/>
        </p:nvSpPr>
        <p:spPr>
          <a:xfrm>
            <a:off x="731520" y="2908349"/>
            <a:ext cx="7680960" cy="592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altLang="ko-KR" sz="2800" b="1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BE2147FA-AEAA-4A64-AEDB-4830AC1F49C4}"/>
              </a:ext>
            </a:extLst>
          </p:cNvPr>
          <p:cNvSpPr/>
          <p:nvPr/>
        </p:nvSpPr>
        <p:spPr>
          <a:xfrm>
            <a:off x="387622" y="5709217"/>
            <a:ext cx="8342795" cy="5926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EFEA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001BE094-0C8A-4F21-AD3E-AEC7D734A3E5}"/>
              </a:ext>
            </a:extLst>
          </p:cNvPr>
          <p:cNvSpPr/>
          <p:nvPr/>
        </p:nvSpPr>
        <p:spPr>
          <a:xfrm>
            <a:off x="3104924" y="3473659"/>
            <a:ext cx="2952327" cy="686652"/>
          </a:xfrm>
          <a:prstGeom prst="roundRect">
            <a:avLst>
              <a:gd name="adj" fmla="val 4706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pPr algn="ctr"/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학습목표</a:t>
            </a:r>
            <a:endParaRPr lang="ko-KR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F99DCFC7-6933-4BF3-9951-7CEFE7D56CF4}"/>
              </a:ext>
            </a:extLst>
          </p:cNvPr>
          <p:cNvSpPr/>
          <p:nvPr/>
        </p:nvSpPr>
        <p:spPr>
          <a:xfrm>
            <a:off x="387622" y="4293096"/>
            <a:ext cx="7680960" cy="592659"/>
          </a:xfrm>
          <a:prstGeom prst="rect">
            <a:avLst/>
          </a:prstGeom>
          <a:solidFill>
            <a:srgbClr val="EFEAF3"/>
          </a:solidFill>
          <a:ln w="6350">
            <a:solidFill>
              <a:srgbClr val="EFEA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A8B0D1C8-CC46-4067-BF08-D15D1FC6F956}"/>
              </a:ext>
            </a:extLst>
          </p:cNvPr>
          <p:cNvSpPr/>
          <p:nvPr/>
        </p:nvSpPr>
        <p:spPr>
          <a:xfrm>
            <a:off x="395536" y="4293096"/>
            <a:ext cx="8318024" cy="5926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r>
              <a:rPr lang="ko-KR" altLang="en-US" b="1" dirty="0">
                <a:solidFill>
                  <a:srgbClr val="0070C0"/>
                </a:solidFill>
                <a:latin typeface="+mj-ea"/>
                <a:ea typeface="+mj-ea"/>
              </a:rPr>
              <a:t> 성별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>
                <a:solidFill>
                  <a:srgbClr val="0070C0"/>
                </a:solidFill>
                <a:latin typeface="+mj-ea"/>
                <a:ea typeface="+mj-ea"/>
              </a:rPr>
              <a:t>고정관념과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>
                <a:solidFill>
                  <a:srgbClr val="0070C0"/>
                </a:solidFill>
                <a:latin typeface="+mj-ea"/>
                <a:ea typeface="+mj-ea"/>
              </a:rPr>
              <a:t>성차별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>
                <a:solidFill>
                  <a:srgbClr val="0070C0"/>
                </a:solidFill>
                <a:latin typeface="+mj-ea"/>
                <a:ea typeface="+mj-ea"/>
              </a:rPr>
              <a:t>구조가 </a:t>
            </a:r>
            <a:r>
              <a:rPr lang="ko-KR" altLang="en-US" b="1" dirty="0" err="1">
                <a:solidFill>
                  <a:srgbClr val="0070C0"/>
                </a:solidFill>
                <a:latin typeface="+mj-ea"/>
                <a:ea typeface="+mj-ea"/>
              </a:rPr>
              <a:t>젠더기반폭력으로</a:t>
            </a:r>
            <a:r>
              <a:rPr lang="ko-KR" altLang="en-US" b="1" dirty="0">
                <a:solidFill>
                  <a:srgbClr val="0070C0"/>
                </a:solidFill>
                <a:latin typeface="+mj-ea"/>
                <a:ea typeface="+mj-ea"/>
              </a:rPr>
              <a:t> 이어지는 과정을 이해한다</a:t>
            </a:r>
            <a:r>
              <a:rPr lang="en-US" altLang="ko-KR" b="1" dirty="0">
                <a:solidFill>
                  <a:srgbClr val="0070C0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746115DC-C048-4312-B0DB-FA1E8B79C677}"/>
              </a:ext>
            </a:extLst>
          </p:cNvPr>
          <p:cNvSpPr/>
          <p:nvPr/>
        </p:nvSpPr>
        <p:spPr>
          <a:xfrm>
            <a:off x="743278" y="2664976"/>
            <a:ext cx="7680960" cy="592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800" b="1" dirty="0" err="1">
                <a:solidFill>
                  <a:srgbClr val="3B3050"/>
                </a:solidFill>
                <a:latin typeface="+mj-ea"/>
                <a:ea typeface="+mj-ea"/>
                <a:cs typeface="Malgun Gothic" pitchFamily="34" charset="-120"/>
              </a:rPr>
              <a:t>고위직으로서의</a:t>
            </a:r>
            <a:r>
              <a:rPr lang="ko-KR" altLang="en-US" sz="2800" b="1" dirty="0">
                <a:solidFill>
                  <a:srgbClr val="3B3050"/>
                </a:solidFill>
                <a:latin typeface="+mj-ea"/>
                <a:ea typeface="+mj-ea"/>
                <a:cs typeface="Malgun Gothic" pitchFamily="34" charset="-120"/>
              </a:rPr>
              <a:t> 성평등 관점 </a:t>
            </a:r>
            <a:endParaRPr lang="en-US" altLang="ko-KR" sz="2800" b="1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8BD76543-FEF1-4A30-9CEB-F24620AD8249}"/>
              </a:ext>
            </a:extLst>
          </p:cNvPr>
          <p:cNvSpPr/>
          <p:nvPr/>
        </p:nvSpPr>
        <p:spPr>
          <a:xfrm>
            <a:off x="550101" y="5716661"/>
            <a:ext cx="8166094" cy="592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성평등한 조직 문화 조성을 위한 실천계획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액션플랜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)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을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개 이상 수립한다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FC1E52AC-69F9-4664-8B8C-1610C05FBF39}"/>
              </a:ext>
            </a:extLst>
          </p:cNvPr>
          <p:cNvSpPr/>
          <p:nvPr/>
        </p:nvSpPr>
        <p:spPr>
          <a:xfrm>
            <a:off x="387622" y="5008600"/>
            <a:ext cx="8342795" cy="5926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EFEA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D6C4FF7E-2458-4050-9F35-BA418BAD112E}"/>
              </a:ext>
            </a:extLst>
          </p:cNvPr>
          <p:cNvSpPr/>
          <p:nvPr/>
        </p:nvSpPr>
        <p:spPr>
          <a:xfrm>
            <a:off x="387622" y="5008600"/>
            <a:ext cx="8342796" cy="592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b="1" dirty="0">
                <a:latin typeface="+mj-ea"/>
                <a:ea typeface="+mj-ea"/>
              </a:rPr>
              <a:t> </a:t>
            </a:r>
            <a:r>
              <a:rPr lang="ko-KR" altLang="en-US" b="1" dirty="0" err="1">
                <a:latin typeface="+mj-ea"/>
                <a:ea typeface="+mj-ea"/>
              </a:rPr>
              <a:t>고위직으로서의</a:t>
            </a:r>
            <a:r>
              <a:rPr lang="ko-KR" altLang="en-US" b="1" dirty="0">
                <a:latin typeface="+mj-ea"/>
                <a:ea typeface="+mj-ea"/>
              </a:rPr>
              <a:t> 영향력과 조직문화 형성 책임을 인식한다</a:t>
            </a:r>
            <a:r>
              <a:rPr lang="en-US" altLang="ko-KR" b="1" dirty="0">
                <a:latin typeface="+mj-ea"/>
                <a:ea typeface="+mj-ea"/>
              </a:rPr>
              <a:t>.</a:t>
            </a:r>
            <a:r>
              <a:rPr lang="ko-KR" altLang="en-US" b="1" dirty="0">
                <a:latin typeface="+mj-ea"/>
                <a:ea typeface="+mj-ea"/>
              </a:rPr>
              <a:t> </a:t>
            </a:r>
            <a:endParaRPr lang="en-US" altLang="ko-KR" b="1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43752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10">
            <a:extLst>
              <a:ext uri="{FF2B5EF4-FFF2-40B4-BE49-F238E27FC236}">
                <a16:creationId xmlns:a16="http://schemas.microsoft.com/office/drawing/2014/main" id="{8082EACF-AEDD-43CB-9632-A9AC4B71F1D2}"/>
              </a:ext>
            </a:extLst>
          </p:cNvPr>
          <p:cNvSpPr/>
          <p:nvPr/>
        </p:nvSpPr>
        <p:spPr>
          <a:xfrm>
            <a:off x="2575318" y="4115814"/>
            <a:ext cx="3434061" cy="755468"/>
          </a:xfrm>
          <a:prstGeom prst="roundRect">
            <a:avLst>
              <a:gd name="adj" fmla="val 11111"/>
            </a:avLst>
          </a:prstGeom>
          <a:solidFill>
            <a:srgbClr val="EFEAF3"/>
          </a:solidFill>
          <a:ln/>
        </p:spPr>
        <p:txBody>
          <a:bodyPr/>
          <a:lstStyle/>
          <a:p>
            <a:r>
              <a:rPr lang="ko-KR" altLang="en-US" sz="3200" b="1" dirty="0"/>
              <a:t>네</a:t>
            </a:r>
            <a:r>
              <a:rPr lang="en-US" altLang="ko-KR" sz="3200" b="1" dirty="0"/>
              <a:t>, </a:t>
            </a:r>
            <a:r>
              <a:rPr lang="ko-KR" altLang="en-US" sz="3200" b="1" dirty="0"/>
              <a:t>알겠습니다</a:t>
            </a:r>
            <a:r>
              <a:rPr lang="en-US" altLang="ko-KR" sz="3200" b="1" dirty="0"/>
              <a:t>. </a:t>
            </a:r>
            <a:endParaRPr lang="ko-KR" altLang="en-US" sz="3200" b="1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0AC2F03-D106-4854-A854-2266C886C2BB}"/>
              </a:ext>
            </a:extLst>
          </p:cNvPr>
          <p:cNvGrpSpPr/>
          <p:nvPr/>
        </p:nvGrpSpPr>
        <p:grpSpPr>
          <a:xfrm>
            <a:off x="112512" y="3787438"/>
            <a:ext cx="8635952" cy="1338917"/>
            <a:chOff x="62514" y="3726976"/>
            <a:chExt cx="8635952" cy="1338917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861EABE2-B8FB-4E15-B524-BD4B193899C0}"/>
                </a:ext>
              </a:extLst>
            </p:cNvPr>
            <p:cNvGrpSpPr/>
            <p:nvPr/>
          </p:nvGrpSpPr>
          <p:grpSpPr>
            <a:xfrm>
              <a:off x="62514" y="3726976"/>
              <a:ext cx="1126232" cy="1126232"/>
              <a:chOff x="142195" y="4033087"/>
              <a:chExt cx="1126232" cy="1126232"/>
            </a:xfrm>
          </p:grpSpPr>
          <p:pic>
            <p:nvPicPr>
              <p:cNvPr id="22" name="Picture 4" descr="image.png">
                <a:extLst>
                  <a:ext uri="{FF2B5EF4-FFF2-40B4-BE49-F238E27FC236}">
                    <a16:creationId xmlns:a16="http://schemas.microsoft.com/office/drawing/2014/main" id="{2F82E23F-CA7F-42F3-B68C-DFBF5C17A0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2195" y="4033087"/>
                <a:ext cx="1126232" cy="1126232"/>
              </a:xfrm>
              <a:prstGeom prst="rect">
                <a:avLst/>
              </a:prstGeom>
            </p:spPr>
          </p:pic>
          <p:pic>
            <p:nvPicPr>
              <p:cNvPr id="23" name="Picture 8" descr="image.png">
                <a:extLst>
                  <a:ext uri="{FF2B5EF4-FFF2-40B4-BE49-F238E27FC236}">
                    <a16:creationId xmlns:a16="http://schemas.microsoft.com/office/drawing/2014/main" id="{E774CFF4-E1BB-4A94-A0B7-CD4D965C51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6169" y="4122834"/>
                <a:ext cx="889130" cy="889130"/>
              </a:xfrm>
              <a:prstGeom prst="rect">
                <a:avLst/>
              </a:prstGeom>
            </p:spPr>
          </p:pic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B433716-E968-4AAD-85CF-71449F6F8361}"/>
                </a:ext>
              </a:extLst>
            </p:cNvPr>
            <p:cNvSpPr txBox="1"/>
            <p:nvPr/>
          </p:nvSpPr>
          <p:spPr>
            <a:xfrm>
              <a:off x="129514" y="4696561"/>
              <a:ext cx="7209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chemeClr val="accent5">
                      <a:lumMod val="75000"/>
                    </a:schemeClr>
                  </a:solidFill>
                </a:rPr>
                <a:t>팀장</a:t>
              </a: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39101484-6C88-4313-82C4-6B4E213274A7}"/>
                </a:ext>
              </a:extLst>
            </p:cNvPr>
            <p:cNvGrpSpPr/>
            <p:nvPr/>
          </p:nvGrpSpPr>
          <p:grpSpPr>
            <a:xfrm>
              <a:off x="2478138" y="3953401"/>
              <a:ext cx="6220328" cy="1005840"/>
              <a:chOff x="2294839" y="3243721"/>
              <a:chExt cx="6220328" cy="1005840"/>
            </a:xfrm>
          </p:grpSpPr>
          <p:sp>
            <p:nvSpPr>
              <p:cNvPr id="51" name="Shape 10">
                <a:extLst>
                  <a:ext uri="{FF2B5EF4-FFF2-40B4-BE49-F238E27FC236}">
                    <a16:creationId xmlns:a16="http://schemas.microsoft.com/office/drawing/2014/main" id="{836753CE-C342-4F17-9CCD-2E51AB04F622}"/>
                  </a:ext>
                </a:extLst>
              </p:cNvPr>
              <p:cNvSpPr/>
              <p:nvPr/>
            </p:nvSpPr>
            <p:spPr>
              <a:xfrm>
                <a:off x="2294839" y="3243721"/>
                <a:ext cx="6220328" cy="1005840"/>
              </a:xfrm>
              <a:prstGeom prst="roundRect">
                <a:avLst>
                  <a:gd name="adj" fmla="val 11111"/>
                </a:avLst>
              </a:prstGeom>
              <a:solidFill>
                <a:srgbClr val="EFEAF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" name="Text 12">
                <a:extLst>
                  <a:ext uri="{FF2B5EF4-FFF2-40B4-BE49-F238E27FC236}">
                    <a16:creationId xmlns:a16="http://schemas.microsoft.com/office/drawing/2014/main" id="{7D0AD16B-A92A-4710-84CF-329C5333BF3C}"/>
                  </a:ext>
                </a:extLst>
              </p:cNvPr>
              <p:cNvSpPr/>
              <p:nvPr/>
            </p:nvSpPr>
            <p:spPr>
              <a:xfrm>
                <a:off x="2466649" y="3344399"/>
                <a:ext cx="5788361" cy="81957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b="1" dirty="0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네, </a:t>
                </a:r>
                <a:r>
                  <a:rPr lang="ko-KR" altLang="en-US" b="1" dirty="0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그렇게 </a:t>
                </a:r>
                <a:r>
                  <a:rPr lang="ko-KR" altLang="en-US" b="1" dirty="0" err="1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조치하겠습</a:t>
                </a:r>
                <a:r>
                  <a:rPr lang="en-US" b="1" dirty="0" err="1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니다</a:t>
                </a:r>
                <a:r>
                  <a:rPr lang="en-US" b="1" dirty="0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.</a:t>
                </a:r>
                <a:r>
                  <a:rPr lang="ko-KR" altLang="en-US" b="1" dirty="0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</a:t>
                </a:r>
                <a:endParaRPr lang="en-US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endParaRPr>
              </a:p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altLang="ko-KR" sz="1600" b="1" dirty="0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</a:t>
                </a:r>
                <a:r>
                  <a:rPr lang="ko-KR" altLang="en-US" sz="2800" b="1" dirty="0">
                    <a:solidFill>
                      <a:schemeClr val="accent5">
                        <a:lumMod val="7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다음엔 조용히 </a:t>
                </a:r>
                <a:r>
                  <a:rPr lang="ko-KR" altLang="en-US" sz="2800" b="1" dirty="0" err="1">
                    <a:solidFill>
                      <a:schemeClr val="accent5">
                        <a:lumMod val="7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처리해야겠다</a:t>
                </a:r>
                <a:r>
                  <a:rPr lang="en-US" altLang="ko-KR" sz="2800" b="1" dirty="0">
                    <a:solidFill>
                      <a:schemeClr val="accent5">
                        <a:lumMod val="7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..</a:t>
                </a:r>
                <a:r>
                  <a:rPr lang="en-US" altLang="ko-KR" sz="1600" b="1" dirty="0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) </a:t>
                </a:r>
                <a:endParaRPr lang="en-US" sz="1600" b="1" dirty="0"/>
              </a:p>
            </p:txBody>
          </p:sp>
        </p:grpSp>
      </p:grpSp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EFEA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84237" y="214884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고위직의 </a:t>
            </a:r>
            <a:r>
              <a:rPr lang="en-US" sz="36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 한마디가 </a:t>
            </a:r>
            <a:r>
              <a:rPr lang="en-US" sz="28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갖는 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85300" y="1496588"/>
            <a:ext cx="871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ko-KR" altLang="en-US" sz="2000" b="1" u="sng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주요국책사업을 수행하는 사업단</a:t>
            </a:r>
            <a:r>
              <a:rPr lang="en-US" sz="2000" dirty="0" err="1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r>
              <a:rPr lang="en-US" sz="2000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u="sng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성희롱 사건이 발생</a:t>
            </a:r>
            <a:r>
              <a:rPr lang="en-US" sz="2000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했습니다. 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사업단장이 </a:t>
            </a:r>
            <a:r>
              <a:rPr lang="en-US" sz="2000" dirty="0" err="1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</a:t>
            </a:r>
            <a:r>
              <a:rPr lang="en-US" sz="2000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말합니다.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17478" y="2530407"/>
            <a:ext cx="1110364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</a:t>
            </a:r>
            <a:endParaRPr lang="en-US" sz="12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002DDA4-A442-4AF5-852B-1A795BA0334C}"/>
              </a:ext>
            </a:extLst>
          </p:cNvPr>
          <p:cNvGrpSpPr/>
          <p:nvPr/>
        </p:nvGrpSpPr>
        <p:grpSpPr>
          <a:xfrm>
            <a:off x="138691" y="2173007"/>
            <a:ext cx="7732622" cy="1496588"/>
            <a:chOff x="320699" y="2032747"/>
            <a:chExt cx="7535226" cy="1496588"/>
          </a:xfrm>
        </p:grpSpPr>
        <p:pic>
          <p:nvPicPr>
            <p:cNvPr id="17" name="Picture 3">
              <a:extLst>
                <a:ext uri="{FF2B5EF4-FFF2-40B4-BE49-F238E27FC236}">
                  <a16:creationId xmlns:a16="http://schemas.microsoft.com/office/drawing/2014/main" id="{08322BBE-6252-4C55-BB96-BC785E00E209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0699" y="2099938"/>
              <a:ext cx="7453013" cy="1364680"/>
            </a:xfrm>
            <a:prstGeom prst="rect">
              <a:avLst/>
            </a:prstGeom>
          </p:spPr>
        </p:pic>
        <p:sp>
          <p:nvSpPr>
            <p:cNvPr id="9" name="Text 7"/>
            <p:cNvSpPr/>
            <p:nvPr/>
          </p:nvSpPr>
          <p:spPr>
            <a:xfrm>
              <a:off x="402912" y="2032747"/>
              <a:ext cx="7453013" cy="14965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b="1" dirty="0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</a:t>
              </a:r>
              <a:r>
                <a:rPr lang="ko-KR" altLang="en-US" b="1" dirty="0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직원이</a:t>
              </a:r>
              <a:r>
                <a:rPr lang="en-US" b="1" dirty="0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b="1" dirty="0" err="1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책임지는</a:t>
              </a:r>
              <a:r>
                <a:rPr lang="en-US" b="1" dirty="0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b="1" dirty="0" err="1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것은</a:t>
              </a:r>
              <a:r>
                <a:rPr lang="en-US" b="1" dirty="0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맞</a:t>
              </a:r>
              <a:r>
                <a:rPr lang="ko-KR" altLang="en-US" b="1" dirty="0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지만</a:t>
              </a:r>
              <a:r>
                <a:rPr lang="en-US" b="1" dirty="0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b="1" dirty="0" err="1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업무는</a:t>
              </a:r>
              <a:r>
                <a:rPr lang="en-US" b="1" dirty="0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b="1" dirty="0" err="1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계속하게</a:t>
              </a:r>
              <a:r>
                <a:rPr lang="en-US" b="1" dirty="0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b="1" dirty="0" err="1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하고</a:t>
              </a:r>
              <a:r>
                <a:rPr lang="en-US" b="1" dirty="0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</a:p>
            <a:p>
              <a:pPr marL="0" indent="0">
                <a:lnSpc>
                  <a:spcPct val="150000"/>
                </a:lnSpc>
                <a:buNone/>
              </a:pPr>
              <a:r>
                <a:rPr lang="ko-KR" altLang="en-US" b="1" dirty="0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피해직원 </a:t>
              </a:r>
              <a:r>
                <a:rPr lang="en-US" altLang="ko-KR" b="1" dirty="0" err="1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B</a:t>
              </a:r>
              <a:r>
                <a:rPr lang="en-US" b="1" dirty="0" err="1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는</a:t>
              </a:r>
              <a:r>
                <a:rPr lang="en-US" b="1" dirty="0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유급휴가를 주는 게 </a:t>
              </a:r>
              <a:r>
                <a:rPr lang="en-US" b="1" dirty="0" err="1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어떨까요</a:t>
              </a:r>
              <a:r>
                <a:rPr lang="en-US" b="1" dirty="0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?</a:t>
              </a:r>
            </a:p>
            <a:p>
              <a:pPr marL="0" indent="0">
                <a:lnSpc>
                  <a:spcPct val="150000"/>
                </a:lnSpc>
                <a:buNone/>
              </a:pPr>
              <a:endParaRPr lang="en-US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635671E-20E3-45B2-9615-F0B2EAF28AB1}"/>
              </a:ext>
            </a:extLst>
          </p:cNvPr>
          <p:cNvGrpSpPr/>
          <p:nvPr/>
        </p:nvGrpSpPr>
        <p:grpSpPr>
          <a:xfrm>
            <a:off x="477387" y="5494309"/>
            <a:ext cx="8457453" cy="1053232"/>
            <a:chOff x="477387" y="5342781"/>
            <a:chExt cx="8457453" cy="1103043"/>
          </a:xfrm>
        </p:grpSpPr>
        <p:sp>
          <p:nvSpPr>
            <p:cNvPr id="15" name="Shape 13"/>
            <p:cNvSpPr/>
            <p:nvPr/>
          </p:nvSpPr>
          <p:spPr>
            <a:xfrm>
              <a:off x="477387" y="5342781"/>
              <a:ext cx="8434123" cy="1103043"/>
            </a:xfrm>
            <a:prstGeom prst="roundRect">
              <a:avLst>
                <a:gd name="adj" fmla="val 13333"/>
              </a:avLst>
            </a:prstGeom>
            <a:solidFill>
              <a:srgbClr val="FDF3EF"/>
            </a:solidFill>
            <a:ln w="9525">
              <a:solidFill>
                <a:srgbClr val="B23A2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Text 14"/>
            <p:cNvSpPr/>
            <p:nvPr/>
          </p:nvSpPr>
          <p:spPr>
            <a:xfrm>
              <a:off x="634995" y="5532566"/>
              <a:ext cx="8299845" cy="74797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B23A2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의도하지 않았어도, 이 한마디가 '피해를 방관하는 조직문화'를 만들 수 있습니다.</a:t>
              </a:r>
              <a:endParaRPr lang="en-US" sz="2800" b="1" dirty="0"/>
            </a:p>
          </p:txBody>
        </p:sp>
      </p:grpSp>
      <p:pic>
        <p:nvPicPr>
          <p:cNvPr id="18" name="Picture 4" descr="image.png">
            <a:extLst>
              <a:ext uri="{FF2B5EF4-FFF2-40B4-BE49-F238E27FC236}">
                <a16:creationId xmlns:a16="http://schemas.microsoft.com/office/drawing/2014/main" id="{874B3634-710C-42FF-88C2-C24705C25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465" y="2276872"/>
            <a:ext cx="1126232" cy="1126232"/>
          </a:xfrm>
          <a:prstGeom prst="rect">
            <a:avLst/>
          </a:prstGeom>
        </p:spPr>
      </p:pic>
      <p:pic>
        <p:nvPicPr>
          <p:cNvPr id="19" name="Picture 8" descr="image.png">
            <a:extLst>
              <a:ext uri="{FF2B5EF4-FFF2-40B4-BE49-F238E27FC236}">
                <a16:creationId xmlns:a16="http://schemas.microsoft.com/office/drawing/2014/main" id="{6A26C1CE-813C-4903-9847-A777F7939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2381" y="2455093"/>
            <a:ext cx="889130" cy="88913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A4202F6-CE10-4027-97B8-804023E47FA2}"/>
              </a:ext>
            </a:extLst>
          </p:cNvPr>
          <p:cNvSpPr txBox="1"/>
          <p:nvPr/>
        </p:nvSpPr>
        <p:spPr>
          <a:xfrm>
            <a:off x="7929254" y="3386512"/>
            <a:ext cx="1143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7030A0"/>
                </a:solidFill>
              </a:rPr>
              <a:t>사업단장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D79ADB3-3EFF-4B35-A447-FC2489B116B6}"/>
              </a:ext>
            </a:extLst>
          </p:cNvPr>
          <p:cNvGrpSpPr/>
          <p:nvPr/>
        </p:nvGrpSpPr>
        <p:grpSpPr>
          <a:xfrm>
            <a:off x="477386" y="5499310"/>
            <a:ext cx="8434123" cy="1046406"/>
            <a:chOff x="477387" y="5342781"/>
            <a:chExt cx="8434123" cy="1103043"/>
          </a:xfrm>
        </p:grpSpPr>
        <p:sp>
          <p:nvSpPr>
            <p:cNvPr id="44" name="Shape 13">
              <a:extLst>
                <a:ext uri="{FF2B5EF4-FFF2-40B4-BE49-F238E27FC236}">
                  <a16:creationId xmlns:a16="http://schemas.microsoft.com/office/drawing/2014/main" id="{65E38DAC-8D76-43EB-8741-49929BD01AEA}"/>
                </a:ext>
              </a:extLst>
            </p:cNvPr>
            <p:cNvSpPr/>
            <p:nvPr/>
          </p:nvSpPr>
          <p:spPr>
            <a:xfrm>
              <a:off x="477387" y="5342781"/>
              <a:ext cx="8434123" cy="1103043"/>
            </a:xfrm>
            <a:prstGeom prst="roundRect">
              <a:avLst>
                <a:gd name="adj" fmla="val 13333"/>
              </a:avLst>
            </a:prstGeom>
            <a:solidFill>
              <a:srgbClr val="FDF3EF"/>
            </a:solidFill>
            <a:ln w="9525">
              <a:solidFill>
                <a:srgbClr val="B23A2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Text 14">
              <a:extLst>
                <a:ext uri="{FF2B5EF4-FFF2-40B4-BE49-F238E27FC236}">
                  <a16:creationId xmlns:a16="http://schemas.microsoft.com/office/drawing/2014/main" id="{16D8DA9F-C940-4F5E-B7DD-5D4353981DC6}"/>
                </a:ext>
              </a:extLst>
            </p:cNvPr>
            <p:cNvSpPr/>
            <p:nvPr/>
          </p:nvSpPr>
          <p:spPr>
            <a:xfrm>
              <a:off x="544610" y="5532566"/>
              <a:ext cx="8299845" cy="74797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200" b="1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맑은 고딕"/>
                  <a:ea typeface="맑은 고딕"/>
                  <a:cs typeface="맑은 고딕"/>
                </a:rPr>
                <a:t>고위직의 말 한마디가 조직의 기준이 됩니다</a:t>
              </a:r>
              <a:endParaRPr lang="en-US" sz="3200" b="1" dirty="0">
                <a:solidFill>
                  <a:schemeClr val="tx2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940BCB4C-8687-4633-9543-FE29D23B087C}"/>
              </a:ext>
            </a:extLst>
          </p:cNvPr>
          <p:cNvGrpSpPr/>
          <p:nvPr/>
        </p:nvGrpSpPr>
        <p:grpSpPr>
          <a:xfrm>
            <a:off x="672659" y="3738906"/>
            <a:ext cx="9126680" cy="1384092"/>
            <a:chOff x="647217" y="3733016"/>
            <a:chExt cx="9126680" cy="1384092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27018BF9-3395-45DD-8F67-0409EA769DCC}"/>
                </a:ext>
              </a:extLst>
            </p:cNvPr>
            <p:cNvGrpSpPr/>
            <p:nvPr/>
          </p:nvGrpSpPr>
          <p:grpSpPr>
            <a:xfrm>
              <a:off x="1070331" y="3733016"/>
              <a:ext cx="889130" cy="981281"/>
              <a:chOff x="142195" y="4033087"/>
              <a:chExt cx="1126232" cy="1126232"/>
            </a:xfrm>
          </p:grpSpPr>
          <p:pic>
            <p:nvPicPr>
              <p:cNvPr id="29" name="Picture 4" descr="image.png">
                <a:extLst>
                  <a:ext uri="{FF2B5EF4-FFF2-40B4-BE49-F238E27FC236}">
                    <a16:creationId xmlns:a16="http://schemas.microsoft.com/office/drawing/2014/main" id="{FFEBD945-71C5-42FD-8B62-C35E41C26E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2195" y="4033087"/>
                <a:ext cx="1126232" cy="1126232"/>
              </a:xfrm>
              <a:prstGeom prst="rect">
                <a:avLst/>
              </a:prstGeom>
            </p:spPr>
          </p:pic>
          <p:pic>
            <p:nvPicPr>
              <p:cNvPr id="30" name="Picture 8" descr="image.png">
                <a:extLst>
                  <a:ext uri="{FF2B5EF4-FFF2-40B4-BE49-F238E27FC236}">
                    <a16:creationId xmlns:a16="http://schemas.microsoft.com/office/drawing/2014/main" id="{9A9B625F-F7BD-46E9-BD38-CFD7710F17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111" y="4211308"/>
                <a:ext cx="889130" cy="889130"/>
              </a:xfrm>
              <a:prstGeom prst="rect">
                <a:avLst/>
              </a:prstGeom>
            </p:spPr>
          </p:pic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9E36DE15-F234-4BA5-BC03-98194918DBE3}"/>
                </a:ext>
              </a:extLst>
            </p:cNvPr>
            <p:cNvGrpSpPr/>
            <p:nvPr/>
          </p:nvGrpSpPr>
          <p:grpSpPr>
            <a:xfrm>
              <a:off x="1076695" y="4542625"/>
              <a:ext cx="524246" cy="574483"/>
              <a:chOff x="142195" y="4033087"/>
              <a:chExt cx="1126232" cy="1126232"/>
            </a:xfrm>
          </p:grpSpPr>
          <p:pic>
            <p:nvPicPr>
              <p:cNvPr id="32" name="Picture 4" descr="image.png">
                <a:extLst>
                  <a:ext uri="{FF2B5EF4-FFF2-40B4-BE49-F238E27FC236}">
                    <a16:creationId xmlns:a16="http://schemas.microsoft.com/office/drawing/2014/main" id="{9040913F-5339-4925-AA44-0808F03E4E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2195" y="4033087"/>
                <a:ext cx="1126232" cy="1126232"/>
              </a:xfrm>
              <a:prstGeom prst="rect">
                <a:avLst/>
              </a:prstGeom>
            </p:spPr>
          </p:pic>
          <p:pic>
            <p:nvPicPr>
              <p:cNvPr id="33" name="Picture 8" descr="image.png">
                <a:extLst>
                  <a:ext uri="{FF2B5EF4-FFF2-40B4-BE49-F238E27FC236}">
                    <a16:creationId xmlns:a16="http://schemas.microsoft.com/office/drawing/2014/main" id="{31675B92-B342-452E-9FCC-734D51A738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111" y="4211308"/>
                <a:ext cx="889130" cy="889130"/>
              </a:xfrm>
              <a:prstGeom prst="rect">
                <a:avLst/>
              </a:prstGeom>
            </p:spPr>
          </p:pic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0B768D5F-0B18-409A-8068-4F0B42F34DB4}"/>
                </a:ext>
              </a:extLst>
            </p:cNvPr>
            <p:cNvGrpSpPr/>
            <p:nvPr/>
          </p:nvGrpSpPr>
          <p:grpSpPr>
            <a:xfrm>
              <a:off x="2474021" y="3977269"/>
              <a:ext cx="7299876" cy="1005840"/>
              <a:chOff x="2284372" y="3243721"/>
              <a:chExt cx="7299876" cy="1005840"/>
            </a:xfrm>
          </p:grpSpPr>
          <p:sp>
            <p:nvSpPr>
              <p:cNvPr id="54" name="Shape 10">
                <a:extLst>
                  <a:ext uri="{FF2B5EF4-FFF2-40B4-BE49-F238E27FC236}">
                    <a16:creationId xmlns:a16="http://schemas.microsoft.com/office/drawing/2014/main" id="{82B20F46-A810-4699-BB0E-E34C87DF7A06}"/>
                  </a:ext>
                </a:extLst>
              </p:cNvPr>
              <p:cNvSpPr/>
              <p:nvPr/>
            </p:nvSpPr>
            <p:spPr>
              <a:xfrm>
                <a:off x="2284372" y="3243721"/>
                <a:ext cx="6220328" cy="1005840"/>
              </a:xfrm>
              <a:prstGeom prst="roundRect">
                <a:avLst>
                  <a:gd name="adj" fmla="val 11111"/>
                </a:avLst>
              </a:prstGeom>
              <a:solidFill>
                <a:srgbClr val="EFEAF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5" name="Text 12">
                <a:extLst>
                  <a:ext uri="{FF2B5EF4-FFF2-40B4-BE49-F238E27FC236}">
                    <a16:creationId xmlns:a16="http://schemas.microsoft.com/office/drawing/2014/main" id="{7279C54F-F427-4937-92EE-2F23FD337D1A}"/>
                  </a:ext>
                </a:extLst>
              </p:cNvPr>
              <p:cNvSpPr/>
              <p:nvPr/>
            </p:nvSpPr>
            <p:spPr>
              <a:xfrm>
                <a:off x="2466648" y="3344399"/>
                <a:ext cx="7117600" cy="81957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b="1" dirty="0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…….</a:t>
                </a:r>
                <a:r>
                  <a:rPr lang="ko-KR" altLang="en-US" b="1" dirty="0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</a:t>
                </a:r>
                <a:endParaRPr lang="en-US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endParaRPr>
              </a:p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altLang="ko-KR" sz="1600" b="1" dirty="0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</a:t>
                </a:r>
                <a:r>
                  <a:rPr lang="ko-KR" altLang="en-US" sz="2400" b="1" dirty="0">
                    <a:solidFill>
                      <a:srgbClr val="00B05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피해자가 빠지네</a:t>
                </a:r>
                <a:r>
                  <a:rPr lang="en-US" altLang="ko-KR" sz="2400" b="1" dirty="0">
                    <a:solidFill>
                      <a:srgbClr val="00B05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.. </a:t>
                </a:r>
                <a:r>
                  <a:rPr lang="ko-KR" altLang="en-US" sz="2400" b="1" dirty="0">
                    <a:solidFill>
                      <a:srgbClr val="00B05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나라면 그냥 참는다</a:t>
                </a:r>
                <a:r>
                  <a:rPr lang="en-US" altLang="ko-KR" sz="2400" b="1" dirty="0">
                    <a:solidFill>
                      <a:srgbClr val="00B05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..</a:t>
                </a:r>
                <a:r>
                  <a:rPr lang="en-US" altLang="ko-KR" sz="1400" b="1" dirty="0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) </a:t>
                </a:r>
                <a:endParaRPr lang="en-US" sz="1600" b="1" dirty="0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586092B-7CE7-4D46-A673-2D9CC7E0C69A}"/>
                </a:ext>
              </a:extLst>
            </p:cNvPr>
            <p:cNvSpPr txBox="1"/>
            <p:nvPr/>
          </p:nvSpPr>
          <p:spPr>
            <a:xfrm>
              <a:off x="647217" y="3787592"/>
              <a:ext cx="8891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00B050"/>
                  </a:solidFill>
                </a:rPr>
                <a:t>직원들</a:t>
              </a: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1E1CF57B-1477-40FB-9B61-6C001353D905}"/>
              </a:ext>
            </a:extLst>
          </p:cNvPr>
          <p:cNvSpPr/>
          <p:nvPr/>
        </p:nvSpPr>
        <p:spPr>
          <a:xfrm>
            <a:off x="4550159" y="3001580"/>
            <a:ext cx="3240360" cy="5760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b="1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2000" b="1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직원들이 이해하겠지</a:t>
            </a:r>
            <a:r>
              <a:rPr lang="en-US" altLang="ko-KR" sz="2000" b="1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..)</a:t>
            </a:r>
            <a:endParaRPr lang="ko-KR" altLang="en-US" sz="2000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0BB2A70-6D75-48BF-AB35-C037E811F689}"/>
              </a:ext>
            </a:extLst>
          </p:cNvPr>
          <p:cNvGrpSpPr/>
          <p:nvPr/>
        </p:nvGrpSpPr>
        <p:grpSpPr>
          <a:xfrm>
            <a:off x="539552" y="4005064"/>
            <a:ext cx="8194919" cy="1397484"/>
            <a:chOff x="506704" y="3872748"/>
            <a:chExt cx="8194919" cy="1397484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8D04913D-C5A6-4763-9838-E65C97D96BE5}"/>
                </a:ext>
              </a:extLst>
            </p:cNvPr>
            <p:cNvGrpSpPr/>
            <p:nvPr/>
          </p:nvGrpSpPr>
          <p:grpSpPr>
            <a:xfrm>
              <a:off x="698423" y="4449948"/>
              <a:ext cx="524246" cy="587662"/>
              <a:chOff x="142196" y="4033087"/>
              <a:chExt cx="1126232" cy="1152068"/>
            </a:xfrm>
          </p:grpSpPr>
          <p:pic>
            <p:nvPicPr>
              <p:cNvPr id="39" name="Picture 4" descr="image.png">
                <a:extLst>
                  <a:ext uri="{FF2B5EF4-FFF2-40B4-BE49-F238E27FC236}">
                    <a16:creationId xmlns:a16="http://schemas.microsoft.com/office/drawing/2014/main" id="{D4EA682F-3A08-4CAD-A6CA-7E0D230314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2196" y="4033087"/>
                <a:ext cx="1126232" cy="1126232"/>
              </a:xfrm>
              <a:prstGeom prst="rect">
                <a:avLst/>
              </a:prstGeom>
            </p:spPr>
          </p:pic>
          <p:pic>
            <p:nvPicPr>
              <p:cNvPr id="40" name="Picture 8" descr="image.png">
                <a:extLst>
                  <a:ext uri="{FF2B5EF4-FFF2-40B4-BE49-F238E27FC236}">
                    <a16:creationId xmlns:a16="http://schemas.microsoft.com/office/drawing/2014/main" id="{F7F03A5E-E443-4790-B665-A77E6328D3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5926" y="4296025"/>
                <a:ext cx="889130" cy="889130"/>
              </a:xfrm>
              <a:prstGeom prst="rect">
                <a:avLst/>
              </a:prstGeom>
            </p:spPr>
          </p:pic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237208D6-655C-4148-B6B8-5186CE4DA9E7}"/>
                </a:ext>
              </a:extLst>
            </p:cNvPr>
            <p:cNvGrpSpPr/>
            <p:nvPr/>
          </p:nvGrpSpPr>
          <p:grpSpPr>
            <a:xfrm>
              <a:off x="2481295" y="3872748"/>
              <a:ext cx="6220328" cy="1005840"/>
              <a:chOff x="2291646" y="3208570"/>
              <a:chExt cx="6220328" cy="1005840"/>
            </a:xfrm>
          </p:grpSpPr>
          <p:sp>
            <p:nvSpPr>
              <p:cNvPr id="47" name="Shape 10">
                <a:extLst>
                  <a:ext uri="{FF2B5EF4-FFF2-40B4-BE49-F238E27FC236}">
                    <a16:creationId xmlns:a16="http://schemas.microsoft.com/office/drawing/2014/main" id="{001CDB0E-60DA-4E02-B3CD-48C6EA32CE58}"/>
                  </a:ext>
                </a:extLst>
              </p:cNvPr>
              <p:cNvSpPr/>
              <p:nvPr/>
            </p:nvSpPr>
            <p:spPr>
              <a:xfrm>
                <a:off x="2291646" y="3208570"/>
                <a:ext cx="6220328" cy="1005840"/>
              </a:xfrm>
              <a:prstGeom prst="roundRect">
                <a:avLst>
                  <a:gd name="adj" fmla="val 11111"/>
                </a:avLst>
              </a:prstGeom>
              <a:solidFill>
                <a:srgbClr val="EFEAF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8" name="Text 12">
                <a:extLst>
                  <a:ext uri="{FF2B5EF4-FFF2-40B4-BE49-F238E27FC236}">
                    <a16:creationId xmlns:a16="http://schemas.microsoft.com/office/drawing/2014/main" id="{77F8D201-88AE-4120-BC48-69D3CA4B81BB}"/>
                  </a:ext>
                </a:extLst>
              </p:cNvPr>
              <p:cNvSpPr/>
              <p:nvPr/>
            </p:nvSpPr>
            <p:spPr>
              <a:xfrm>
                <a:off x="2466649" y="3344399"/>
                <a:ext cx="5788361" cy="81957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b="1" dirty="0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네, </a:t>
                </a:r>
                <a:r>
                  <a:rPr lang="ko-KR" altLang="en-US" b="1" dirty="0" err="1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죄송합</a:t>
                </a:r>
                <a:r>
                  <a:rPr lang="en-US" b="1" dirty="0" err="1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니다</a:t>
                </a:r>
                <a:r>
                  <a:rPr lang="en-US" b="1" dirty="0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.</a:t>
                </a:r>
                <a:r>
                  <a:rPr lang="ko-KR" altLang="en-US" b="1" dirty="0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</a:t>
                </a:r>
                <a:endParaRPr lang="en-US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endParaRPr>
              </a:p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altLang="ko-KR" sz="1600" b="1" dirty="0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</a:t>
                </a:r>
                <a:r>
                  <a:rPr lang="ko-KR" altLang="en-US" sz="2800" b="1" dirty="0">
                    <a:solidFill>
                      <a:schemeClr val="accent6">
                        <a:lumMod val="50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업무는 </a:t>
                </a:r>
                <a:r>
                  <a:rPr lang="ko-KR" altLang="en-US" sz="2800" b="1" dirty="0" err="1">
                    <a:solidFill>
                      <a:schemeClr val="accent6">
                        <a:lumMod val="50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그대로네</a:t>
                </a:r>
                <a:r>
                  <a:rPr lang="en-US" altLang="ko-KR" sz="2800" b="1" dirty="0">
                    <a:solidFill>
                      <a:schemeClr val="accent6">
                        <a:lumMod val="50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..</a:t>
                </a:r>
                <a:r>
                  <a:rPr lang="ko-KR" altLang="en-US" sz="2800" b="1" dirty="0" err="1">
                    <a:solidFill>
                      <a:schemeClr val="accent6">
                        <a:lumMod val="50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별일아니었구나</a:t>
                </a:r>
                <a:r>
                  <a:rPr lang="en-US" altLang="ko-KR" sz="2800" b="1" dirty="0">
                    <a:solidFill>
                      <a:schemeClr val="accent6">
                        <a:lumMod val="50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..</a:t>
                </a:r>
                <a:r>
                  <a:rPr lang="en-US" altLang="ko-KR" sz="1600" b="1" dirty="0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) </a:t>
                </a:r>
                <a:endParaRPr lang="en-US" sz="1600" b="1" dirty="0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56637CB-2F57-401E-8810-32AB312002A1}"/>
                </a:ext>
              </a:extLst>
            </p:cNvPr>
            <p:cNvSpPr txBox="1"/>
            <p:nvPr/>
          </p:nvSpPr>
          <p:spPr>
            <a:xfrm>
              <a:off x="506704" y="4962455"/>
              <a:ext cx="11103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solidFill>
                    <a:schemeClr val="accent6">
                      <a:lumMod val="50000"/>
                    </a:schemeClr>
                  </a:solidFill>
                </a:rPr>
                <a:t>행위자</a:t>
              </a:r>
              <a:r>
                <a:rPr lang="en-US" altLang="ko-KR" sz="1400" b="1" dirty="0">
                  <a:solidFill>
                    <a:schemeClr val="accent6">
                      <a:lumMod val="50000"/>
                    </a:schemeClr>
                  </a:solidFill>
                </a:rPr>
                <a:t>A</a:t>
              </a:r>
              <a:endParaRPr lang="ko-KR" altLang="en-US" sz="140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2FA6263-A07D-4B6A-964D-62461D55DE63}"/>
              </a:ext>
            </a:extLst>
          </p:cNvPr>
          <p:cNvGrpSpPr/>
          <p:nvPr/>
        </p:nvGrpSpPr>
        <p:grpSpPr>
          <a:xfrm>
            <a:off x="1632747" y="4066877"/>
            <a:ext cx="7281364" cy="1301289"/>
            <a:chOff x="1650138" y="3900451"/>
            <a:chExt cx="7281364" cy="1301289"/>
          </a:xfrm>
        </p:grpSpPr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4948BA86-AA28-4CC0-AA9D-7B84AD3D6AF0}"/>
                </a:ext>
              </a:extLst>
            </p:cNvPr>
            <p:cNvGrpSpPr/>
            <p:nvPr/>
          </p:nvGrpSpPr>
          <p:grpSpPr>
            <a:xfrm>
              <a:off x="1734695" y="4239878"/>
              <a:ext cx="711172" cy="675813"/>
              <a:chOff x="642041" y="2872099"/>
              <a:chExt cx="2042486" cy="2042486"/>
            </a:xfrm>
          </p:grpSpPr>
          <p:pic>
            <p:nvPicPr>
              <p:cNvPr id="36" name="Picture 4" descr="image.png">
                <a:extLst>
                  <a:ext uri="{FF2B5EF4-FFF2-40B4-BE49-F238E27FC236}">
                    <a16:creationId xmlns:a16="http://schemas.microsoft.com/office/drawing/2014/main" id="{E62EE5F8-30CB-407D-B10E-0D2DA5490C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2041" y="2872099"/>
                <a:ext cx="2042486" cy="2042486"/>
              </a:xfrm>
              <a:prstGeom prst="rect">
                <a:avLst/>
              </a:prstGeom>
            </p:spPr>
          </p:pic>
          <p:pic>
            <p:nvPicPr>
              <p:cNvPr id="37" name="Picture 8" descr="image.png">
                <a:extLst>
                  <a:ext uri="{FF2B5EF4-FFF2-40B4-BE49-F238E27FC236}">
                    <a16:creationId xmlns:a16="http://schemas.microsoft.com/office/drawing/2014/main" id="{B2E4381E-8F35-435E-988C-BD418E054E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5861" y="2947532"/>
                <a:ext cx="1836213" cy="1836210"/>
              </a:xfrm>
              <a:prstGeom prst="rect">
                <a:avLst/>
              </a:prstGeom>
            </p:spPr>
          </p:pic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5652497-F111-4DE0-9058-7117B1D3B2CB}"/>
                </a:ext>
              </a:extLst>
            </p:cNvPr>
            <p:cNvSpPr txBox="1"/>
            <p:nvPr/>
          </p:nvSpPr>
          <p:spPr>
            <a:xfrm>
              <a:off x="1650138" y="4893963"/>
              <a:ext cx="11103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 err="1">
                  <a:solidFill>
                    <a:srgbClr val="00B0F0"/>
                  </a:solidFill>
                </a:rPr>
                <a:t>피해직원</a:t>
              </a:r>
              <a:r>
                <a:rPr lang="en-US" altLang="ko-KR" sz="1400" b="1" dirty="0">
                  <a:solidFill>
                    <a:srgbClr val="00B0F0"/>
                  </a:solidFill>
                </a:rPr>
                <a:t>B</a:t>
              </a:r>
              <a:endParaRPr lang="ko-KR" altLang="en-US" sz="14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511A4F82-1BCF-44C4-BF27-8B141D4D2EE1}"/>
                </a:ext>
              </a:extLst>
            </p:cNvPr>
            <p:cNvGrpSpPr/>
            <p:nvPr/>
          </p:nvGrpSpPr>
          <p:grpSpPr>
            <a:xfrm>
              <a:off x="2484488" y="3900451"/>
              <a:ext cx="6447014" cy="1005840"/>
              <a:chOff x="1601390" y="3804632"/>
              <a:chExt cx="6823608" cy="987552"/>
            </a:xfrm>
          </p:grpSpPr>
          <p:sp>
            <p:nvSpPr>
              <p:cNvPr id="12" name="Shape 10"/>
              <p:cNvSpPr/>
              <p:nvPr/>
            </p:nvSpPr>
            <p:spPr>
              <a:xfrm>
                <a:off x="1601390" y="3804632"/>
                <a:ext cx="6583680" cy="987552"/>
              </a:xfrm>
              <a:prstGeom prst="roundRect">
                <a:avLst>
                  <a:gd name="adj" fmla="val 11111"/>
                </a:avLst>
              </a:prstGeom>
              <a:solidFill>
                <a:srgbClr val="EFEAF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1629615" y="3917585"/>
                <a:ext cx="6795383" cy="8046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b="1" dirty="0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 네, </a:t>
                </a:r>
                <a:r>
                  <a:rPr lang="ko-KR" altLang="en-US" b="1" dirty="0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쉬겠습니다</a:t>
                </a:r>
                <a:r>
                  <a:rPr lang="en-US" b="1" dirty="0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..</a:t>
                </a:r>
                <a:r>
                  <a:rPr lang="ko-KR" altLang="en-US" b="1" dirty="0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</a:t>
                </a:r>
                <a:endParaRPr lang="en-US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endParaRPr>
              </a:p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altLang="ko-KR" sz="1600" b="1" dirty="0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(</a:t>
                </a:r>
                <a:r>
                  <a:rPr lang="ko-KR" altLang="en-US" sz="2200" b="1" dirty="0">
                    <a:solidFill>
                      <a:srgbClr val="00B0F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결국 자리를 비우는 건 나구나</a:t>
                </a:r>
                <a:r>
                  <a:rPr lang="en-US" altLang="ko-KR" sz="2200" b="1" dirty="0">
                    <a:solidFill>
                      <a:srgbClr val="00B0F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..</a:t>
                </a:r>
                <a:r>
                  <a:rPr lang="ko-KR" altLang="en-US" sz="2200" b="1" dirty="0">
                    <a:solidFill>
                      <a:srgbClr val="00B0F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말하지 </a:t>
                </a:r>
                <a:r>
                  <a:rPr lang="ko-KR" altLang="en-US" sz="2200" b="1" dirty="0" err="1">
                    <a:solidFill>
                      <a:srgbClr val="00B0F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말걸</a:t>
                </a:r>
                <a:r>
                  <a:rPr lang="en-US" altLang="ko-KR" sz="2200" b="1" dirty="0">
                    <a:solidFill>
                      <a:srgbClr val="00B0F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..</a:t>
                </a:r>
                <a:r>
                  <a:rPr lang="en-US" altLang="ko-KR" sz="1600" b="1" dirty="0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)</a:t>
                </a:r>
                <a:r>
                  <a:rPr lang="en-US" altLang="ko-KR" sz="2200" b="1" dirty="0">
                    <a:solidFill>
                      <a:srgbClr val="2B223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</a:t>
                </a:r>
                <a:endParaRPr lang="en-US" sz="2200" b="1" dirty="0"/>
              </a:p>
            </p:txBody>
          </p:sp>
        </p:grp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5B9F7560-292B-40EC-B251-B930328A28FB}"/>
              </a:ext>
            </a:extLst>
          </p:cNvPr>
          <p:cNvSpPr txBox="1"/>
          <p:nvPr/>
        </p:nvSpPr>
        <p:spPr>
          <a:xfrm>
            <a:off x="6778341" y="6518481"/>
            <a:ext cx="2232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</a:t>
            </a:r>
            <a:r>
              <a:rPr lang="ko-KR" altLang="en-US" sz="1400" dirty="0"/>
              <a:t>이미지 출처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미리캔버스</a:t>
            </a:r>
            <a:r>
              <a:rPr lang="en-US" altLang="ko-KR" sz="1400" dirty="0"/>
              <a:t>]</a:t>
            </a:r>
            <a:endParaRPr lang="ko-KR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04FD9EE0-4B19-4A00-8D19-48358B8932BE}"/>
              </a:ext>
            </a:extLst>
          </p:cNvPr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EFEAF3"/>
          </a:solidFill>
          <a:ln/>
        </p:spPr>
        <p:txBody>
          <a:bodyPr/>
          <a:lstStyle/>
          <a:p>
            <a:endParaRPr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4C1A694-3E13-4501-8157-F25227256674}"/>
              </a:ext>
            </a:extLst>
          </p:cNvPr>
          <p:cNvGrpSpPr/>
          <p:nvPr/>
        </p:nvGrpSpPr>
        <p:grpSpPr>
          <a:xfrm>
            <a:off x="251521" y="332656"/>
            <a:ext cx="8627152" cy="6224625"/>
            <a:chOff x="251521" y="332656"/>
            <a:chExt cx="8627152" cy="622462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EC2D9C5-C51A-44D4-BEC0-D6127328FBC7}"/>
                </a:ext>
              </a:extLst>
            </p:cNvPr>
            <p:cNvSpPr txBox="1"/>
            <p:nvPr/>
          </p:nvSpPr>
          <p:spPr>
            <a:xfrm>
              <a:off x="3491880" y="6249504"/>
              <a:ext cx="23042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</a:rPr>
                <a:t>경상국립대학교 인권센터</a:t>
              </a: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064DA5-1A80-4679-97CC-FE5C4383E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521" y="332656"/>
              <a:ext cx="8627152" cy="6192688"/>
            </a:xfrm>
            <a:prstGeom prst="rect">
              <a:avLst/>
            </a:prstGeom>
          </p:spPr>
        </p:pic>
      </p:grpSp>
      <p:sp>
        <p:nvSpPr>
          <p:cNvPr id="7" name="Text 1">
            <a:extLst>
              <a:ext uri="{FF2B5EF4-FFF2-40B4-BE49-F238E27FC236}">
                <a16:creationId xmlns:a16="http://schemas.microsoft.com/office/drawing/2014/main" id="{5C8A7914-78C4-4471-BF33-0A055EA625CA}"/>
              </a:ext>
            </a:extLst>
          </p:cNvPr>
          <p:cNvSpPr/>
          <p:nvPr/>
        </p:nvSpPr>
        <p:spPr>
          <a:xfrm>
            <a:off x="541737" y="4572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무관용 원칙 천명</a:t>
            </a:r>
            <a:endParaRPr lang="en-US" sz="2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1695964-9EFC-4B3D-A559-9DA9BB4DF8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13" y="1420066"/>
            <a:ext cx="8210433" cy="354294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8D7ED39-3437-4934-8BC4-3A448A2C94DC}"/>
              </a:ext>
            </a:extLst>
          </p:cNvPr>
          <p:cNvSpPr/>
          <p:nvPr/>
        </p:nvSpPr>
        <p:spPr>
          <a:xfrm>
            <a:off x="393352" y="5095034"/>
            <a:ext cx="8195105" cy="685800"/>
          </a:xfrm>
          <a:prstGeom prst="rect">
            <a:avLst/>
          </a:prstGeom>
          <a:solidFill>
            <a:srgbClr val="6325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chemeClr val="bg2">
                    <a:lumMod val="90000"/>
                  </a:schemeClr>
                </a:solidFill>
              </a:rPr>
              <a:t>가장 중요한 것은</a:t>
            </a:r>
            <a:r>
              <a:rPr lang="en-US" altLang="ko-KR" sz="2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ko-KR" altLang="en-US" sz="2200" b="1" dirty="0">
                <a:solidFill>
                  <a:schemeClr val="bg2">
                    <a:lumMod val="90000"/>
                  </a:schemeClr>
                </a:solidFill>
              </a:rPr>
              <a:t>피해자의 피해가 무엇인지 아는 것</a:t>
            </a:r>
            <a:endParaRPr lang="en-US" altLang="ko-KR" sz="22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568EC5-CC88-40AF-BCC4-6311D06CB7F6}"/>
              </a:ext>
            </a:extLst>
          </p:cNvPr>
          <p:cNvSpPr txBox="1"/>
          <p:nvPr/>
        </p:nvSpPr>
        <p:spPr>
          <a:xfrm>
            <a:off x="2843809" y="6228484"/>
            <a:ext cx="61926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+mj-lt"/>
              </a:rPr>
              <a:t>［출처</a:t>
            </a:r>
            <a:r>
              <a:rPr lang="en-US" altLang="ko-KR" sz="1400" dirty="0">
                <a:latin typeface="+mj-lt"/>
              </a:rPr>
              <a:t>: </a:t>
            </a:r>
            <a:r>
              <a:rPr lang="ko-KR" altLang="en-US" sz="1400" dirty="0">
                <a:latin typeface="+mj-lt"/>
              </a:rPr>
              <a:t>경상국립대학교 </a:t>
            </a:r>
            <a:r>
              <a:rPr lang="ko-KR" altLang="en-US" sz="1400" dirty="0" err="1">
                <a:latin typeface="+mj-lt"/>
              </a:rPr>
              <a:t>성희롱성폭력스토킹</a:t>
            </a:r>
            <a:r>
              <a:rPr lang="ko-KR" altLang="en-US" sz="1400" dirty="0">
                <a:latin typeface="+mj-lt"/>
              </a:rPr>
              <a:t> 예방 및 </a:t>
            </a:r>
            <a:r>
              <a:rPr lang="en-US" altLang="ko-KR" sz="1400" dirty="0">
                <a:latin typeface="+mj-lt"/>
              </a:rPr>
              <a:t>2</a:t>
            </a:r>
            <a:r>
              <a:rPr lang="ko-KR" altLang="en-US" sz="1400" dirty="0">
                <a:latin typeface="+mj-lt"/>
              </a:rPr>
              <a:t>차 피해 방지 지침</a:t>
            </a:r>
            <a:r>
              <a:rPr lang="en-US" altLang="ko-KR" sz="1400" dirty="0">
                <a:latin typeface="+mj-lt"/>
              </a:rPr>
              <a:t>]</a:t>
            </a:r>
            <a:endParaRPr lang="ko-KR" altLang="en-US" sz="1400" dirty="0">
              <a:latin typeface="+mj-lt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01298D6-5D1C-4E60-A482-CDA532FA5E9F}"/>
              </a:ext>
            </a:extLst>
          </p:cNvPr>
          <p:cNvSpPr/>
          <p:nvPr/>
        </p:nvSpPr>
        <p:spPr>
          <a:xfrm>
            <a:off x="3491880" y="4509120"/>
            <a:ext cx="2448272" cy="474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894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CBC99314-FC0C-4BAE-89BC-BA8F0C13C95E}"/>
              </a:ext>
            </a:extLst>
          </p:cNvPr>
          <p:cNvSpPr/>
          <p:nvPr/>
        </p:nvSpPr>
        <p:spPr>
          <a:xfrm>
            <a:off x="0" y="-28624"/>
            <a:ext cx="9144000" cy="2132856"/>
          </a:xfrm>
          <a:prstGeom prst="rect">
            <a:avLst/>
          </a:prstGeom>
          <a:solidFill>
            <a:srgbClr val="EFEA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E29A36-324E-48FD-B864-938460665A5F}"/>
              </a:ext>
            </a:extLst>
          </p:cNvPr>
          <p:cNvSpPr txBox="1"/>
          <p:nvPr/>
        </p:nvSpPr>
        <p:spPr>
          <a:xfrm>
            <a:off x="107504" y="260648"/>
            <a:ext cx="85689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그렇다면 </a:t>
            </a:r>
            <a:r>
              <a:rPr lang="ko-KR" altLang="en-US" sz="2800" b="1" dirty="0" err="1"/>
              <a:t>성평등한</a:t>
            </a:r>
            <a:r>
              <a:rPr lang="ko-KR" altLang="en-US" sz="2800" b="1" dirty="0"/>
              <a:t> 조직문화를 </a:t>
            </a:r>
            <a:endParaRPr lang="en-US" altLang="ko-KR" sz="2800" b="1" dirty="0"/>
          </a:p>
          <a:p>
            <a:pPr algn="ctr"/>
            <a:r>
              <a:rPr lang="ko-KR" altLang="en-US" sz="2800" b="1" dirty="0"/>
              <a:t>이끄는 고위직으로서 </a:t>
            </a:r>
            <a:endParaRPr lang="en-US" altLang="ko-KR" sz="2800" b="1" dirty="0"/>
          </a:p>
          <a:p>
            <a:pPr algn="ctr"/>
            <a:r>
              <a:rPr lang="ko-KR" altLang="en-US" sz="2800" b="1" dirty="0"/>
              <a:t>나는 무엇을 할 수 있을까요</a:t>
            </a:r>
            <a:r>
              <a:rPr lang="en-US" altLang="ko-KR" sz="2800" b="1" dirty="0"/>
              <a:t>?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B683798-2090-4573-8E15-66EB3025A85B}"/>
              </a:ext>
            </a:extLst>
          </p:cNvPr>
          <p:cNvGrpSpPr/>
          <p:nvPr/>
        </p:nvGrpSpPr>
        <p:grpSpPr>
          <a:xfrm>
            <a:off x="827584" y="2210500"/>
            <a:ext cx="6912768" cy="4818900"/>
            <a:chOff x="107504" y="2132856"/>
            <a:chExt cx="6912768" cy="481890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1846AF6-CBEA-4AFE-B702-471B3E5405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0881"/>
            <a:stretch/>
          </p:blipFill>
          <p:spPr>
            <a:xfrm>
              <a:off x="107504" y="2132856"/>
              <a:ext cx="6912768" cy="48189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50DB196-CD50-4E3B-AEE8-7159A3EDC07B}"/>
                </a:ext>
              </a:extLst>
            </p:cNvPr>
            <p:cNvSpPr txBox="1"/>
            <p:nvPr/>
          </p:nvSpPr>
          <p:spPr>
            <a:xfrm>
              <a:off x="3847668" y="4704123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accent5">
                      <a:lumMod val="75000"/>
                    </a:schemeClr>
                  </a:solidFill>
                </a:rPr>
                <a:t>편견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0C437A6-E9EF-4EB6-A16E-55C6CD9A4591}"/>
                </a:ext>
              </a:extLst>
            </p:cNvPr>
            <p:cNvSpPr txBox="1"/>
            <p:nvPr/>
          </p:nvSpPr>
          <p:spPr>
            <a:xfrm>
              <a:off x="2555776" y="3687333"/>
              <a:ext cx="10081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0070C0"/>
                  </a:solidFill>
                </a:rPr>
                <a:t>고정</a:t>
              </a:r>
              <a:endParaRPr lang="en-US" altLang="ko-KR" b="1" dirty="0">
                <a:solidFill>
                  <a:srgbClr val="0070C0"/>
                </a:solidFill>
              </a:endParaRPr>
            </a:p>
            <a:p>
              <a:pPr algn="ctr"/>
              <a:r>
                <a:rPr lang="ko-KR" altLang="en-US" b="1" dirty="0">
                  <a:solidFill>
                    <a:srgbClr val="0070C0"/>
                  </a:solidFill>
                </a:rPr>
                <a:t>관념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DDCA436-74D1-4370-B2BC-A5A6733BE0C9}"/>
                </a:ext>
              </a:extLst>
            </p:cNvPr>
            <p:cNvSpPr txBox="1"/>
            <p:nvPr/>
          </p:nvSpPr>
          <p:spPr>
            <a:xfrm>
              <a:off x="4283968" y="3502667"/>
              <a:ext cx="9212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accent6">
                      <a:lumMod val="75000"/>
                    </a:schemeClr>
                  </a:solidFill>
                </a:rPr>
                <a:t>선입견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0C341A3-AFA2-4B27-AFD5-3FC1239D774D}"/>
              </a:ext>
            </a:extLst>
          </p:cNvPr>
          <p:cNvSpPr txBox="1"/>
          <p:nvPr/>
        </p:nvSpPr>
        <p:spPr>
          <a:xfrm>
            <a:off x="6804249" y="6443463"/>
            <a:ext cx="2232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</a:t>
            </a:r>
            <a:r>
              <a:rPr lang="ko-KR" altLang="en-US" sz="1400" dirty="0"/>
              <a:t>이미지 출처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미리캔버스</a:t>
            </a:r>
            <a:r>
              <a:rPr lang="en-US" altLang="ko-KR" sz="1400" dirty="0"/>
              <a:t>]</a:t>
            </a:r>
            <a:endParaRPr lang="ko-KR" altLang="en-US" sz="1400" dirty="0"/>
          </a:p>
        </p:txBody>
      </p:sp>
      <p:sp>
        <p:nvSpPr>
          <p:cNvPr id="4" name="사각형: 둥근 모서리 7">
            <a:extLst>
              <a:ext uri="{FF2B5EF4-FFF2-40B4-BE49-F238E27FC236}">
                <a16:creationId xmlns:a16="http://schemas.microsoft.com/office/drawing/2014/main" id="{77B7B32B-3CCF-4855-A258-F0139EE1F290}"/>
              </a:ext>
            </a:extLst>
          </p:cNvPr>
          <p:cNvSpPr/>
          <p:nvPr/>
        </p:nvSpPr>
        <p:spPr>
          <a:xfrm>
            <a:off x="168053" y="152134"/>
            <a:ext cx="8640960" cy="18002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rgbClr val="2B929D"/>
                </a:solidFill>
              </a:rPr>
              <a:t>평소 나의 성별에 대한 선입견</a:t>
            </a:r>
            <a:r>
              <a:rPr lang="en-US" altLang="ko-KR" sz="2800" b="1" dirty="0">
                <a:solidFill>
                  <a:srgbClr val="2B929D"/>
                </a:solidFill>
              </a:rPr>
              <a:t>, </a:t>
            </a:r>
            <a:r>
              <a:rPr lang="ko-KR" altLang="en-US" sz="2800" b="1" dirty="0">
                <a:solidFill>
                  <a:srgbClr val="2B929D"/>
                </a:solidFill>
              </a:rPr>
              <a:t>고정관념</a:t>
            </a:r>
            <a:r>
              <a:rPr lang="en-US" altLang="ko-KR" sz="2800" b="1" dirty="0">
                <a:solidFill>
                  <a:srgbClr val="2B929D"/>
                </a:solidFill>
              </a:rPr>
              <a:t>, </a:t>
            </a:r>
            <a:r>
              <a:rPr lang="ko-KR" altLang="en-US" sz="2800" b="1" dirty="0">
                <a:solidFill>
                  <a:srgbClr val="2B929D"/>
                </a:solidFill>
              </a:rPr>
              <a:t>편견들에</a:t>
            </a:r>
            <a:endParaRPr lang="en-US" altLang="ko-KR" sz="2800" b="1" dirty="0">
              <a:solidFill>
                <a:srgbClr val="2B929D"/>
              </a:solidFill>
            </a:endParaRPr>
          </a:p>
          <a:p>
            <a:pPr algn="ctr"/>
            <a:r>
              <a:rPr lang="ko-KR" altLang="en-US" sz="2800" b="1" dirty="0">
                <a:solidFill>
                  <a:srgbClr val="2B929D"/>
                </a:solidFill>
              </a:rPr>
              <a:t>대한 점검이 요구됩니다</a:t>
            </a:r>
          </a:p>
        </p:txBody>
      </p:sp>
    </p:spTree>
    <p:extLst>
      <p:ext uri="{BB962C8B-B14F-4D97-AF65-F5344CB8AC3E}">
        <p14:creationId xmlns:p14="http://schemas.microsoft.com/office/powerpoint/2010/main" val="2126462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04FD9EE0-4B19-4A00-8D19-48358B8932BE}"/>
              </a:ext>
            </a:extLst>
          </p:cNvPr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EFEAF3"/>
          </a:solidFill>
          <a:ln/>
        </p:spPr>
        <p:txBody>
          <a:bodyPr/>
          <a:lstStyle/>
          <a:p>
            <a:endParaRPr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4C1A694-3E13-4501-8157-F25227256674}"/>
              </a:ext>
            </a:extLst>
          </p:cNvPr>
          <p:cNvGrpSpPr/>
          <p:nvPr/>
        </p:nvGrpSpPr>
        <p:grpSpPr>
          <a:xfrm>
            <a:off x="258424" y="1143000"/>
            <a:ext cx="8627152" cy="5279974"/>
            <a:chOff x="251521" y="332656"/>
            <a:chExt cx="8627152" cy="622462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EC2D9C5-C51A-44D4-BEC0-D6127328FBC7}"/>
                </a:ext>
              </a:extLst>
            </p:cNvPr>
            <p:cNvSpPr txBox="1"/>
            <p:nvPr/>
          </p:nvSpPr>
          <p:spPr>
            <a:xfrm>
              <a:off x="3491880" y="6249504"/>
              <a:ext cx="23042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경상국립대학교 인권센터</a:t>
              </a: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064DA5-1A80-4679-97CC-FE5C4383E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521" y="332656"/>
              <a:ext cx="8627152" cy="6192688"/>
            </a:xfrm>
            <a:prstGeom prst="rect">
              <a:avLst/>
            </a:prstGeom>
          </p:spPr>
        </p:pic>
      </p:grpSp>
      <p:sp>
        <p:nvSpPr>
          <p:cNvPr id="7" name="Text 1">
            <a:extLst>
              <a:ext uri="{FF2B5EF4-FFF2-40B4-BE49-F238E27FC236}">
                <a16:creationId xmlns:a16="http://schemas.microsoft.com/office/drawing/2014/main" id="{5C8A7914-78C4-4471-BF33-0A055EA625CA}"/>
              </a:ext>
            </a:extLst>
          </p:cNvPr>
          <p:cNvSpPr/>
          <p:nvPr/>
        </p:nvSpPr>
        <p:spPr>
          <a:xfrm>
            <a:off x="230415" y="274541"/>
            <a:ext cx="812091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질문이나 생각을 말하신 적 없나요？</a:t>
            </a:r>
            <a:endParaRPr lang="en-US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097867-2455-443E-B160-CCDE27B960EA}"/>
              </a:ext>
            </a:extLst>
          </p:cNvPr>
          <p:cNvSpPr txBox="1"/>
          <p:nvPr/>
        </p:nvSpPr>
        <p:spPr>
          <a:xfrm>
            <a:off x="367915" y="3716338"/>
            <a:ext cx="4101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“</a:t>
            </a:r>
            <a:r>
              <a:rPr lang="ko-KR" altLang="en-US" sz="2000" b="1" dirty="0"/>
              <a:t>그래도 처장 자리는 추진력 있는 남자 교수님이 </a:t>
            </a:r>
            <a:r>
              <a:rPr lang="ko-KR" altLang="en-US" sz="2000" b="1" dirty="0" err="1"/>
              <a:t>맡아야죠</a:t>
            </a:r>
            <a:r>
              <a:rPr lang="en-US" altLang="ko-KR" sz="2000" b="1" dirty="0"/>
              <a:t>”</a:t>
            </a:r>
            <a:endParaRPr lang="ko-KR" altLang="en-US" sz="2000" b="1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890E1EFE-E643-4F2D-8E5E-7AE1F50A14E3}"/>
              </a:ext>
            </a:extLst>
          </p:cNvPr>
          <p:cNvSpPr/>
          <p:nvPr/>
        </p:nvSpPr>
        <p:spPr>
          <a:xfrm>
            <a:off x="353146" y="1402067"/>
            <a:ext cx="473661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2400" b="1" dirty="0">
                <a:solidFill>
                  <a:schemeClr val="accent5">
                    <a:lumMod val="75000"/>
                  </a:schemeClr>
                </a:solidFill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ko-KR" altLang="en-US" sz="2400" b="1" dirty="0">
                <a:solidFill>
                  <a:schemeClr val="accent5">
                    <a:lumMod val="75000"/>
                  </a:schemeClr>
                </a:solidFill>
                <a:ea typeface="Malgun Gothic" pitchFamily="34" charset="-122"/>
                <a:cs typeface="Malgun Gothic" pitchFamily="34" charset="-120"/>
              </a:rPr>
              <a:t>행사 의전은 단정하고 </a:t>
            </a:r>
            <a:r>
              <a:rPr lang="ko-KR" altLang="en-US" sz="2400" b="1" dirty="0" err="1">
                <a:solidFill>
                  <a:schemeClr val="accent5">
                    <a:lumMod val="75000"/>
                  </a:schemeClr>
                </a:solidFill>
                <a:ea typeface="Malgun Gothic" pitchFamily="34" charset="-122"/>
                <a:cs typeface="Malgun Gothic" pitchFamily="34" charset="-120"/>
              </a:rPr>
              <a:t>인상좋은</a:t>
            </a:r>
            <a:r>
              <a:rPr lang="ko-KR" altLang="en-US" sz="2400" b="1" dirty="0">
                <a:solidFill>
                  <a:schemeClr val="accent5">
                    <a:lumMod val="75000"/>
                  </a:schemeClr>
                </a:solidFill>
                <a:ea typeface="Malgun Gothic" pitchFamily="34" charset="-122"/>
                <a:cs typeface="Malgun Gothic" pitchFamily="34" charset="-120"/>
              </a:rPr>
              <a:t> 여직원이 맡으면 좋겠어요</a:t>
            </a:r>
            <a:r>
              <a:rPr lang="en-US" altLang="ko-KR" sz="2400" b="1" dirty="0">
                <a:solidFill>
                  <a:schemeClr val="accent5">
                    <a:lumMod val="75000"/>
                  </a:schemeClr>
                </a:solidFill>
                <a:ea typeface="Malgun Gothic" pitchFamily="34" charset="-122"/>
                <a:cs typeface="Malgun Gothic" pitchFamily="34" charset="-120"/>
              </a:rPr>
              <a:t>”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079750BE-4456-4D8D-ACCB-AC168C9B6922}"/>
              </a:ext>
            </a:extLst>
          </p:cNvPr>
          <p:cNvSpPr/>
          <p:nvPr/>
        </p:nvSpPr>
        <p:spPr>
          <a:xfrm>
            <a:off x="393906" y="2308003"/>
            <a:ext cx="482244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900" b="1" dirty="0">
                <a:solidFill>
                  <a:srgbClr val="1F5C57"/>
                </a:solidFill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ko-KR" altLang="en-US" sz="1900" b="1" dirty="0">
                <a:solidFill>
                  <a:srgbClr val="1F5C57"/>
                </a:solidFill>
                <a:ea typeface="Malgun Gothic" pitchFamily="34" charset="-122"/>
                <a:cs typeface="Malgun Gothic" pitchFamily="34" charset="-120"/>
              </a:rPr>
              <a:t>군대 다녀온 남자 직원이 책임감이 있지</a:t>
            </a:r>
            <a:r>
              <a:rPr lang="en-US" altLang="ko-KR" sz="1900" dirty="0"/>
              <a:t>,</a:t>
            </a:r>
            <a:r>
              <a:rPr lang="ko-KR" altLang="en-US" sz="1900" b="1" dirty="0">
                <a:solidFill>
                  <a:srgbClr val="1F5C57"/>
                </a:solidFill>
                <a:ea typeface="Malgun Gothic" pitchFamily="34" charset="-122"/>
                <a:cs typeface="Malgun Gothic" pitchFamily="34" charset="-120"/>
              </a:rPr>
              <a:t> 힘든 일은 남자 직원에게 맡겨요</a:t>
            </a:r>
            <a:r>
              <a:rPr lang="en-US" altLang="ko-KR" sz="1900" b="1" dirty="0">
                <a:solidFill>
                  <a:srgbClr val="1F5C57"/>
                </a:solidFill>
                <a:ea typeface="Malgun Gothic" pitchFamily="34" charset="-122"/>
                <a:cs typeface="Malgun Gothic" pitchFamily="34" charset="-120"/>
              </a:rPr>
              <a:t>”</a:t>
            </a:r>
            <a:endParaRPr lang="en-US" sz="1900" dirty="0">
              <a:solidFill>
                <a:srgbClr val="1F5C57"/>
              </a:solidFill>
            </a:endParaRP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007F65CB-8880-4753-937F-543D2DA78A11}"/>
              </a:ext>
            </a:extLst>
          </p:cNvPr>
          <p:cNvSpPr/>
          <p:nvPr/>
        </p:nvSpPr>
        <p:spPr>
          <a:xfrm>
            <a:off x="377812" y="3018420"/>
            <a:ext cx="469924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2800" b="1" dirty="0">
                <a:solidFill>
                  <a:schemeClr val="tx2">
                    <a:lumMod val="40000"/>
                    <a:lumOff val="60000"/>
                  </a:schemeClr>
                </a:solidFill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ko-KR" altLang="en-US" sz="2800" b="1" dirty="0">
                <a:solidFill>
                  <a:schemeClr val="tx2">
                    <a:lumMod val="40000"/>
                    <a:lumOff val="60000"/>
                  </a:schemeClr>
                </a:solidFill>
                <a:ea typeface="Malgun Gothic" pitchFamily="34" charset="-122"/>
                <a:cs typeface="Malgun Gothic" pitchFamily="34" charset="-120"/>
              </a:rPr>
              <a:t>남자직원이 요리 잘하네</a:t>
            </a:r>
            <a:r>
              <a:rPr lang="en-US" altLang="ko-KR" sz="2800" b="1" dirty="0">
                <a:solidFill>
                  <a:schemeClr val="tx2">
                    <a:lumMod val="40000"/>
                    <a:lumOff val="60000"/>
                  </a:schemeClr>
                </a:solidFill>
                <a:ea typeface="Malgun Gothic" pitchFamily="34" charset="-122"/>
                <a:cs typeface="Malgun Gothic" pitchFamily="34" charset="-120"/>
              </a:rPr>
              <a:t>”</a:t>
            </a:r>
            <a:endParaRPr lang="en-US" sz="28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73CCA0F2-F06A-4B86-A4D8-6F8351926B91}"/>
              </a:ext>
            </a:extLst>
          </p:cNvPr>
          <p:cNvSpPr/>
          <p:nvPr/>
        </p:nvSpPr>
        <p:spPr>
          <a:xfrm>
            <a:off x="362829" y="4362306"/>
            <a:ext cx="473661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00B0F0"/>
                </a:solidFill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ko-KR" altLang="en-US" sz="2000" b="1" dirty="0" err="1">
                <a:solidFill>
                  <a:srgbClr val="00B0F0"/>
                </a:solidFill>
                <a:ea typeface="Malgun Gothic" pitchFamily="34" charset="-122"/>
                <a:cs typeface="Malgun Gothic" pitchFamily="34" charset="-120"/>
              </a:rPr>
              <a:t>남자팀장인데</a:t>
            </a:r>
            <a:r>
              <a:rPr lang="ko-KR" altLang="en-US" sz="2000" b="1" dirty="0">
                <a:solidFill>
                  <a:srgbClr val="00B0F0"/>
                </a:solidFill>
                <a:ea typeface="Malgun Gothic" pitchFamily="34" charset="-122"/>
                <a:cs typeface="Malgun Gothic" pitchFamily="34" charset="-120"/>
              </a:rPr>
              <a:t> 육아휴직을 쓴다고요？</a:t>
            </a:r>
            <a:r>
              <a:rPr lang="en-US" altLang="ko-KR" sz="2000" b="1" dirty="0">
                <a:solidFill>
                  <a:srgbClr val="00B0F0"/>
                </a:solidFill>
                <a:ea typeface="Malgun Gothic" pitchFamily="34" charset="-122"/>
                <a:cs typeface="Malgun Gothic" pitchFamily="34" charset="-120"/>
              </a:rPr>
              <a:t>”</a:t>
            </a:r>
            <a:endParaRPr lang="en-US" sz="2000" dirty="0">
              <a:solidFill>
                <a:srgbClr val="00B0F0"/>
              </a:solidFill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A0A04217-1AB9-4782-8BA3-A75328BC8650}"/>
              </a:ext>
            </a:extLst>
          </p:cNvPr>
          <p:cNvSpPr/>
          <p:nvPr/>
        </p:nvSpPr>
        <p:spPr>
          <a:xfrm>
            <a:off x="548640" y="5249489"/>
            <a:ext cx="8119431" cy="73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2400" b="1" dirty="0">
                <a:solidFill>
                  <a:srgbClr val="1F5C57"/>
                </a:solidFill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ko-KR" altLang="en-US" sz="2400" b="1" dirty="0">
                <a:solidFill>
                  <a:srgbClr val="1F5C57"/>
                </a:solidFill>
                <a:ea typeface="Malgun Gothic" pitchFamily="34" charset="-122"/>
                <a:cs typeface="Malgun Gothic" pitchFamily="34" charset="-120"/>
              </a:rPr>
              <a:t>여자 교수님이 저렇게 강하게 말씀하시니까 </a:t>
            </a:r>
            <a:r>
              <a:rPr lang="ko-KR" altLang="en-US" sz="2400" b="1" dirty="0" err="1">
                <a:solidFill>
                  <a:srgbClr val="1F5C57"/>
                </a:solidFill>
                <a:ea typeface="Malgun Gothic" pitchFamily="34" charset="-122"/>
                <a:cs typeface="Malgun Gothic" pitchFamily="34" charset="-120"/>
              </a:rPr>
              <a:t>드세보인다</a:t>
            </a:r>
            <a:r>
              <a:rPr lang="en-US" altLang="ko-KR" sz="2400" b="1" dirty="0">
                <a:solidFill>
                  <a:srgbClr val="1F5C57"/>
                </a:solidFill>
                <a:ea typeface="Malgun Gothic" pitchFamily="34" charset="-122"/>
                <a:cs typeface="Malgun Gothic" pitchFamily="34" charset="-120"/>
              </a:rPr>
              <a:t>”</a:t>
            </a:r>
          </a:p>
          <a:p>
            <a:pPr marL="0" indent="0">
              <a:buNone/>
            </a:pPr>
            <a:r>
              <a:rPr lang="en-US" altLang="ko-KR" sz="2400" b="1" dirty="0">
                <a:solidFill>
                  <a:srgbClr val="C00000"/>
                </a:solidFill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ko-KR" altLang="en-US" sz="2400" b="1" dirty="0">
                <a:solidFill>
                  <a:srgbClr val="C00000"/>
                </a:solidFill>
                <a:ea typeface="Malgun Gothic" pitchFamily="34" charset="-122"/>
                <a:cs typeface="Malgun Gothic" pitchFamily="34" charset="-120"/>
              </a:rPr>
              <a:t>남자 교수님이 강하게 말씀하시니까 카리스마 있다</a:t>
            </a:r>
            <a:r>
              <a:rPr lang="en-US" altLang="ko-KR" sz="2400" b="1" dirty="0">
                <a:solidFill>
                  <a:srgbClr val="C00000"/>
                </a:solidFill>
                <a:ea typeface="Malgun Gothic" pitchFamily="34" charset="-122"/>
                <a:cs typeface="Malgun Gothic" pitchFamily="34" charset="-120"/>
              </a:rPr>
              <a:t>”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E1D2F9-77B9-481B-9EDE-C3A09D68960E}"/>
              </a:ext>
            </a:extLst>
          </p:cNvPr>
          <p:cNvSpPr txBox="1"/>
          <p:nvPr/>
        </p:nvSpPr>
        <p:spPr>
          <a:xfrm>
            <a:off x="5006992" y="1268680"/>
            <a:ext cx="3737512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ln w="25400">
                  <a:noFill/>
                </a:ln>
                <a:solidFill>
                  <a:schemeClr val="tx2"/>
                </a:solidFill>
              </a:rPr>
              <a:t>여성의 역할을 외모와 연결하는 규범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5A4F0B-3BE7-4FFD-97FA-C94CBF4A9892}"/>
              </a:ext>
            </a:extLst>
          </p:cNvPr>
          <p:cNvSpPr txBox="1"/>
          <p:nvPr/>
        </p:nvSpPr>
        <p:spPr>
          <a:xfrm>
            <a:off x="4977841" y="2361074"/>
            <a:ext cx="3795813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ln w="25400">
                  <a:noFill/>
                </a:ln>
                <a:solidFill>
                  <a:schemeClr val="accent2">
                    <a:lumMod val="75000"/>
                  </a:schemeClr>
                </a:solidFill>
              </a:rPr>
              <a:t>남성의 군경험을 노동</a:t>
            </a:r>
            <a:r>
              <a:rPr lang="en-US" altLang="ko-KR" sz="2000" b="1" dirty="0">
                <a:ln w="25400">
                  <a:noFill/>
                </a:ln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2000" b="1" dirty="0">
                <a:ln w="25400">
                  <a:noFill/>
                </a:ln>
                <a:solidFill>
                  <a:schemeClr val="accent2">
                    <a:lumMod val="75000"/>
                  </a:schemeClr>
                </a:solidFill>
              </a:rPr>
              <a:t>책임</a:t>
            </a:r>
            <a:endParaRPr lang="en-US" altLang="ko-KR" sz="2000" b="1" dirty="0">
              <a:ln w="25400">
                <a:noFill/>
              </a:ln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ko-KR" altLang="en-US" sz="2000" b="1" dirty="0">
                <a:ln w="25400">
                  <a:noFill/>
                </a:ln>
                <a:solidFill>
                  <a:schemeClr val="accent2">
                    <a:lumMod val="75000"/>
                  </a:schemeClr>
                </a:solidFill>
              </a:rPr>
              <a:t>분담과 연결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6A1334-0CC4-4BDE-9373-F2971678F846}"/>
              </a:ext>
            </a:extLst>
          </p:cNvPr>
          <p:cNvSpPr txBox="1"/>
          <p:nvPr/>
        </p:nvSpPr>
        <p:spPr>
          <a:xfrm>
            <a:off x="4859900" y="3182815"/>
            <a:ext cx="3795813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n w="25400">
                  <a:noFill/>
                </a:ln>
                <a:solidFill>
                  <a:schemeClr val="tx2"/>
                </a:solidFill>
              </a:rPr>
              <a:t>가사는 여성의 역할이라는 전제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A0C50D-7A4D-42F9-8302-9935AB0D0D87}"/>
              </a:ext>
            </a:extLst>
          </p:cNvPr>
          <p:cNvSpPr txBox="1"/>
          <p:nvPr/>
        </p:nvSpPr>
        <p:spPr>
          <a:xfrm>
            <a:off x="4474802" y="3744610"/>
            <a:ext cx="4345670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ln w="25400">
                  <a:noFill/>
                </a:ln>
                <a:solidFill>
                  <a:schemeClr val="accent2">
                    <a:lumMod val="75000"/>
                  </a:schemeClr>
                </a:solidFill>
              </a:rPr>
              <a:t>리더십</a:t>
            </a:r>
            <a:r>
              <a:rPr lang="en-US" altLang="ko-KR" sz="2000" b="1" dirty="0">
                <a:ln w="25400">
                  <a:noFill/>
                </a:ln>
                <a:solidFill>
                  <a:schemeClr val="accent2">
                    <a:lumMod val="75000"/>
                  </a:schemeClr>
                </a:solidFill>
              </a:rPr>
              <a:t>,</a:t>
            </a:r>
            <a:r>
              <a:rPr lang="ko-KR" altLang="en-US" sz="2000" b="1" dirty="0">
                <a:ln w="25400">
                  <a:noFill/>
                </a:ln>
                <a:solidFill>
                  <a:schemeClr val="accent2">
                    <a:lumMod val="75000"/>
                  </a:schemeClr>
                </a:solidFill>
              </a:rPr>
              <a:t>결단력은 남성적 특성이라는 고정관념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60E01A-4DE4-444C-8B00-8B43EF8445C3}"/>
              </a:ext>
            </a:extLst>
          </p:cNvPr>
          <p:cNvSpPr txBox="1"/>
          <p:nvPr/>
        </p:nvSpPr>
        <p:spPr>
          <a:xfrm>
            <a:off x="5128595" y="4510900"/>
            <a:ext cx="3645059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>
                <a:ln w="25400">
                  <a:noFill/>
                </a:ln>
                <a:solidFill>
                  <a:schemeClr val="tx2"/>
                </a:solidFill>
              </a:rPr>
              <a:t>돌봄은 여성의 역할이라는 관념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6FADDE-6A99-4094-85B0-81BAF83B6EBA}"/>
              </a:ext>
            </a:extLst>
          </p:cNvPr>
          <p:cNvSpPr txBox="1"/>
          <p:nvPr/>
        </p:nvSpPr>
        <p:spPr>
          <a:xfrm>
            <a:off x="411447" y="5184619"/>
            <a:ext cx="8244266" cy="8925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2600" b="1" dirty="0">
                <a:ln w="25400">
                  <a:noFill/>
                </a:ln>
                <a:solidFill>
                  <a:schemeClr val="accent2">
                    <a:lumMod val="75000"/>
                  </a:schemeClr>
                </a:solidFill>
              </a:rPr>
              <a:t>똑같은 행동을 성별에 따라 다르게 평가하는 이중잣대</a:t>
            </a:r>
            <a:endParaRPr lang="en-US" altLang="ko-KR" sz="2600" b="1" dirty="0">
              <a:ln w="25400">
                <a:noFill/>
              </a:ln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ko-KR" altLang="en-US" sz="2600" b="1" dirty="0">
                <a:ln w="25400">
                  <a:noFill/>
                </a:ln>
                <a:solidFill>
                  <a:schemeClr val="accent2">
                    <a:lumMod val="75000"/>
                  </a:schemeClr>
                </a:solidFill>
              </a:rPr>
              <a:t>☞ </a:t>
            </a:r>
            <a:r>
              <a:rPr lang="ko-KR" altLang="en-US" sz="2600" b="1" dirty="0">
                <a:ln w="25400">
                  <a:noFill/>
                </a:ln>
                <a:solidFill>
                  <a:srgbClr val="FF0000"/>
                </a:solidFill>
              </a:rPr>
              <a:t>성별 권력관계 작동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67EA0E-E63E-48FB-8D01-7D94FEA73D05}"/>
              </a:ext>
            </a:extLst>
          </p:cNvPr>
          <p:cNvSpPr txBox="1"/>
          <p:nvPr/>
        </p:nvSpPr>
        <p:spPr>
          <a:xfrm>
            <a:off x="3479180" y="6120159"/>
            <a:ext cx="2304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accent5">
                    <a:lumMod val="75000"/>
                  </a:schemeClr>
                </a:solidFill>
              </a:rPr>
              <a:t>경상국립대학교 인권센터</a:t>
            </a:r>
          </a:p>
        </p:txBody>
      </p:sp>
      <p:sp>
        <p:nvSpPr>
          <p:cNvPr id="25" name="Text 28">
            <a:extLst>
              <a:ext uri="{FF2B5EF4-FFF2-40B4-BE49-F238E27FC236}">
                <a16:creationId xmlns:a16="http://schemas.microsoft.com/office/drawing/2014/main" id="{648487C3-A319-439F-B2E3-415EC36DB170}"/>
              </a:ext>
            </a:extLst>
          </p:cNvPr>
          <p:cNvSpPr/>
          <p:nvPr/>
        </p:nvSpPr>
        <p:spPr>
          <a:xfrm>
            <a:off x="4607496" y="6453336"/>
            <a:ext cx="4536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400" dirty="0">
                <a:solidFill>
                  <a:srgbClr val="6B62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[AI </a:t>
            </a:r>
            <a:r>
              <a:rPr lang="ko-KR" altLang="en-US" sz="1400" dirty="0">
                <a:solidFill>
                  <a:srgbClr val="6B62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r>
              <a:rPr lang="en-US" sz="1400" dirty="0" err="1">
                <a:solidFill>
                  <a:srgbClr val="6B62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r>
              <a:rPr lang="en-US" sz="1400" dirty="0">
                <a:solidFill>
                  <a:srgbClr val="6B62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‘</a:t>
            </a:r>
            <a:r>
              <a:rPr lang="ko-KR" altLang="en-US" sz="1400" dirty="0">
                <a:solidFill>
                  <a:srgbClr val="6B62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제미나이</a:t>
            </a:r>
            <a:r>
              <a:rPr lang="en-US" altLang="ko-KR" sz="1400" dirty="0">
                <a:solidFill>
                  <a:srgbClr val="6B62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r>
              <a:rPr lang="ko-KR" altLang="en-US" sz="1400" dirty="0">
                <a:solidFill>
                  <a:srgbClr val="6B62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활용한 이미지 생성］</a:t>
            </a:r>
            <a:endParaRPr lang="en-US" sz="14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E13FB31F-08A4-41DF-AB8C-24C4B3CAF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83795" y="1012947"/>
            <a:ext cx="9869411" cy="551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686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26">
            <a:extLst>
              <a:ext uri="{FF2B5EF4-FFF2-40B4-BE49-F238E27FC236}">
                <a16:creationId xmlns:a16="http://schemas.microsoft.com/office/drawing/2014/main" id="{F126BF02-48F3-4A8B-BF2E-4A9EA6F937BE}"/>
              </a:ext>
            </a:extLst>
          </p:cNvPr>
          <p:cNvSpPr/>
          <p:nvPr/>
        </p:nvSpPr>
        <p:spPr>
          <a:xfrm>
            <a:off x="815218" y="4065631"/>
            <a:ext cx="7780142" cy="1142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· 반복 · 점진적으로 강화되는 </a:t>
            </a:r>
            <a:r>
              <a:rPr lang="en-US" sz="2800" dirty="0" err="1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r>
              <a:rPr lang="en-US" sz="2800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2800" dirty="0" err="1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</a:t>
            </a:r>
            <a:r>
              <a:rPr lang="en-US" sz="2800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날 우연히 발생하는 사고가 아닙니다.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67544" y="3481227"/>
            <a:ext cx="73152" cy="2926080"/>
          </a:xfrm>
          <a:prstGeom prst="rect">
            <a:avLst/>
          </a:prstGeom>
          <a:solidFill>
            <a:srgbClr val="EFEA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DB70C78-C800-44EA-A411-07532DC58B2C}"/>
              </a:ext>
            </a:extLst>
          </p:cNvPr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EFEA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1AB93399-F97C-4AA6-AF53-8707710CDEA2}"/>
              </a:ext>
            </a:extLst>
          </p:cNvPr>
          <p:cNvSpPr/>
          <p:nvPr/>
        </p:nvSpPr>
        <p:spPr>
          <a:xfrm rot="10800000">
            <a:off x="8820472" y="3481172"/>
            <a:ext cx="73152" cy="2926080"/>
          </a:xfrm>
          <a:prstGeom prst="rect">
            <a:avLst/>
          </a:prstGeom>
          <a:solidFill>
            <a:srgbClr val="EFEAF3"/>
          </a:solidFill>
          <a:ln/>
        </p:spPr>
        <p:txBody>
          <a:bodyPr/>
          <a:lstStyle/>
          <a:p>
            <a:endParaRPr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5D60360-F51F-4EE4-BC4E-5A63F543CE92}"/>
              </a:ext>
            </a:extLst>
          </p:cNvPr>
          <p:cNvGrpSpPr/>
          <p:nvPr/>
        </p:nvGrpSpPr>
        <p:grpSpPr>
          <a:xfrm>
            <a:off x="102542" y="20573"/>
            <a:ext cx="8927848" cy="6815189"/>
            <a:chOff x="100409" y="44624"/>
            <a:chExt cx="8929244" cy="6815189"/>
          </a:xfrm>
        </p:grpSpPr>
        <p:sp>
          <p:nvSpPr>
            <p:cNvPr id="8" name="Text 1">
              <a:extLst>
                <a:ext uri="{FF2B5EF4-FFF2-40B4-BE49-F238E27FC236}">
                  <a16:creationId xmlns:a16="http://schemas.microsoft.com/office/drawing/2014/main" id="{640F1635-1042-479D-B1E0-D63BEB54A337}"/>
                </a:ext>
              </a:extLst>
            </p:cNvPr>
            <p:cNvSpPr/>
            <p:nvPr/>
          </p:nvSpPr>
          <p:spPr>
            <a:xfrm>
              <a:off x="323528" y="44624"/>
              <a:ext cx="804672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200" b="1" dirty="0" err="1">
                  <a:solidFill>
                    <a:srgbClr val="3B305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젠더기반폭력</a:t>
              </a:r>
              <a:r>
                <a:rPr lang="en-US" altLang="ko-KR" sz="2400" b="1" dirty="0">
                  <a:solidFill>
                    <a:srgbClr val="3B305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(Gender-Based Violence, GBV)</a:t>
              </a:r>
              <a:endParaRPr lang="en-US" sz="32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9823F34-D2AD-49AA-A467-8B6CFDC4E29F}"/>
                </a:ext>
              </a:extLst>
            </p:cNvPr>
            <p:cNvSpPr txBox="1"/>
            <p:nvPr/>
          </p:nvSpPr>
          <p:spPr>
            <a:xfrm>
              <a:off x="100409" y="6459703"/>
              <a:ext cx="89292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dirty="0"/>
                <a:t>[</a:t>
              </a:r>
              <a:r>
                <a:rPr lang="ko-KR" altLang="en-US" sz="1000" dirty="0"/>
                <a:t>출처</a:t>
              </a:r>
              <a:r>
                <a:rPr lang="en-US" altLang="ko-KR" sz="1000" dirty="0"/>
                <a:t>: (UN </a:t>
              </a:r>
              <a:r>
                <a:rPr lang="ko-KR" altLang="en-US" sz="1000" dirty="0"/>
                <a:t>여성차별철폐위원회 일반권고 </a:t>
              </a:r>
              <a:r>
                <a:rPr lang="en-US" altLang="ko-KR" sz="1000" dirty="0"/>
                <a:t>19</a:t>
              </a:r>
              <a:r>
                <a:rPr lang="ko-KR" altLang="en-US" sz="1000" dirty="0"/>
                <a:t>호</a:t>
              </a:r>
              <a:r>
                <a:rPr lang="en-US" altLang="ko-KR" sz="1000" dirty="0"/>
                <a:t>·35</a:t>
              </a:r>
              <a:r>
                <a:rPr lang="ko-KR" altLang="en-US" sz="1000" dirty="0"/>
                <a:t>호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호주국가위원회 </a:t>
              </a:r>
              <a:r>
                <a:rPr lang="ko-KR" altLang="en-US" sz="1000" dirty="0" err="1"/>
                <a:t>누리집</a:t>
              </a:r>
              <a:r>
                <a:rPr lang="en-US" altLang="ko-KR" sz="1000" dirty="0"/>
                <a:t> </a:t>
              </a:r>
              <a:r>
                <a:rPr lang="ko-KR" altLang="en-US" sz="1000" dirty="0"/>
                <a:t>（</a:t>
              </a:r>
              <a:r>
                <a:rPr lang="en-US" altLang="ko-KR" sz="1000" dirty="0">
                  <a:hlinkClick r:id="rId3"/>
                </a:rPr>
                <a:t>https://unwomen.org.au/types-of-violence-against-women-and-girls/</a:t>
              </a:r>
              <a:r>
                <a:rPr lang="ko-KR" altLang="en-US" sz="1000" dirty="0"/>
                <a:t>）</a:t>
              </a:r>
              <a:r>
                <a:rPr lang="en-US" altLang="ko-KR" sz="1000" dirty="0"/>
                <a:t>2026. 9</a:t>
              </a:r>
              <a:r>
                <a:rPr lang="ko-KR" altLang="en-US" sz="1000" dirty="0"/>
                <a:t>월 검색</a:t>
              </a:r>
              <a:r>
                <a:rPr lang="en-US" altLang="ko-KR" sz="1000" dirty="0"/>
                <a:t>] </a:t>
              </a:r>
              <a:endParaRPr lang="ko-KR" alt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628440" y="4042880"/>
              <a:ext cx="8124664" cy="2251311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2400" b="1" dirty="0" err="1">
                  <a:solidFill>
                    <a:schemeClr val="accent4">
                      <a:lumMod val="50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젠더기반폭력</a:t>
              </a:r>
              <a:r>
                <a:rPr lang="ko-KR" altLang="en-US" sz="2400" dirty="0" err="1">
                  <a:solidFill>
                    <a:schemeClr val="accent4">
                      <a:lumMod val="50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은</a:t>
              </a:r>
              <a:endParaRPr lang="en-US" altLang="ko-KR" sz="2400" dirty="0">
                <a:solidFill>
                  <a:schemeClr val="accent4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endParaRPr>
            </a:p>
            <a:p>
              <a:pPr marL="0" indent="0" algn="ctr">
                <a:buNone/>
              </a:pPr>
              <a:r>
                <a:rPr lang="ko-KR" altLang="en-US" sz="2400" dirty="0">
                  <a:solidFill>
                    <a:schemeClr val="accent4">
                      <a:lumMod val="50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여성이라는 이유로 여성에게 가해지거나 여성에게 </a:t>
              </a:r>
              <a:endParaRPr lang="en-US" altLang="ko-KR" sz="2400" dirty="0">
                <a:solidFill>
                  <a:schemeClr val="accent4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endParaRPr>
            </a:p>
            <a:p>
              <a:pPr marL="0" indent="0" algn="ctr">
                <a:buNone/>
              </a:pPr>
              <a:r>
                <a:rPr lang="ko-KR" altLang="en-US" sz="2400" dirty="0">
                  <a:solidFill>
                    <a:schemeClr val="accent4">
                      <a:lumMod val="50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불균형적으로 영향을 미치는 폭력으로 정의된다</a:t>
              </a:r>
              <a:r>
                <a:rPr lang="en-US" altLang="ko-KR" sz="1600" dirty="0"/>
                <a:t>.</a:t>
              </a:r>
              <a:r>
                <a:rPr lang="ko-KR" altLang="en-US" sz="2400" dirty="0">
                  <a:solidFill>
                    <a:schemeClr val="accent4">
                      <a:lumMod val="50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endParaRPr lang="en-US" altLang="ko-KR" sz="2400" dirty="0">
                <a:solidFill>
                  <a:schemeClr val="accent4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endParaRPr>
            </a:p>
            <a:p>
              <a:pPr marL="0" indent="0" algn="ctr">
                <a:buNone/>
              </a:pPr>
              <a:r>
                <a:rPr lang="ko-KR" altLang="en-US" sz="2300" dirty="0">
                  <a:solidFill>
                    <a:schemeClr val="accent4">
                      <a:lumMod val="50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여성에 대한 </a:t>
              </a:r>
              <a:r>
                <a:rPr lang="ko-KR" altLang="en-US" sz="2400" b="1" dirty="0">
                  <a:solidFill>
                    <a:schemeClr val="accent4">
                      <a:lumMod val="50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차별</a:t>
              </a:r>
              <a:r>
                <a:rPr lang="ko-KR" altLang="en-US" sz="2400" dirty="0">
                  <a:solidFill>
                    <a:schemeClr val="accent4">
                      <a:lumMod val="50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과 </a:t>
              </a:r>
              <a:r>
                <a:rPr lang="ko-KR" altLang="en-US" sz="2300" dirty="0">
                  <a:solidFill>
                    <a:schemeClr val="accent4">
                      <a:lumMod val="50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남성과 여성 간의</a:t>
              </a:r>
              <a:r>
                <a:rPr lang="ko-KR" altLang="en-US" sz="2400" dirty="0">
                  <a:solidFill>
                    <a:schemeClr val="accent4">
                      <a:lumMod val="50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ko-KR" altLang="en-US" sz="2400" b="1" dirty="0">
                  <a:solidFill>
                    <a:schemeClr val="accent4">
                      <a:lumMod val="50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권력</a:t>
              </a:r>
              <a:r>
                <a:rPr lang="ko-KR" altLang="en-US" sz="2400" dirty="0">
                  <a:solidFill>
                    <a:schemeClr val="accent4">
                      <a:lumMod val="50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과 자원 분배의 </a:t>
              </a:r>
              <a:r>
                <a:rPr lang="ko-KR" altLang="en-US" sz="2400" b="1" dirty="0">
                  <a:solidFill>
                    <a:schemeClr val="accent4">
                      <a:lumMod val="50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불평등</a:t>
              </a:r>
              <a:r>
                <a:rPr lang="ko-KR" altLang="en-US" sz="2400" dirty="0">
                  <a:solidFill>
                    <a:schemeClr val="accent4">
                      <a:lumMod val="50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은 여성 폭력의 근본적 원인이다</a:t>
              </a:r>
              <a:r>
                <a:rPr lang="en-US" altLang="ko-KR" sz="1600" dirty="0"/>
                <a:t> .</a:t>
              </a:r>
              <a:endParaRPr lang="en-US" sz="2400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</p:grpSp>
      <p:sp>
        <p:nvSpPr>
          <p:cNvPr id="21" name="Text 10">
            <a:extLst>
              <a:ext uri="{FF2B5EF4-FFF2-40B4-BE49-F238E27FC236}">
                <a16:creationId xmlns:a16="http://schemas.microsoft.com/office/drawing/2014/main" id="{25E60D1C-953A-41A4-94D6-C6DCF7F84F4E}"/>
              </a:ext>
            </a:extLst>
          </p:cNvPr>
          <p:cNvSpPr/>
          <p:nvPr/>
        </p:nvSpPr>
        <p:spPr>
          <a:xfrm>
            <a:off x="2898648" y="3559824"/>
            <a:ext cx="390633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ko-KR" altLang="en-US" b="1" dirty="0">
                <a:solidFill>
                  <a:schemeClr val="accent4">
                    <a:lumMod val="75000"/>
                  </a:schemeClr>
                </a:solidFill>
                <a:latin typeface="Malgun Gothic" pitchFamily="34" charset="0"/>
                <a:ea typeface="Malgun Gothic" pitchFamily="34" charset="-122"/>
              </a:rPr>
              <a:t>권력의 남용 </a:t>
            </a:r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b="1" dirty="0">
                <a:solidFill>
                  <a:schemeClr val="accent4">
                    <a:lumMod val="75000"/>
                  </a:schemeClr>
                </a:solidFill>
                <a:latin typeface="Malgun Gothic" pitchFamily="34" charset="0"/>
                <a:ea typeface="Malgun Gothic" pitchFamily="34" charset="-122"/>
              </a:rPr>
              <a:t>폭력의 발생</a:t>
            </a:r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  <a:latin typeface="Malgun Gothic" pitchFamily="34" charset="0"/>
                <a:ea typeface="Malgun Gothic" pitchFamily="34" charset="-122"/>
              </a:rPr>
              <a:t>)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D009E125-1909-4937-9478-F0E558CEF9C0}"/>
              </a:ext>
            </a:extLst>
          </p:cNvPr>
          <p:cNvSpPr/>
          <p:nvPr/>
        </p:nvSpPr>
        <p:spPr>
          <a:xfrm>
            <a:off x="3069689" y="1162472"/>
            <a:ext cx="2943240" cy="407028"/>
          </a:xfrm>
          <a:prstGeom prst="roundRect">
            <a:avLst>
              <a:gd name="adj" fmla="val 6757"/>
            </a:avLst>
          </a:prstGeom>
          <a:noFill/>
          <a:ln/>
        </p:spPr>
        <p:txBody>
          <a:bodyPr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altLang="ko-KR" b="1" dirty="0" err="1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주변인의</a:t>
            </a:r>
            <a:r>
              <a:rPr lang="en-US" altLang="ko-KR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b="1" dirty="0" err="1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방관·묵인·동조</a:t>
            </a:r>
            <a:r>
              <a:rPr lang="en-US" altLang="ko-KR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dirty="0"/>
              <a:t> </a:t>
            </a:r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785EE48A-B308-4144-BF0E-1A7E85F4164E}"/>
              </a:ext>
            </a:extLst>
          </p:cNvPr>
          <p:cNvSpPr/>
          <p:nvPr/>
        </p:nvSpPr>
        <p:spPr>
          <a:xfrm>
            <a:off x="2360336" y="476672"/>
            <a:ext cx="5302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/>
            <a:r>
              <a:rPr lang="en-US" sz="28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만들어지는 </a:t>
            </a:r>
            <a:r>
              <a:rPr lang="en-US" sz="36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2800" dirty="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4D47D593-3846-4569-9AC8-A330A2AD2F8E}"/>
              </a:ext>
            </a:extLst>
          </p:cNvPr>
          <p:cNvSpPr/>
          <p:nvPr/>
        </p:nvSpPr>
        <p:spPr>
          <a:xfrm>
            <a:off x="72008" y="691867"/>
            <a:ext cx="2915816" cy="360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/>
            <a:r>
              <a:rPr lang="ko-KR" altLang="en-US" sz="2800" b="1" dirty="0" err="1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ㅇㅇㅇㅇㅇㅇ</a:t>
            </a:r>
            <a:endParaRPr lang="en-US" sz="2800" dirty="0"/>
          </a:p>
        </p:txBody>
      </p:sp>
      <p:sp>
        <p:nvSpPr>
          <p:cNvPr id="11" name="화살표: U자형 10">
            <a:extLst>
              <a:ext uri="{FF2B5EF4-FFF2-40B4-BE49-F238E27FC236}">
                <a16:creationId xmlns:a16="http://schemas.microsoft.com/office/drawing/2014/main" id="{9A309BB2-3C84-4E9C-A71D-270360E7E2F1}"/>
              </a:ext>
            </a:extLst>
          </p:cNvPr>
          <p:cNvSpPr/>
          <p:nvPr/>
        </p:nvSpPr>
        <p:spPr>
          <a:xfrm rot="10800000">
            <a:off x="1078694" y="3049267"/>
            <a:ext cx="6948543" cy="442606"/>
          </a:xfrm>
          <a:prstGeom prst="uturnArrow">
            <a:avLst>
              <a:gd name="adj1" fmla="val 22216"/>
              <a:gd name="adj2" fmla="val 25000"/>
              <a:gd name="adj3" fmla="val 36137"/>
              <a:gd name="adj4" fmla="val 43750"/>
              <a:gd name="adj5" fmla="val 100000"/>
            </a:avLst>
          </a:prstGeom>
          <a:solidFill>
            <a:schemeClr val="accent4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FBD05242-CCFD-486D-9879-45C84C4CD468}"/>
              </a:ext>
            </a:extLst>
          </p:cNvPr>
          <p:cNvSpPr/>
          <p:nvPr/>
        </p:nvSpPr>
        <p:spPr>
          <a:xfrm rot="16200000">
            <a:off x="1845976" y="2962362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C5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6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AEDC5113-65BC-4600-94DC-F8F3F93CB548}"/>
              </a:ext>
            </a:extLst>
          </p:cNvPr>
          <p:cNvSpPr/>
          <p:nvPr/>
        </p:nvSpPr>
        <p:spPr>
          <a:xfrm rot="16200000">
            <a:off x="4096578" y="2931738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C5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600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16902BAA-4965-441E-9EA2-12416A923F7C}"/>
              </a:ext>
            </a:extLst>
          </p:cNvPr>
          <p:cNvSpPr/>
          <p:nvPr/>
        </p:nvSpPr>
        <p:spPr>
          <a:xfrm rot="5400000">
            <a:off x="4596582" y="1508167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C5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60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D5C7B878-A14A-4876-B71E-DFDEBC87955E}"/>
              </a:ext>
            </a:extLst>
          </p:cNvPr>
          <p:cNvSpPr/>
          <p:nvPr/>
        </p:nvSpPr>
        <p:spPr>
          <a:xfrm rot="16200000">
            <a:off x="5999415" y="2906229"/>
            <a:ext cx="6671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C5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600" dirty="0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BF10B552-E355-48C5-AC0E-A5BFC2872BB4}"/>
              </a:ext>
            </a:extLst>
          </p:cNvPr>
          <p:cNvSpPr/>
          <p:nvPr/>
        </p:nvSpPr>
        <p:spPr>
          <a:xfrm rot="16200000">
            <a:off x="7070102" y="2980949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C5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600" dirty="0"/>
          </a:p>
        </p:txBody>
      </p:sp>
      <p:sp>
        <p:nvSpPr>
          <p:cNvPr id="41" name="Gear stereotype">
            <a:extLst>
              <a:ext uri="{FF2B5EF4-FFF2-40B4-BE49-F238E27FC236}">
                <a16:creationId xmlns:a16="http://schemas.microsoft.com/office/drawing/2014/main" id="{CC87FFD5-4E6F-4B5D-875F-9B962DB3FAE3}"/>
              </a:ext>
            </a:extLst>
          </p:cNvPr>
          <p:cNvSpPr/>
          <p:nvPr/>
        </p:nvSpPr>
        <p:spPr>
          <a:xfrm>
            <a:off x="771747" y="1707676"/>
            <a:ext cx="1625433" cy="1544102"/>
          </a:xfrm>
          <a:prstGeom prst="gear6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444441"/>
                </a:solidFill>
                <a:latin typeface="+mj-ea"/>
                <a:ea typeface="+mj-ea"/>
                <a:cs typeface="맑은 고딕" pitchFamily="34" charset="-120"/>
              </a:rPr>
              <a:t>성별</a:t>
            </a:r>
            <a:endParaRPr lang="en-US" sz="1600" dirty="0">
              <a:latin typeface="+mj-ea"/>
              <a:ea typeface="+mj-ea"/>
            </a:endParaRPr>
          </a:p>
          <a:p>
            <a:pPr algn="ctr"/>
            <a:r>
              <a:rPr lang="en-US" sz="1600" b="1" dirty="0">
                <a:solidFill>
                  <a:srgbClr val="444441"/>
                </a:solidFill>
                <a:latin typeface="+mj-ea"/>
                <a:ea typeface="+mj-ea"/>
                <a:cs typeface="맑은 고딕" pitchFamily="34" charset="-120"/>
              </a:rPr>
              <a:t>고정관념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43" name="Gear gender norms">
            <a:extLst>
              <a:ext uri="{FF2B5EF4-FFF2-40B4-BE49-F238E27FC236}">
                <a16:creationId xmlns:a16="http://schemas.microsoft.com/office/drawing/2014/main" id="{F0F14AE8-2BE6-4229-BCD1-401AD646701E}"/>
              </a:ext>
            </a:extLst>
          </p:cNvPr>
          <p:cNvSpPr/>
          <p:nvPr/>
        </p:nvSpPr>
        <p:spPr>
          <a:xfrm>
            <a:off x="2386402" y="1661408"/>
            <a:ext cx="1783080" cy="1783080"/>
          </a:xfrm>
          <a:prstGeom prst="gear9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4342C"/>
                </a:solidFill>
                <a:latin typeface="+mj-ea"/>
                <a:ea typeface="+mj-ea"/>
                <a:cs typeface="맑은 고딕" pitchFamily="34" charset="-120"/>
              </a:rPr>
              <a:t>성역할</a:t>
            </a:r>
            <a:endParaRPr lang="en-US" sz="2400" dirty="0">
              <a:latin typeface="+mj-ea"/>
              <a:ea typeface="+mj-ea"/>
            </a:endParaRPr>
          </a:p>
          <a:p>
            <a:pPr algn="ctr"/>
            <a:r>
              <a:rPr lang="en-US" sz="2400" b="1" dirty="0">
                <a:solidFill>
                  <a:srgbClr val="04342C"/>
                </a:solidFill>
                <a:latin typeface="+mj-ea"/>
                <a:ea typeface="+mj-ea"/>
                <a:cs typeface="맑은 고딕" pitchFamily="34" charset="-120"/>
              </a:rPr>
              <a:t>규범</a:t>
            </a:r>
            <a:endParaRPr lang="en-US" sz="2400" dirty="0">
              <a:latin typeface="+mj-ea"/>
              <a:ea typeface="+mj-ea"/>
            </a:endParaRPr>
          </a:p>
        </p:txBody>
      </p:sp>
      <p:sp>
        <p:nvSpPr>
          <p:cNvPr id="44" name="Gear discrimination">
            <a:extLst>
              <a:ext uri="{FF2B5EF4-FFF2-40B4-BE49-F238E27FC236}">
                <a16:creationId xmlns:a16="http://schemas.microsoft.com/office/drawing/2014/main" id="{C23709CE-15CE-4C65-87B3-C639CFC4B999}"/>
              </a:ext>
            </a:extLst>
          </p:cNvPr>
          <p:cNvSpPr/>
          <p:nvPr/>
        </p:nvSpPr>
        <p:spPr>
          <a:xfrm>
            <a:off x="4609583" y="1649370"/>
            <a:ext cx="1783080" cy="1783080"/>
          </a:xfrm>
          <a:prstGeom prst="gear9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26215C"/>
                </a:solidFill>
                <a:latin typeface="+mj-ea"/>
                <a:ea typeface="+mj-ea"/>
                <a:cs typeface="맑은 고딕" pitchFamily="34" charset="-120"/>
              </a:rPr>
              <a:t>성차별</a:t>
            </a:r>
            <a:endParaRPr lang="en-US" sz="2400" dirty="0">
              <a:latin typeface="+mj-ea"/>
              <a:ea typeface="+mj-ea"/>
            </a:endParaRPr>
          </a:p>
          <a:p>
            <a:pPr algn="ctr"/>
            <a:r>
              <a:rPr lang="en-US" sz="2400" b="1" dirty="0">
                <a:solidFill>
                  <a:srgbClr val="26215C"/>
                </a:solidFill>
                <a:latin typeface="+mj-ea"/>
                <a:ea typeface="+mj-ea"/>
                <a:cs typeface="맑은 고딕" pitchFamily="34" charset="-120"/>
              </a:rPr>
              <a:t>구조</a:t>
            </a:r>
            <a:endParaRPr lang="en-US" sz="2400" dirty="0">
              <a:latin typeface="+mj-ea"/>
              <a:ea typeface="+mj-ea"/>
            </a:endParaRPr>
          </a:p>
        </p:txBody>
      </p:sp>
      <p:sp>
        <p:nvSpPr>
          <p:cNvPr id="45" name="Gear power">
            <a:extLst>
              <a:ext uri="{FF2B5EF4-FFF2-40B4-BE49-F238E27FC236}">
                <a16:creationId xmlns:a16="http://schemas.microsoft.com/office/drawing/2014/main" id="{3DAC7E18-CEE8-4426-8409-53B9AFB2012C}"/>
              </a:ext>
            </a:extLst>
          </p:cNvPr>
          <p:cNvSpPr/>
          <p:nvPr/>
        </p:nvSpPr>
        <p:spPr>
          <a:xfrm>
            <a:off x="6336117" y="1174701"/>
            <a:ext cx="2062535" cy="1977059"/>
          </a:xfrm>
          <a:prstGeom prst="gear9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2400" b="1" dirty="0">
                <a:solidFill>
                  <a:srgbClr val="26215C"/>
                </a:solidFill>
                <a:latin typeface="+mj-ea"/>
                <a:ea typeface="+mj-ea"/>
              </a:rPr>
              <a:t>성별</a:t>
            </a:r>
            <a:endParaRPr lang="en-US" sz="2400" dirty="0">
              <a:latin typeface="+mj-ea"/>
              <a:ea typeface="+mj-ea"/>
            </a:endParaRPr>
          </a:p>
          <a:p>
            <a:pPr algn="ctr"/>
            <a:r>
              <a:rPr lang="en-US" sz="2400" b="1" dirty="0">
                <a:solidFill>
                  <a:srgbClr val="26215C"/>
                </a:solidFill>
                <a:latin typeface="+mj-ea"/>
                <a:ea typeface="+mj-ea"/>
                <a:cs typeface="맑은 고딕" pitchFamily="34" charset="-120"/>
              </a:rPr>
              <a:t>권력관계</a:t>
            </a:r>
            <a:endParaRPr lang="en-US" sz="2400" dirty="0">
              <a:latin typeface="+mj-ea"/>
              <a:ea typeface="+mj-ea"/>
            </a:endParaRPr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EDA0D008-8D68-4CE0-A5A0-0D06B6EC4A93}"/>
              </a:ext>
            </a:extLst>
          </p:cNvPr>
          <p:cNvSpPr/>
          <p:nvPr/>
        </p:nvSpPr>
        <p:spPr>
          <a:xfrm rot="8507623">
            <a:off x="2779127" y="123969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C5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600" dirty="0"/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79C6BE1A-882E-4D78-87C6-3ECA6BFAB80D}"/>
              </a:ext>
            </a:extLst>
          </p:cNvPr>
          <p:cNvSpPr/>
          <p:nvPr/>
        </p:nvSpPr>
        <p:spPr>
          <a:xfrm rot="1602248">
            <a:off x="6090352" y="1114762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C5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여성폭력 </a:t>
            </a:r>
            <a:r>
              <a:rPr lang="en-US" sz="3000" b="1" dirty="0" err="1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피해</a:t>
            </a:r>
            <a:r>
              <a:rPr lang="en-US" sz="3000" b="1" dirty="0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3000" b="1" dirty="0" err="1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경험률</a:t>
            </a:r>
            <a:r>
              <a:rPr lang="en-US" sz="3000" b="1" dirty="0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(2024)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평생 한 번이라도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737360"/>
          <a:ext cx="3977640" cy="36576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유형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경험률(%)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36.1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성적 폭력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19.5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정서적 폭력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17.8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신체적 폭력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15.8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통제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5.2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경제적 폭력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2.5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스토킹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1.8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09160" y="12344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53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1년간</a:t>
            </a:r>
            <a:endParaRPr lang="en-US" sz="20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/>
        </p:nvGraphicFramePr>
        <p:xfrm>
          <a:off x="4709160" y="1737360"/>
          <a:ext cx="3977640" cy="36576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유형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5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경험률(%)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5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7.6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성적 폭력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4.0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정서적 폭력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신체적 폭력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통제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경제적 폭력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스토킹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C2C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577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392B"/>
                </a:solidFill>
                <a:latin typeface="+mj-ea"/>
                <a:ea typeface="+mj-ea"/>
                <a:cs typeface="맑은 고딕" pitchFamily="34" charset="-120"/>
              </a:rPr>
              <a:t>여성 3명 중 1명</a:t>
            </a:r>
            <a:r>
              <a:rPr lang="en-US" sz="2400" b="1" dirty="0">
                <a:solidFill>
                  <a:srgbClr val="2C2C2A"/>
                </a:solidFill>
                <a:latin typeface="+mj-ea"/>
                <a:ea typeface="+mj-ea"/>
                <a:cs typeface="맑은 고딕" pitchFamily="34" charset="-120"/>
              </a:rPr>
              <a:t>이 평생 한 번 이상 폭력 피해를 경험</a:t>
            </a:r>
            <a:endParaRPr lang="en-US" sz="2400" b="1" dirty="0">
              <a:latin typeface="+mj-ea"/>
              <a:ea typeface="+mj-ea"/>
            </a:endParaRPr>
          </a:p>
        </p:txBody>
      </p:sp>
      <p:sp>
        <p:nvSpPr>
          <p:cNvPr id="9" name="Text 5"/>
          <p:cNvSpPr/>
          <p:nvPr/>
        </p:nvSpPr>
        <p:spPr>
          <a:xfrm>
            <a:off x="457200" y="6172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6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</a:t>
            </a:r>
            <a:r>
              <a:rPr lang="ko-KR" altLang="en-US" sz="16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r>
              <a:rPr lang="en-US" altLang="ko-KR" sz="16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</a:t>
            </a:r>
            <a:r>
              <a:rPr lang="en-US" sz="16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6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성평등</a:t>
            </a:r>
            <a:r>
              <a:rPr lang="en-US" sz="1600" dirty="0" err="1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가족부</a:t>
            </a:r>
            <a:r>
              <a:rPr lang="en-US" sz="16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'2025</a:t>
            </a:r>
            <a:r>
              <a:rPr lang="ko-KR" altLang="en-US" sz="16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년</a:t>
            </a:r>
            <a:r>
              <a:rPr lang="en-US" sz="16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600" dirty="0" err="1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여성폭력</a:t>
            </a:r>
            <a:r>
              <a:rPr lang="ko-KR" altLang="en-US" sz="16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</a:t>
            </a:r>
            <a:r>
              <a:rPr lang="en-US" altLang="ko-KR" sz="16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’</a:t>
            </a:r>
            <a:r>
              <a:rPr lang="ko-KR" altLang="en-US" sz="16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발표</a:t>
            </a:r>
            <a:r>
              <a:rPr lang="en-US" altLang="ko-KR" sz="16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(2025.12.30.</a:t>
            </a:r>
            <a:r>
              <a:rPr lang="en-US" sz="16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ko-KR" altLang="en-US" sz="16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보도자료</a:t>
            </a:r>
            <a:r>
              <a:rPr lang="en-US" altLang="ko-KR" sz="16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)]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젠더기반폭력 발생구조  </a:t>
            </a:r>
            <a:r>
              <a:rPr lang="en-US" sz="3000" b="1" dirty="0">
                <a:solidFill>
                  <a:srgbClr val="943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성역할 규범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rot="12000000">
            <a:off x="87614" y="1458914"/>
            <a:ext cx="2926080" cy="2926080"/>
          </a:xfrm>
          <a:prstGeom prst="circularArrow">
            <a:avLst/>
          </a:prstGeom>
          <a:solidFill>
            <a:srgbClr val="B4B2A9">
              <a:alpha val="65000"/>
            </a:srgbClr>
          </a:solidFill>
          <a:ln w="12700">
            <a:solidFill>
              <a:srgbClr val="B4B2A9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94360" y="998711"/>
            <a:ext cx="2753504" cy="2841769"/>
          </a:xfrm>
          <a:prstGeom prst="gear9">
            <a:avLst/>
          </a:prstGeom>
          <a:solidFill>
            <a:srgbClr val="E6B9B8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A1F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성역할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5A1F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규범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148840" y="3063240"/>
            <a:ext cx="1874520" cy="1417320"/>
          </a:xfrm>
          <a:prstGeom prst="irregularSeal1">
            <a:avLst/>
          </a:prstGeom>
          <a:solidFill>
            <a:srgbClr val="B3A2C7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젠더기반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4482575"/>
            <a:ext cx="4297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2C2C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공·사 이분화</a:t>
            </a:r>
            <a:endParaRPr lang="en-US" sz="17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2C2C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역할, 다른 가치</a:t>
            </a:r>
            <a:endParaRPr lang="en-US" sz="17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2C2C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사적 영역의 돌봄노동</a:t>
            </a:r>
            <a:endParaRPr lang="en-US" sz="17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2C2C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순종적 역할 수행 강제</a:t>
            </a:r>
            <a:endParaRPr lang="en-US" sz="1700" dirty="0"/>
          </a:p>
          <a:p>
            <a:pPr marL="263525" indent="-263525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젠더규범에서 벗어난 여성 행동에 대한 폭력 허용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297680" y="1188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가사시간 (분, </a:t>
            </a:r>
            <a:r>
              <a:rPr lang="en-US" sz="2000" b="1" dirty="0" err="1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유배우</a:t>
            </a:r>
            <a:r>
              <a:rPr lang="ko-KR" altLang="en-US" sz="2000" b="1" dirty="0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</a:t>
            </a:r>
            <a:r>
              <a:rPr lang="en-US" sz="2000" b="1" dirty="0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가구)</a:t>
            </a:r>
            <a:endParaRPr lang="en-US" sz="200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2809194105"/>
              </p:ext>
            </p:extLst>
          </p:nvPr>
        </p:nvGraphicFramePr>
        <p:xfrm>
          <a:off x="4617552" y="1536192"/>
          <a:ext cx="4252128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023360" y="39776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돌봄노동자 성별 (%)</a:t>
            </a:r>
            <a:endParaRPr lang="en-US" sz="2000" dirty="0"/>
          </a:p>
        </p:txBody>
      </p:sp>
      <p:graphicFrame>
        <p:nvGraphicFramePr>
          <p:cNvPr id="11" name="Chart 1"/>
          <p:cNvGraphicFramePr/>
          <p:nvPr>
            <p:extLst>
              <p:ext uri="{D42A27DB-BD31-4B8C-83A1-F6EECF244321}">
                <p14:modId xmlns:p14="http://schemas.microsoft.com/office/powerpoint/2010/main" val="3953184942"/>
              </p:ext>
            </p:extLst>
          </p:nvPr>
        </p:nvGraphicFramePr>
        <p:xfrm>
          <a:off x="4042902" y="4071055"/>
          <a:ext cx="2240280" cy="2238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6355080" y="39776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시간당 임금 (원)</a:t>
            </a:r>
            <a:endParaRPr lang="en-US" sz="2000" dirty="0"/>
          </a:p>
        </p:txBody>
      </p:sp>
      <p:graphicFrame>
        <p:nvGraphicFramePr>
          <p:cNvPr id="13" name="Chart 2"/>
          <p:cNvGraphicFramePr/>
          <p:nvPr>
            <p:extLst>
              <p:ext uri="{D42A27DB-BD31-4B8C-83A1-F6EECF244321}">
                <p14:modId xmlns:p14="http://schemas.microsoft.com/office/powerpoint/2010/main" val="1863567802"/>
              </p:ext>
            </p:extLst>
          </p:nvPr>
        </p:nvGraphicFramePr>
        <p:xfrm>
          <a:off x="6084168" y="4416551"/>
          <a:ext cx="3059832" cy="17620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Text 9"/>
          <p:cNvSpPr/>
          <p:nvPr/>
        </p:nvSpPr>
        <p:spPr>
          <a:xfrm>
            <a:off x="6456291" y="6007568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여성 = 남성의 72.0%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96864" y="6343147"/>
            <a:ext cx="9047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［출처</a:t>
            </a:r>
            <a:r>
              <a:rPr lang="en-US" altLang="ko-KR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</a:t>
            </a:r>
            <a:r>
              <a:rPr lang="ko-KR" alt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국가데이터처</a:t>
            </a:r>
            <a:r>
              <a:rPr 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'2024 생활시간조사' (유배우 가구, 가사시간 단위: 분)</a:t>
            </a:r>
            <a:r>
              <a:rPr lang="ko-KR" alt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］</a:t>
            </a:r>
            <a:endParaRPr lang="en-US" sz="1400" dirty="0"/>
          </a:p>
          <a:p>
            <a:pPr marL="0" indent="0">
              <a:buNone/>
            </a:pPr>
            <a:r>
              <a:rPr lang="ko-KR" alt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［출처</a:t>
            </a:r>
            <a:r>
              <a:rPr lang="en-US" altLang="ko-KR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</a:t>
            </a:r>
            <a:r>
              <a:rPr lang="ko-KR" alt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고용노동부</a:t>
            </a:r>
            <a:r>
              <a:rPr 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'2025년 고용형태별근로실태조사' (2025.6</a:t>
            </a:r>
            <a:r>
              <a:rPr lang="ko-KR" alt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</a:t>
            </a:r>
            <a:r>
              <a:rPr 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기준, 2026.4.30 </a:t>
            </a:r>
            <a:r>
              <a:rPr lang="en-US" sz="1400" dirty="0" err="1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</a:t>
            </a:r>
            <a:r>
              <a:rPr 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r>
              <a:rPr lang="ko-KR" alt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］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젠더기반폭력 발생구조  </a:t>
            </a:r>
            <a:r>
              <a:rPr lang="en-US" sz="3000" b="1" dirty="0">
                <a:solidFill>
                  <a:srgbClr val="1F6F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성차별 구조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rot="12000000">
            <a:off x="244703" y="1191549"/>
            <a:ext cx="2926080" cy="2926080"/>
          </a:xfrm>
          <a:prstGeom prst="circularArrow">
            <a:avLst/>
          </a:prstGeom>
          <a:solidFill>
            <a:srgbClr val="B4B2A9">
              <a:alpha val="65000"/>
            </a:srgbClr>
          </a:solidFill>
          <a:ln w="12700">
            <a:solidFill>
              <a:srgbClr val="B4B2A9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7584" y="1254197"/>
            <a:ext cx="2377440" cy="2377440"/>
          </a:xfrm>
          <a:prstGeom prst="gear9">
            <a:avLst/>
          </a:prstGeom>
          <a:solidFill>
            <a:srgbClr val="DBEE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C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성차별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0C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377937" y="2221823"/>
            <a:ext cx="1874520" cy="2057400"/>
          </a:xfrm>
          <a:prstGeom prst="irregularSeal1">
            <a:avLst/>
          </a:prstGeom>
          <a:solidFill>
            <a:srgbClr val="B3A2C7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젠더기반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4310256"/>
            <a:ext cx="3886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rgbClr val="2C2C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여성의 과소대표성</a:t>
            </a:r>
            <a:endParaRPr lang="en-US" sz="2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rgbClr val="2C2C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여성의 노동 평가절하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2C2C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사회적 낮은 지위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2C2C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의존의 위치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폭력 대응력 약화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97680" y="11887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국회의원</a:t>
            </a:r>
            <a:r>
              <a:rPr lang="en-US" b="1" dirty="0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b="1" dirty="0" err="1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성별</a:t>
            </a:r>
            <a:r>
              <a:rPr lang="en-US" b="1" dirty="0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(명)</a:t>
            </a:r>
            <a:endParaRPr lang="en-US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3054212905"/>
              </p:ext>
            </p:extLst>
          </p:nvPr>
        </p:nvGraphicFramePr>
        <p:xfrm>
          <a:off x="4297680" y="1508760"/>
          <a:ext cx="224028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297680" y="35478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여성</a:t>
            </a:r>
            <a:r>
              <a:rPr lang="en-US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20.8%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2C2C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184개국 중 120위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629400" y="11887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고용률·비정규직</a:t>
            </a:r>
            <a:r>
              <a:rPr lang="en-US" b="1" dirty="0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(%)</a:t>
            </a:r>
            <a:endParaRPr lang="en-US" dirty="0"/>
          </a:p>
        </p:txBody>
      </p:sp>
      <p:graphicFrame>
        <p:nvGraphicFramePr>
          <p:cNvPr id="12" name="Chart 1"/>
          <p:cNvGraphicFramePr/>
          <p:nvPr>
            <p:extLst>
              <p:ext uri="{D42A27DB-BD31-4B8C-83A1-F6EECF244321}">
                <p14:modId xmlns:p14="http://schemas.microsoft.com/office/powerpoint/2010/main" val="4014945148"/>
              </p:ext>
            </p:extLst>
          </p:nvPr>
        </p:nvGraphicFramePr>
        <p:xfrm>
          <a:off x="6300192" y="1508760"/>
          <a:ext cx="2736304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9"/>
          <p:cNvSpPr/>
          <p:nvPr/>
        </p:nvSpPr>
        <p:spPr>
          <a:xfrm>
            <a:off x="4297680" y="4297680"/>
            <a:ext cx="4572000" cy="1783080"/>
          </a:xfrm>
          <a:prstGeom prst="rect">
            <a:avLst/>
          </a:prstGeom>
          <a:solidFill>
            <a:srgbClr val="F6F5FD"/>
          </a:solidFill>
          <a:ln w="12700">
            <a:solidFill>
              <a:srgbClr val="AFA9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4480560" y="4389120"/>
            <a:ext cx="4297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남녀 임금격차 29%</a:t>
            </a:r>
            <a:endParaRPr lang="en-US" sz="2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2C2C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OECD 평균(10.1%)의 약 2.9배</a:t>
            </a:r>
            <a:endParaRPr lang="en-US" sz="2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유리천장지수</a:t>
            </a:r>
            <a:endParaRPr lang="en-US" sz="2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2C2C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OECD 29개국 중 28위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107504" y="632764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altLang="ko-KR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</a:t>
            </a:r>
            <a:r>
              <a:rPr lang="ko-KR" alt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r>
              <a:rPr lang="en-US" altLang="ko-KR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</a:t>
            </a:r>
            <a:r>
              <a:rPr lang="ko-KR" alt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국제의</a:t>
            </a:r>
            <a:r>
              <a:rPr lang="ko-KR" altLang="en-US" sz="12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</a:t>
            </a:r>
            <a:r>
              <a:rPr lang="en-US" sz="1200" dirty="0" err="1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연맹</a:t>
            </a:r>
            <a:r>
              <a:rPr lang="en-US" sz="12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(IPU, 2026) / 국가데이터처 '경제활동인구조사' 고용률 2026.6(15세 이상), 비정규직 비율 2025.8 </a:t>
            </a:r>
            <a:r>
              <a:rPr lang="en-US" sz="1200" dirty="0" err="1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부가조사</a:t>
            </a:r>
            <a:r>
              <a:rPr 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]</a:t>
            </a:r>
            <a:endParaRPr lang="en-US" sz="1400" dirty="0"/>
          </a:p>
          <a:p>
            <a:pPr marL="0" indent="0">
              <a:buNone/>
            </a:pPr>
            <a:r>
              <a:rPr lang="en-US" altLang="ko-KR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</a:t>
            </a:r>
            <a:r>
              <a:rPr lang="ko-KR" alt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r>
              <a:rPr lang="en-US" altLang="ko-KR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</a:t>
            </a:r>
            <a:r>
              <a:rPr lang="ko-KR" alt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OECD 성별 임금격차(2024년 기준) / 영국 이코노미스트 유리천장지수(2026.3.8발표), </a:t>
            </a:r>
            <a:r>
              <a:rPr lang="ko-KR" alt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여성신문</a:t>
            </a:r>
            <a:r>
              <a:rPr lang="en-US" altLang="ko-KR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(2026.3.20.)</a:t>
            </a:r>
            <a:r>
              <a:rPr 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]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젠더기반폭력 발생구조  </a:t>
            </a:r>
            <a:r>
              <a:rPr lang="en-US" sz="3000" b="1" dirty="0">
                <a:solidFill>
                  <a:srgbClr val="6B5B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성별 권력관계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rot="12000000">
            <a:off x="87614" y="1320878"/>
            <a:ext cx="2926080" cy="2926080"/>
          </a:xfrm>
          <a:prstGeom prst="circularArrow">
            <a:avLst/>
          </a:prstGeom>
          <a:solidFill>
            <a:srgbClr val="B4B2A9">
              <a:alpha val="65000"/>
            </a:srgbClr>
          </a:solidFill>
          <a:ln w="12700">
            <a:solidFill>
              <a:srgbClr val="B4B2A9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67544" y="1042416"/>
            <a:ext cx="2808312" cy="2798064"/>
          </a:xfrm>
          <a:prstGeom prst="gear9">
            <a:avLst/>
          </a:prstGeom>
          <a:solidFill>
            <a:srgbClr val="DDD9C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D3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성별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3D3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권력관계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784436" y="2672232"/>
            <a:ext cx="2240280" cy="2103120"/>
          </a:xfrm>
          <a:prstGeom prst="irregularSeal1">
            <a:avLst/>
          </a:prstGeom>
          <a:solidFill>
            <a:srgbClr val="B3A2C7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젠더기반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4526280"/>
            <a:ext cx="3886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rgbClr val="2C2C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성별 위계질서</a:t>
            </a:r>
            <a:endParaRPr lang="en-US" sz="2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rgbClr val="2C2C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남성 = '리더', '가부장'의 특권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2C2C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여성은 보호와 통제의 대상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폭력은 통제와 지배의 수단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87422" y="1175201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이별 </a:t>
            </a:r>
            <a:r>
              <a:rPr lang="en-US" sz="1400" b="1" dirty="0" err="1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전후</a:t>
            </a:r>
            <a:r>
              <a:rPr lang="en-US" sz="1400" b="1" dirty="0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b="1" dirty="0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폭력 </a:t>
            </a:r>
            <a:r>
              <a:rPr lang="en-US" sz="1400" b="1" dirty="0" err="1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피해율</a:t>
            </a:r>
            <a:r>
              <a:rPr lang="en-US" sz="1400" b="1" dirty="0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(%)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1657297763"/>
              </p:ext>
            </p:extLst>
          </p:nvPr>
        </p:nvGraphicFramePr>
        <p:xfrm>
          <a:off x="4211043" y="1522673"/>
          <a:ext cx="224028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6794395" y="120883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62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100대 기업 임원 (%)</a:t>
            </a:r>
            <a:endParaRPr lang="en-US" dirty="0"/>
          </a:p>
        </p:txBody>
      </p:sp>
      <p:graphicFrame>
        <p:nvGraphicFramePr>
          <p:cNvPr id="11" name="Chart 1"/>
          <p:cNvGraphicFramePr/>
          <p:nvPr>
            <p:extLst>
              <p:ext uri="{D42A27DB-BD31-4B8C-83A1-F6EECF244321}">
                <p14:modId xmlns:p14="http://schemas.microsoft.com/office/powerpoint/2010/main" val="1090686250"/>
              </p:ext>
            </p:extLst>
          </p:nvPr>
        </p:nvGraphicFramePr>
        <p:xfrm>
          <a:off x="6651444" y="1418204"/>
          <a:ext cx="224028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880E3948-6880-4A98-9594-DFF6B7195FB3}"/>
              </a:ext>
            </a:extLst>
          </p:cNvPr>
          <p:cNvGrpSpPr/>
          <p:nvPr/>
        </p:nvGrpSpPr>
        <p:grpSpPr>
          <a:xfrm>
            <a:off x="3989807" y="3717032"/>
            <a:ext cx="5064110" cy="2368296"/>
            <a:chOff x="3950784" y="3996730"/>
            <a:chExt cx="4964616" cy="2368296"/>
          </a:xfrm>
        </p:grpSpPr>
        <p:sp>
          <p:nvSpPr>
            <p:cNvPr id="13" name="Shape 9"/>
            <p:cNvSpPr/>
            <p:nvPr/>
          </p:nvSpPr>
          <p:spPr>
            <a:xfrm>
              <a:off x="3950784" y="4031966"/>
              <a:ext cx="4945752" cy="2323114"/>
            </a:xfrm>
            <a:prstGeom prst="rect">
              <a:avLst/>
            </a:prstGeom>
            <a:solidFill>
              <a:srgbClr val="FAF9F5"/>
            </a:solidFill>
            <a:ln w="12700">
              <a:solidFill>
                <a:srgbClr val="B4B2A9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Text 10"/>
            <p:cNvSpPr/>
            <p:nvPr/>
          </p:nvSpPr>
          <p:spPr>
            <a:xfrm>
              <a:off x="4118144" y="3996730"/>
              <a:ext cx="4797256" cy="23682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spcAft>
                  <a:spcPts val="100"/>
                </a:spcAft>
                <a:buNone/>
              </a:pPr>
              <a:r>
                <a:rPr lang="en-US" sz="2000" b="1" dirty="0">
                  <a:solidFill>
                    <a:srgbClr val="26215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2026</a:t>
              </a:r>
              <a:r>
                <a:rPr lang="ko-KR" altLang="en-US" sz="2000" b="1" dirty="0">
                  <a:solidFill>
                    <a:srgbClr val="26215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년</a:t>
              </a:r>
              <a:r>
                <a:rPr lang="en-US" sz="2000" b="1" dirty="0">
                  <a:solidFill>
                    <a:srgbClr val="26215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sz="2000" b="1" dirty="0" err="1">
                  <a:solidFill>
                    <a:srgbClr val="26215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주요</a:t>
              </a:r>
              <a:r>
                <a:rPr lang="en-US" sz="2000" b="1" dirty="0">
                  <a:solidFill>
                    <a:srgbClr val="26215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2000" b="1" dirty="0">
                  <a:solidFill>
                    <a:srgbClr val="26215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언론</a:t>
              </a:r>
              <a:r>
                <a:rPr lang="en-US" sz="2000" b="1" dirty="0" err="1">
                  <a:solidFill>
                    <a:srgbClr val="26215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보도</a:t>
              </a:r>
              <a:r>
                <a:rPr lang="en-US" sz="2000" b="1" dirty="0">
                  <a:solidFill>
                    <a:srgbClr val="26215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2000" b="1" dirty="0">
                  <a:solidFill>
                    <a:srgbClr val="26215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자료</a:t>
              </a:r>
              <a:endParaRPr lang="en-US" sz="2000" b="1" dirty="0"/>
            </a:p>
            <a:p>
              <a:pPr marL="177800" indent="-177800">
                <a:spcAft>
                  <a:spcPts val="100"/>
                </a:spcAft>
                <a:buNone/>
              </a:pPr>
              <a:r>
                <a:rPr lang="en-US" sz="1700" b="1" dirty="0">
                  <a:solidFill>
                    <a:srgbClr val="2C2C2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“</a:t>
              </a:r>
              <a:r>
                <a:rPr lang="en-US" sz="1700" b="1" dirty="0" err="1">
                  <a:solidFill>
                    <a:srgbClr val="2C2C2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감히</a:t>
              </a:r>
              <a:r>
                <a:rPr lang="en-US" sz="1700" b="1" dirty="0">
                  <a:solidFill>
                    <a:srgbClr val="2C2C2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날 </a:t>
              </a:r>
              <a:r>
                <a:rPr lang="en-US" sz="1700" b="1" dirty="0" err="1">
                  <a:solidFill>
                    <a:srgbClr val="2C2C2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신고해</a:t>
              </a:r>
              <a:r>
                <a:rPr lang="en-US" sz="1700" b="1" dirty="0">
                  <a:solidFill>
                    <a:srgbClr val="2C2C2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?”…전처 성폭행 후 직장 </a:t>
              </a:r>
              <a:r>
                <a:rPr lang="en-US" sz="1700" b="1" dirty="0" err="1">
                  <a:solidFill>
                    <a:srgbClr val="2C2C2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찾아가</a:t>
              </a:r>
              <a:r>
                <a:rPr lang="en-US" sz="1700" b="1" dirty="0">
                  <a:solidFill>
                    <a:srgbClr val="2C2C2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sz="1700" b="1" dirty="0" err="1">
                  <a:solidFill>
                    <a:srgbClr val="2C2C2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살해한</a:t>
              </a:r>
              <a:r>
                <a:rPr lang="en-US" sz="1700" b="1" dirty="0">
                  <a:solidFill>
                    <a:srgbClr val="2C2C2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30대男   </a:t>
              </a:r>
              <a:r>
                <a:rPr lang="en-US" sz="1600" b="1" dirty="0">
                  <a:solidFill>
                    <a:srgbClr val="0070C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[</a:t>
              </a:r>
              <a:r>
                <a:rPr lang="en-US" sz="1600" b="1" dirty="0" err="1">
                  <a:solidFill>
                    <a:srgbClr val="0070C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매일경제</a:t>
              </a:r>
              <a:r>
                <a:rPr lang="en-US" sz="1600" b="1" dirty="0">
                  <a:solidFill>
                    <a:srgbClr val="0070C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, 2026.5.26.]</a:t>
              </a:r>
            </a:p>
            <a:p>
              <a:pPr marL="0" indent="0">
                <a:spcAft>
                  <a:spcPts val="100"/>
                </a:spcAft>
                <a:buNone/>
              </a:pPr>
              <a:endParaRPr lang="en-US" sz="600" b="1" dirty="0"/>
            </a:p>
            <a:p>
              <a:pPr marL="0" indent="0">
                <a:spcAft>
                  <a:spcPts val="100"/>
                </a:spcAft>
                <a:buNone/>
              </a:pPr>
              <a:r>
                <a:rPr lang="en-US" sz="1600" b="1" dirty="0">
                  <a:solidFill>
                    <a:srgbClr val="2C2C2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b="1" dirty="0" err="1">
                  <a:solidFill>
                    <a:srgbClr val="2C2C2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담배</a:t>
              </a:r>
              <a:r>
                <a:rPr lang="en-US" b="1" dirty="0">
                  <a:solidFill>
                    <a:srgbClr val="2C2C2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냄새에 찡그렸다고…버스정류장서 </a:t>
              </a:r>
              <a:r>
                <a:rPr lang="en-US" b="1" dirty="0" err="1">
                  <a:solidFill>
                    <a:srgbClr val="2C2C2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여성</a:t>
              </a:r>
              <a:r>
                <a:rPr lang="en-US" b="1" dirty="0">
                  <a:solidFill>
                    <a:srgbClr val="2C2C2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</a:p>
            <a:p>
              <a:pPr marL="0" indent="0">
                <a:spcAft>
                  <a:spcPts val="100"/>
                </a:spcAft>
                <a:buNone/>
              </a:pPr>
              <a:r>
                <a:rPr lang="en-US" b="1" dirty="0">
                  <a:solidFill>
                    <a:srgbClr val="2C2C2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b="1" dirty="0" err="1">
                  <a:solidFill>
                    <a:srgbClr val="2C2C2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무차별</a:t>
              </a:r>
              <a:r>
                <a:rPr lang="en-US" b="1" dirty="0">
                  <a:solidFill>
                    <a:srgbClr val="2C2C2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b="1" dirty="0" err="1">
                  <a:solidFill>
                    <a:srgbClr val="2C2C2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폭행</a:t>
              </a:r>
              <a:r>
                <a:rPr lang="en-US" b="1" dirty="0">
                  <a:solidFill>
                    <a:srgbClr val="2C2C2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  </a:t>
              </a:r>
              <a:r>
                <a:rPr lang="en-US" sz="1600" b="1" dirty="0">
                  <a:solidFill>
                    <a:srgbClr val="0070C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[</a:t>
              </a:r>
              <a:r>
                <a:rPr lang="ko-KR" altLang="en-US" sz="1600" b="1" dirty="0">
                  <a:solidFill>
                    <a:srgbClr val="0070C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동</a:t>
              </a:r>
              <a:r>
                <a:rPr lang="en-US" sz="1600" b="1" dirty="0" err="1">
                  <a:solidFill>
                    <a:srgbClr val="0070C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아일보</a:t>
              </a:r>
              <a:r>
                <a:rPr lang="en-US" sz="1600" b="1" dirty="0">
                  <a:solidFill>
                    <a:srgbClr val="0070C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, 2026.1.29.]</a:t>
              </a:r>
            </a:p>
            <a:p>
              <a:pPr marL="0" indent="0">
                <a:spcAft>
                  <a:spcPts val="100"/>
                </a:spcAft>
                <a:buNone/>
              </a:pPr>
              <a:endParaRPr lang="en-US" sz="600" b="1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endParaRPr>
            </a:p>
            <a:p>
              <a:pPr marL="0" indent="0">
                <a:spcAft>
                  <a:spcPts val="100"/>
                </a:spcAft>
                <a:buNone/>
              </a:pPr>
              <a:r>
                <a:rPr lang="en-US" sz="1700" b="1" dirty="0">
                  <a:solidFill>
                    <a:srgbClr val="2C2C2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"잔소리 심해"…'흉기로 아내 살인미수' 80대 체포</a:t>
              </a:r>
              <a:endParaRPr lang="en-US" sz="1700" b="1" dirty="0"/>
            </a:p>
            <a:p>
              <a:pPr marL="0" indent="0">
                <a:spcAft>
                  <a:spcPts val="100"/>
                </a:spcAft>
                <a:buNone/>
              </a:pPr>
              <a:r>
                <a:rPr lang="en-US" sz="1600" b="1" dirty="0">
                  <a:solidFill>
                    <a:srgbClr val="0070C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[OBS, 2026.3.9.]</a:t>
              </a:r>
              <a:endParaRPr lang="en-US" sz="2400" b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15" name="Text 11"/>
          <p:cNvSpPr/>
          <p:nvPr/>
        </p:nvSpPr>
        <p:spPr>
          <a:xfrm>
            <a:off x="179512" y="6355080"/>
            <a:ext cx="88551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</a:t>
            </a:r>
            <a:r>
              <a:rPr lang="ko-KR" alt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r>
              <a:rPr lang="en-US" altLang="ko-KR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</a:t>
            </a:r>
            <a:r>
              <a:rPr lang="en-US" sz="1400" dirty="0" err="1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성평등가족부</a:t>
            </a:r>
            <a:r>
              <a:rPr 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'2025년 가정폭력 실태조사' (2026.7.30 발표, 이혼·별거·동거 종료 경험자 </a:t>
            </a:r>
            <a:r>
              <a:rPr lang="en-US" sz="1400" dirty="0" err="1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</a:t>
            </a:r>
            <a:r>
              <a:rPr 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</a:t>
            </a:r>
            <a:r>
              <a:rPr lang="ko-KR" alt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r>
              <a:rPr lang="en-US" altLang="ko-KR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</a:t>
            </a:r>
            <a:r>
              <a:rPr lang="en-US" sz="1400" dirty="0">
                <a:solidFill>
                  <a:srgbClr val="5F5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CEO스코어, 시총 100대 상장사 임원 현황(2026년 1분기)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EFEA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28072" y="160020"/>
            <a:ext cx="8487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경상국립대학교의 </a:t>
            </a:r>
            <a:r>
              <a:rPr lang="en-US" sz="28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</a:t>
            </a:r>
            <a:r>
              <a:rPr lang="en-US" sz="2800" b="1" dirty="0" err="1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구조는</a:t>
            </a:r>
            <a:r>
              <a:rPr lang="en-US" sz="28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어떨까요</a:t>
            </a:r>
            <a:r>
              <a:rPr lang="en-US" sz="20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EFEA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</a:t>
            </a:r>
            <a:r>
              <a:rPr lang="en-US" sz="2000" b="1" dirty="0" err="1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</a:t>
            </a:r>
            <a:r>
              <a:rPr lang="en-US" sz="20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여성비율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44.1%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6C5B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전임교</a:t>
            </a: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</a:t>
            </a: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여성비율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21.3%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8046720" cy="592658"/>
          </a:xfrm>
          <a:prstGeom prst="rect">
            <a:avLst/>
          </a:prstGeom>
          <a:solidFill>
            <a:srgbClr val="FDFDFD"/>
          </a:solidFill>
          <a:ln w="6350">
            <a:solidFill>
              <a:srgbClr val="EFEA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31519" y="3291839"/>
            <a:ext cx="7863841" cy="5857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주요보직자 </a:t>
            </a:r>
            <a:r>
              <a:rPr lang="en-US" b="1" dirty="0" err="1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여성비율</a:t>
            </a:r>
            <a:r>
              <a:rPr lang="en-US" altLang="ko-KR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</a:t>
            </a:r>
            <a:r>
              <a:rPr lang="ko-KR" altLang="en-US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총장</a:t>
            </a:r>
            <a:r>
              <a:rPr lang="en-US" altLang="ko-KR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부총장</a:t>
            </a:r>
            <a:r>
              <a:rPr lang="en-US" altLang="ko-KR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</a:t>
            </a:r>
            <a:r>
              <a:rPr lang="en-US" altLang="ko-KR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ko-KR" altLang="en-US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</a:t>
            </a:r>
            <a:r>
              <a:rPr lang="en-US" altLang="ko-KR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ko-KR" altLang="en-US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본부장</a:t>
            </a:r>
            <a:r>
              <a:rPr lang="en-US" altLang="ko-KR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</a:t>
            </a:r>
            <a:r>
              <a:rPr lang="en-US" altLang="ko-KR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</a:t>
            </a:r>
            <a:r>
              <a:rPr lang="en-US" altLang="ko-KR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</a:t>
            </a:r>
            <a:r>
              <a:rPr lang="en-US" altLang="ko-KR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        </a:t>
            </a:r>
            <a:r>
              <a:rPr lang="en-US" altLang="ko-KR" sz="24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9.7%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005064"/>
            <a:ext cx="8046720" cy="592659"/>
          </a:xfrm>
          <a:prstGeom prst="rect">
            <a:avLst/>
          </a:prstGeom>
          <a:solidFill>
            <a:srgbClr val="EFEAF3"/>
          </a:solidFill>
          <a:ln w="6350">
            <a:solidFill>
              <a:srgbClr val="EFEA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31520" y="4005064"/>
            <a:ext cx="7944936" cy="592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기타보직자</a:t>
            </a:r>
            <a:r>
              <a:rPr lang="en-US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b="1" dirty="0" err="1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여성비율</a:t>
            </a:r>
            <a:r>
              <a:rPr lang="en-US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부처</a:t>
            </a:r>
            <a:r>
              <a:rPr lang="en-US" altLang="ko-KR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</a:t>
            </a:r>
            <a:r>
              <a:rPr lang="en-US" altLang="ko-KR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</a:t>
            </a:r>
            <a:r>
              <a:rPr lang="en-US" altLang="ko-KR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600" b="1" dirty="0" err="1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부학</a:t>
            </a:r>
            <a:r>
              <a:rPr lang="en-US" altLang="ko-KR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</a:t>
            </a:r>
            <a:r>
              <a:rPr lang="en-US" altLang="ko-KR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</a:t>
            </a:r>
            <a:r>
              <a:rPr lang="en-US" altLang="ko-KR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부속기관장</a:t>
            </a:r>
            <a:r>
              <a:rPr lang="en-US" altLang="ko-KR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연구소장</a:t>
            </a:r>
            <a:r>
              <a:rPr lang="en-US" altLang="ko-KR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  </a:t>
            </a:r>
            <a:r>
              <a:rPr lang="en-US" altLang="ko-KR" sz="24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18.13%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4692573"/>
            <a:ext cx="8046720" cy="795528"/>
          </a:xfrm>
          <a:prstGeom prst="rect">
            <a:avLst/>
          </a:prstGeom>
          <a:solidFill>
            <a:srgbClr val="EFEAF3"/>
          </a:solidFill>
          <a:ln w="6350">
            <a:solidFill>
              <a:srgbClr val="EFEA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31520" y="4908626"/>
            <a:ext cx="7863840" cy="296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위원회 </a:t>
            </a:r>
            <a:r>
              <a:rPr lang="en-US" b="1" dirty="0" err="1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여성비율</a:t>
            </a:r>
            <a:r>
              <a:rPr lang="en-US" altLang="ko-KR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</a:t>
            </a:r>
            <a:r>
              <a:rPr lang="ko-KR" altLang="en-US" sz="1600" b="1" dirty="0" err="1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교학</a:t>
            </a:r>
            <a:r>
              <a:rPr lang="en-US" altLang="ko-KR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ko-KR" altLang="en-US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</a:t>
            </a:r>
            <a:r>
              <a:rPr lang="en-US" altLang="ko-KR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ko-KR" altLang="en-US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</a:t>
            </a:r>
            <a:r>
              <a:rPr lang="en-US" altLang="ko-KR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ko-KR" altLang="en-US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대학원</a:t>
            </a:r>
            <a:r>
              <a:rPr lang="en-US" altLang="ko-KR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ko-KR" altLang="en-US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재정</a:t>
            </a:r>
            <a:r>
              <a:rPr lang="en-US" altLang="ko-KR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ko-KR" altLang="en-US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대학평의원회</a:t>
            </a:r>
            <a:r>
              <a:rPr lang="en-US" altLang="ko-KR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     </a:t>
            </a:r>
            <a:r>
              <a:rPr lang="en-US" altLang="ko-KR" sz="24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8.62% </a:t>
            </a:r>
            <a:endParaRPr lang="en-US" altLang="ko-KR" sz="2000" b="1" dirty="0">
              <a:solidFill>
                <a:srgbClr val="FF0000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20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                                            </a:t>
            </a:r>
            <a:r>
              <a:rPr lang="en-US" altLang="ko-KR" sz="1600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600" dirty="0" err="1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재정위원회·대학평의원회</a:t>
            </a:r>
            <a:r>
              <a:rPr lang="en-US" altLang="ko-KR" sz="1600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0%)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75F05F2-E52F-4B41-90B5-ECB66B118F47}"/>
              </a:ext>
            </a:extLst>
          </p:cNvPr>
          <p:cNvGrpSpPr/>
          <p:nvPr/>
        </p:nvGrpSpPr>
        <p:grpSpPr>
          <a:xfrm>
            <a:off x="548640" y="5599499"/>
            <a:ext cx="8046720" cy="648112"/>
            <a:chOff x="548640" y="5340096"/>
            <a:chExt cx="8046720" cy="648112"/>
          </a:xfrm>
        </p:grpSpPr>
        <p:sp>
          <p:nvSpPr>
            <p:cNvPr id="22" name="Shape 20"/>
            <p:cNvSpPr/>
            <p:nvPr/>
          </p:nvSpPr>
          <p:spPr>
            <a:xfrm>
              <a:off x="548640" y="5340096"/>
              <a:ext cx="8046720" cy="648112"/>
            </a:xfrm>
            <a:prstGeom prst="rect">
              <a:avLst/>
            </a:prstGeom>
            <a:solidFill>
              <a:srgbClr val="FDFDFD"/>
            </a:solidFill>
            <a:ln w="6350">
              <a:solidFill>
                <a:srgbClr val="EFEAF3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Text 21"/>
            <p:cNvSpPr/>
            <p:nvPr/>
          </p:nvSpPr>
          <p:spPr>
            <a:xfrm>
              <a:off x="731520" y="5340096"/>
              <a:ext cx="2832368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3B305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참고: 국회의원 여성비율</a:t>
              </a:r>
              <a:endParaRPr lang="en-US" sz="16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3851920" y="5401845"/>
              <a:ext cx="45605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20.8%(62/298명), 184개국 중 120위</a:t>
              </a:r>
            </a:p>
            <a:p>
              <a:pPr marL="0" indent="0" algn="r">
                <a:buNone/>
              </a:pPr>
              <a:r>
                <a:rPr lang="en-US" sz="14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</a:rPr>
                <a:t>[ </a:t>
              </a:r>
              <a:r>
                <a:rPr lang="ko-KR" altLang="en-US" sz="14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</a:rPr>
                <a:t>국제의원연맹 </a:t>
              </a:r>
              <a:r>
                <a:rPr lang="en-US" altLang="ko-KR" sz="14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</a:rPr>
                <a:t>2026</a:t>
              </a:r>
              <a:r>
                <a:rPr lang="ko-KR" altLang="en-US" sz="14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</a:rPr>
                <a:t> 여성 정치 보고서 기준 </a:t>
              </a:r>
              <a:r>
                <a:rPr lang="en-US" altLang="ko-KR" sz="14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</a:rPr>
                <a:t>]</a:t>
              </a:r>
              <a:endParaRPr lang="en-US" sz="1400" b="1" dirty="0"/>
            </a:p>
          </p:txBody>
        </p:sp>
      </p:grpSp>
      <p:sp>
        <p:nvSpPr>
          <p:cNvPr id="26" name="Text 24"/>
          <p:cNvSpPr/>
          <p:nvPr/>
        </p:nvSpPr>
        <p:spPr>
          <a:xfrm>
            <a:off x="731520" y="5852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" y="5852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2202" y="6402711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62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「2026년 국립대학 양성평등조치계획 추진실적 </a:t>
            </a:r>
            <a:r>
              <a:rPr lang="en-US" sz="1400" dirty="0" err="1">
                <a:solidFill>
                  <a:srgbClr val="6B62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</a:t>
            </a:r>
            <a:r>
              <a:rPr lang="en-US" sz="1400" dirty="0">
                <a:solidFill>
                  <a:srgbClr val="6B62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」 3.1~3.3, </a:t>
            </a:r>
            <a:r>
              <a:rPr lang="en-US" altLang="ko-KR" sz="1400" dirty="0" err="1">
                <a:solidFill>
                  <a:srgbClr val="6B62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경상국립대학교</a:t>
            </a:r>
            <a:r>
              <a:rPr lang="en-US" altLang="ko-KR" sz="1400" dirty="0">
                <a:solidFill>
                  <a:srgbClr val="6B62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(2026)</a:t>
            </a:r>
            <a:endParaRPr lang="en-US" sz="1400" dirty="0">
              <a:solidFill>
                <a:srgbClr val="6B627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55F077-2104-4B5B-9D98-F9C7AFA55D88}"/>
              </a:ext>
            </a:extLst>
          </p:cNvPr>
          <p:cNvSpPr txBox="1"/>
          <p:nvPr/>
        </p:nvSpPr>
        <p:spPr>
          <a:xfrm>
            <a:off x="6414512" y="793988"/>
            <a:ext cx="276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[2025</a:t>
            </a:r>
            <a:r>
              <a:rPr lang="ko-KR" altLang="en-US" sz="16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 </a:t>
            </a:r>
            <a:r>
              <a:rPr lang="en-US" altLang="ko-KR" sz="16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r>
              <a:rPr lang="ko-KR" altLang="en-US" sz="16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</a:t>
            </a:r>
            <a:r>
              <a:rPr lang="en-US" altLang="ko-KR" sz="16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r>
              <a:rPr lang="ko-KR" altLang="en-US" sz="16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일자 기준</a:t>
            </a:r>
            <a:r>
              <a:rPr lang="en-US" altLang="ko-KR" sz="16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-44945"/>
            <a:ext cx="9144000" cy="1051560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288644" y="308610"/>
            <a:ext cx="884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 err="1">
                <a:solidFill>
                  <a:srgbClr val="26215C"/>
                </a:solidFill>
                <a:latin typeface="+mj-ea"/>
                <a:ea typeface="+mj-ea"/>
                <a:cs typeface="맑은 고딕" pitchFamily="34" charset="-120"/>
              </a:rPr>
              <a:t>젠더기반폭력</a:t>
            </a:r>
            <a:r>
              <a:rPr lang="ko-KR" altLang="en-US" sz="3000" b="1" dirty="0">
                <a:solidFill>
                  <a:srgbClr val="26215C"/>
                </a:solidFill>
                <a:latin typeface="+mj-ea"/>
                <a:ea typeface="+mj-ea"/>
                <a:cs typeface="맑은 고딕" pitchFamily="34" charset="-120"/>
              </a:rPr>
              <a:t> 발생구조</a:t>
            </a:r>
            <a:r>
              <a:rPr lang="en-US" altLang="ko-KR" sz="3000" b="1" dirty="0">
                <a:solidFill>
                  <a:srgbClr val="26215C"/>
                </a:solidFill>
                <a:latin typeface="+mj-ea"/>
                <a:ea typeface="+mj-ea"/>
                <a:cs typeface="맑은 고딕" pitchFamily="34" charset="-120"/>
              </a:rPr>
              <a:t>(</a:t>
            </a:r>
            <a:r>
              <a:rPr lang="ko-KR" altLang="en-US" sz="3000" b="1" dirty="0">
                <a:solidFill>
                  <a:srgbClr val="26215C"/>
                </a:solidFill>
                <a:latin typeface="+mj-ea"/>
                <a:ea typeface="+mj-ea"/>
                <a:cs typeface="맑은 고딕" pitchFamily="34" charset="-120"/>
              </a:rPr>
              <a:t>원인</a:t>
            </a:r>
            <a:r>
              <a:rPr lang="en-US" altLang="ko-KR" sz="3000" b="1" dirty="0">
                <a:solidFill>
                  <a:srgbClr val="26215C"/>
                </a:solidFill>
                <a:latin typeface="+mj-ea"/>
                <a:ea typeface="+mj-ea"/>
                <a:cs typeface="맑은 고딕" pitchFamily="34" charset="-120"/>
              </a:rPr>
              <a:t>)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4" name="Subtitle"/>
          <p:cNvSpPr txBox="1"/>
          <p:nvPr/>
        </p:nvSpPr>
        <p:spPr>
          <a:xfrm>
            <a:off x="411480" y="1387253"/>
            <a:ext cx="8321040" cy="67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444441"/>
                </a:solidFill>
                <a:latin typeface="+mj-ea"/>
                <a:ea typeface="+mj-ea"/>
                <a:cs typeface="맑은 고딕" pitchFamily="34" charset="-120"/>
              </a:rPr>
              <a:t>폭력 행위·유형·사례 하나하나에 집중하기보다, 젠더기반폭력 유형들을 관통하는 근본적·구조적 원인을 분석하여 전체를 통합적으로 바라봅니다.</a:t>
            </a:r>
            <a:endParaRPr lang="en-US" sz="2400" b="1" dirty="0">
              <a:latin typeface="+mj-ea"/>
              <a:ea typeface="+mj-ea"/>
            </a:endParaRPr>
          </a:p>
        </p:txBody>
      </p:sp>
      <p:sp>
        <p:nvSpPr>
          <p:cNvPr id="5" name="Gear stereotype"/>
          <p:cNvSpPr/>
          <p:nvPr/>
        </p:nvSpPr>
        <p:spPr>
          <a:xfrm>
            <a:off x="107504" y="3932145"/>
            <a:ext cx="1025272" cy="960120"/>
          </a:xfrm>
          <a:prstGeom prst="gear6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4441"/>
                </a:solidFill>
                <a:latin typeface="+mj-ea"/>
                <a:ea typeface="+mj-ea"/>
                <a:cs typeface="맑은 고딕" pitchFamily="34" charset="-120"/>
              </a:rPr>
              <a:t>성별</a:t>
            </a:r>
            <a:endParaRPr lang="en-US" sz="1000" dirty="0">
              <a:latin typeface="+mj-ea"/>
              <a:ea typeface="+mj-ea"/>
            </a:endParaRPr>
          </a:p>
          <a:p>
            <a:pPr algn="ctr"/>
            <a:r>
              <a:rPr lang="en-US" sz="1000" b="1" dirty="0">
                <a:solidFill>
                  <a:srgbClr val="444441"/>
                </a:solidFill>
                <a:latin typeface="+mj-ea"/>
                <a:ea typeface="+mj-ea"/>
                <a:cs typeface="맑은 고딕" pitchFamily="34" charset="-120"/>
              </a:rPr>
              <a:t>고정관념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6" name="Gear gender norms"/>
          <p:cNvSpPr/>
          <p:nvPr/>
        </p:nvSpPr>
        <p:spPr>
          <a:xfrm>
            <a:off x="620140" y="2615178"/>
            <a:ext cx="1783080" cy="1783080"/>
          </a:xfrm>
          <a:prstGeom prst="gear9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4342C"/>
                </a:solidFill>
                <a:latin typeface="+mj-ea"/>
                <a:ea typeface="+mj-ea"/>
                <a:cs typeface="맑은 고딕" pitchFamily="34" charset="-120"/>
              </a:rPr>
              <a:t>성역할</a:t>
            </a:r>
            <a:endParaRPr lang="en-US" sz="2400" dirty="0">
              <a:latin typeface="+mj-ea"/>
              <a:ea typeface="+mj-ea"/>
            </a:endParaRPr>
          </a:p>
          <a:p>
            <a:pPr algn="ctr"/>
            <a:r>
              <a:rPr lang="en-US" sz="2400" b="1" dirty="0">
                <a:solidFill>
                  <a:srgbClr val="04342C"/>
                </a:solidFill>
                <a:latin typeface="+mj-ea"/>
                <a:ea typeface="+mj-ea"/>
                <a:cs typeface="맑은 고딕" pitchFamily="34" charset="-120"/>
              </a:rPr>
              <a:t>규범</a:t>
            </a:r>
            <a:endParaRPr lang="en-US" sz="2400" dirty="0">
              <a:latin typeface="+mj-ea"/>
              <a:ea typeface="+mj-ea"/>
            </a:endParaRPr>
          </a:p>
        </p:txBody>
      </p:sp>
      <p:sp>
        <p:nvSpPr>
          <p:cNvPr id="7" name="Gear discrimination"/>
          <p:cNvSpPr/>
          <p:nvPr/>
        </p:nvSpPr>
        <p:spPr>
          <a:xfrm>
            <a:off x="2334640" y="2420888"/>
            <a:ext cx="1783080" cy="1783080"/>
          </a:xfrm>
          <a:prstGeom prst="gear9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26215C"/>
                </a:solidFill>
                <a:latin typeface="+mj-ea"/>
                <a:ea typeface="+mj-ea"/>
                <a:cs typeface="맑은 고딕" pitchFamily="34" charset="-120"/>
              </a:rPr>
              <a:t>성차별</a:t>
            </a:r>
            <a:endParaRPr lang="en-US" sz="2400" dirty="0">
              <a:latin typeface="+mj-ea"/>
              <a:ea typeface="+mj-ea"/>
            </a:endParaRPr>
          </a:p>
          <a:p>
            <a:pPr algn="ctr"/>
            <a:r>
              <a:rPr lang="en-US" sz="2400" b="1" dirty="0">
                <a:solidFill>
                  <a:srgbClr val="26215C"/>
                </a:solidFill>
                <a:latin typeface="+mj-ea"/>
                <a:ea typeface="+mj-ea"/>
                <a:cs typeface="맑은 고딕" pitchFamily="34" charset="-120"/>
              </a:rPr>
              <a:t>구조</a:t>
            </a:r>
            <a:endParaRPr lang="en-US" sz="2400" dirty="0">
              <a:latin typeface="+mj-ea"/>
              <a:ea typeface="+mj-ea"/>
            </a:endParaRPr>
          </a:p>
        </p:txBody>
      </p:sp>
      <p:sp>
        <p:nvSpPr>
          <p:cNvPr id="8" name="Gear power"/>
          <p:cNvSpPr/>
          <p:nvPr/>
        </p:nvSpPr>
        <p:spPr>
          <a:xfrm>
            <a:off x="1625980" y="3986778"/>
            <a:ext cx="2057400" cy="2057400"/>
          </a:xfrm>
          <a:prstGeom prst="gear9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2400" b="1" dirty="0">
                <a:solidFill>
                  <a:srgbClr val="26215C"/>
                </a:solidFill>
                <a:latin typeface="+mj-ea"/>
                <a:ea typeface="+mj-ea"/>
              </a:rPr>
              <a:t>성별</a:t>
            </a:r>
            <a:endParaRPr lang="en-US" sz="2400" dirty="0">
              <a:latin typeface="+mj-ea"/>
              <a:ea typeface="+mj-ea"/>
            </a:endParaRPr>
          </a:p>
          <a:p>
            <a:pPr algn="ctr"/>
            <a:r>
              <a:rPr lang="en-US" sz="2400" b="1" dirty="0">
                <a:solidFill>
                  <a:srgbClr val="26215C"/>
                </a:solidFill>
                <a:latin typeface="+mj-ea"/>
                <a:ea typeface="+mj-ea"/>
                <a:cs typeface="맑은 고딕" pitchFamily="34" charset="-120"/>
              </a:rPr>
              <a:t>권력관계</a:t>
            </a:r>
            <a:endParaRPr lang="en-US" sz="2400" dirty="0">
              <a:latin typeface="+mj-ea"/>
              <a:ea typeface="+mj-ea"/>
            </a:endParaRPr>
          </a:p>
        </p:txBody>
      </p:sp>
      <p:sp>
        <p:nvSpPr>
          <p:cNvPr id="9" name="Gender-based violence"/>
          <p:cNvSpPr/>
          <p:nvPr/>
        </p:nvSpPr>
        <p:spPr>
          <a:xfrm>
            <a:off x="1719551" y="3284984"/>
            <a:ext cx="1463040" cy="1445130"/>
          </a:xfrm>
          <a:prstGeom prst="irregularSeal1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+mj-ea"/>
                <a:ea typeface="+mj-ea"/>
                <a:cs typeface="맑은 고딕" pitchFamily="34" charset="-120"/>
              </a:rPr>
              <a:t>젠더기반</a:t>
            </a:r>
            <a:endParaRPr lang="en-US" sz="1300" dirty="0">
              <a:latin typeface="+mj-ea"/>
              <a:ea typeface="+mj-ea"/>
            </a:endParaRPr>
          </a:p>
          <a:p>
            <a:pPr algn="ctr"/>
            <a:r>
              <a:rPr lang="en-US" sz="1300" b="1" dirty="0">
                <a:solidFill>
                  <a:srgbClr val="FFFFFF"/>
                </a:solidFill>
                <a:latin typeface="+mj-ea"/>
                <a:ea typeface="+mj-ea"/>
                <a:cs typeface="맑은 고딕" pitchFamily="34" charset="-120"/>
              </a:rPr>
              <a:t>폭력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0" name="Callout norms bar"/>
          <p:cNvSpPr/>
          <p:nvPr/>
        </p:nvSpPr>
        <p:spPr>
          <a:xfrm>
            <a:off x="4283968" y="2615177"/>
            <a:ext cx="71148" cy="1107935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allout norms"/>
          <p:cNvSpPr txBox="1"/>
          <p:nvPr/>
        </p:nvSpPr>
        <p:spPr>
          <a:xfrm>
            <a:off x="4466848" y="2615177"/>
            <a:ext cx="4459896" cy="1107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300"/>
              </a:spcAft>
            </a:pPr>
            <a:r>
              <a:rPr lang="en-US" sz="2400" b="1" dirty="0">
                <a:solidFill>
                  <a:srgbClr val="0F6E56"/>
                </a:solidFill>
                <a:latin typeface="+mj-ea"/>
                <a:ea typeface="+mj-ea"/>
                <a:cs typeface="맑은 고딕" pitchFamily="34" charset="-120"/>
              </a:rPr>
              <a:t>성역할 규범·성별 고정관념</a:t>
            </a:r>
            <a:endParaRPr lang="en-US" sz="2400" dirty="0">
              <a:latin typeface="+mj-ea"/>
              <a:ea typeface="+mj-ea"/>
            </a:endParaRPr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C2C2A"/>
                </a:solidFill>
                <a:latin typeface="+mj-ea"/>
                <a:ea typeface="+mj-ea"/>
                <a:cs typeface="맑은 고딕" pitchFamily="34" charset="-120"/>
              </a:rPr>
              <a:t>성역할 규범에서 벗어난 여성 행동에 </a:t>
            </a:r>
            <a:r>
              <a:rPr lang="en-US" sz="2000" dirty="0" err="1">
                <a:solidFill>
                  <a:srgbClr val="2C2C2A"/>
                </a:solidFill>
                <a:latin typeface="+mj-ea"/>
                <a:ea typeface="+mj-ea"/>
                <a:cs typeface="맑은 고딕" pitchFamily="34" charset="-120"/>
              </a:rPr>
              <a:t>대한</a:t>
            </a:r>
            <a:r>
              <a:rPr lang="en-US" sz="2000" dirty="0">
                <a:solidFill>
                  <a:srgbClr val="2C2C2A"/>
                </a:solidFill>
                <a:latin typeface="+mj-ea"/>
                <a:ea typeface="+mj-ea"/>
                <a:cs typeface="맑은 고딕" pitchFamily="34" charset="-120"/>
              </a:rPr>
              <a:t> </a:t>
            </a:r>
            <a:r>
              <a:rPr lang="en-US" sz="2000" dirty="0" err="1">
                <a:solidFill>
                  <a:srgbClr val="2C2C2A"/>
                </a:solidFill>
                <a:latin typeface="+mj-ea"/>
                <a:ea typeface="+mj-ea"/>
                <a:cs typeface="맑은 고딕" pitchFamily="34" charset="-120"/>
              </a:rPr>
              <a:t>처벌</a:t>
            </a:r>
            <a:r>
              <a:rPr lang="en-US" sz="2000" dirty="0">
                <a:solidFill>
                  <a:srgbClr val="2C2C2A"/>
                </a:solidFill>
                <a:latin typeface="+mj-ea"/>
                <a:ea typeface="+mj-ea"/>
                <a:cs typeface="맑은 고딕" pitchFamily="34" charset="-120"/>
              </a:rPr>
              <a:t>(</a:t>
            </a:r>
            <a:r>
              <a:rPr lang="ko-KR" altLang="en-US" sz="2000" dirty="0">
                <a:solidFill>
                  <a:srgbClr val="2C2C2A"/>
                </a:solidFill>
                <a:latin typeface="+mj-ea"/>
                <a:ea typeface="+mj-ea"/>
                <a:cs typeface="맑은 고딕" pitchFamily="34" charset="-120"/>
              </a:rPr>
              <a:t>폭력</a:t>
            </a:r>
            <a:r>
              <a:rPr lang="en-US" altLang="ko-KR" sz="2000" dirty="0">
                <a:solidFill>
                  <a:srgbClr val="2C2C2A"/>
                </a:solidFill>
                <a:latin typeface="+mj-ea"/>
                <a:ea typeface="+mj-ea"/>
                <a:cs typeface="맑은 고딕" pitchFamily="34" charset="-120"/>
              </a:rPr>
              <a:t>)</a:t>
            </a:r>
            <a:endParaRPr lang="en-US" sz="2400" dirty="0">
              <a:latin typeface="+mj-ea"/>
              <a:ea typeface="+mj-ea"/>
            </a:endParaRPr>
          </a:p>
        </p:txBody>
      </p:sp>
      <p:sp>
        <p:nvSpPr>
          <p:cNvPr id="12" name="Callout discrimination bar"/>
          <p:cNvSpPr/>
          <p:nvPr/>
        </p:nvSpPr>
        <p:spPr>
          <a:xfrm>
            <a:off x="4283968" y="3712457"/>
            <a:ext cx="71148" cy="1399497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Callout discrimination"/>
          <p:cNvSpPr txBox="1"/>
          <p:nvPr/>
        </p:nvSpPr>
        <p:spPr>
          <a:xfrm>
            <a:off x="4466848" y="3829703"/>
            <a:ext cx="4726748" cy="1399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300"/>
              </a:spcAft>
            </a:pPr>
            <a:r>
              <a:rPr lang="en-US" sz="2400" b="1" dirty="0">
                <a:solidFill>
                  <a:srgbClr val="534AB7"/>
                </a:solidFill>
                <a:latin typeface="+mj-ea"/>
                <a:ea typeface="+mj-ea"/>
                <a:cs typeface="맑은 고딕" pitchFamily="34" charset="-120"/>
              </a:rPr>
              <a:t>성차별 구조</a:t>
            </a:r>
            <a:endParaRPr lang="en-US" sz="2400" dirty="0">
              <a:latin typeface="+mj-ea"/>
              <a:ea typeface="+mj-ea"/>
            </a:endParaRPr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C2C2A"/>
                </a:solidFill>
                <a:latin typeface="+mj-ea"/>
                <a:ea typeface="+mj-ea"/>
                <a:cs typeface="맑은 고딕" pitchFamily="34" charset="-120"/>
              </a:rPr>
              <a:t>사회적 낮은 지위 → 폭력 대응력 약화</a:t>
            </a:r>
            <a:endParaRPr lang="en-US" sz="2400" dirty="0">
              <a:latin typeface="+mj-ea"/>
              <a:ea typeface="+mj-ea"/>
            </a:endParaRPr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C2C2A"/>
                </a:solidFill>
                <a:latin typeface="+mj-ea"/>
                <a:ea typeface="+mj-ea"/>
                <a:cs typeface="맑은 고딕" pitchFamily="34" charset="-120"/>
              </a:rPr>
              <a:t>남성 중심 문화 → 성적 대상화</a:t>
            </a:r>
            <a:endParaRPr lang="en-US" sz="2400" dirty="0">
              <a:latin typeface="+mj-ea"/>
              <a:ea typeface="+mj-ea"/>
            </a:endParaRPr>
          </a:p>
        </p:txBody>
      </p:sp>
      <p:sp>
        <p:nvSpPr>
          <p:cNvPr id="14" name="Callout power bar"/>
          <p:cNvSpPr/>
          <p:nvPr/>
        </p:nvSpPr>
        <p:spPr>
          <a:xfrm>
            <a:off x="4283968" y="5038337"/>
            <a:ext cx="71148" cy="1107935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Callout power"/>
          <p:cNvSpPr txBox="1"/>
          <p:nvPr/>
        </p:nvSpPr>
        <p:spPr>
          <a:xfrm>
            <a:off x="4466848" y="5201385"/>
            <a:ext cx="4065592" cy="1107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300"/>
              </a:spcAft>
            </a:pPr>
            <a:r>
              <a:rPr lang="ko-KR" altLang="en-US" sz="2400" b="1" dirty="0">
                <a:solidFill>
                  <a:srgbClr val="534AB7"/>
                </a:solidFill>
                <a:latin typeface="+mj-ea"/>
                <a:ea typeface="+mj-ea"/>
                <a:cs typeface="맑은 고딕" pitchFamily="34" charset="-120"/>
              </a:rPr>
              <a:t>성별</a:t>
            </a:r>
            <a:r>
              <a:rPr lang="en-US" sz="2400" b="1" dirty="0">
                <a:solidFill>
                  <a:srgbClr val="534AB7"/>
                </a:solidFill>
                <a:latin typeface="+mj-ea"/>
                <a:ea typeface="+mj-ea"/>
                <a:cs typeface="맑은 고딕" pitchFamily="34" charset="-120"/>
              </a:rPr>
              <a:t> 권력관계</a:t>
            </a:r>
            <a:endParaRPr lang="en-US" sz="2400" dirty="0">
              <a:latin typeface="+mj-ea"/>
              <a:ea typeface="+mj-ea"/>
            </a:endParaRPr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C2C2A"/>
                </a:solidFill>
                <a:latin typeface="+mj-ea"/>
                <a:ea typeface="+mj-ea"/>
                <a:cs typeface="맑은 고딕" pitchFamily="34" charset="-120"/>
              </a:rPr>
              <a:t>폭력은 통제와 지배의 수단</a:t>
            </a:r>
            <a:endParaRPr lang="en-US" sz="2400" dirty="0"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A3B084-14DD-4BFB-81EC-BF572C9B827A}"/>
              </a:ext>
            </a:extLst>
          </p:cNvPr>
          <p:cNvSpPr txBox="1"/>
          <p:nvPr/>
        </p:nvSpPr>
        <p:spPr>
          <a:xfrm>
            <a:off x="35496" y="6418203"/>
            <a:ext cx="905515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500" dirty="0">
                <a:latin typeface="+mj-ea"/>
                <a:ea typeface="+mj-ea"/>
              </a:rPr>
              <a:t>[</a:t>
            </a:r>
            <a:r>
              <a:rPr lang="ko-KR" altLang="en-US" sz="1500" dirty="0">
                <a:latin typeface="+mj-ea"/>
                <a:ea typeface="+mj-ea"/>
              </a:rPr>
              <a:t>출처</a:t>
            </a:r>
            <a:r>
              <a:rPr lang="en-US" altLang="ko-KR" sz="1500" dirty="0">
                <a:latin typeface="+mj-ea"/>
                <a:ea typeface="+mj-ea"/>
              </a:rPr>
              <a:t>: </a:t>
            </a:r>
            <a:r>
              <a:rPr lang="ko-KR" altLang="en-US" sz="1500" dirty="0">
                <a:latin typeface="+mj-ea"/>
                <a:ea typeface="+mj-ea"/>
              </a:rPr>
              <a:t>고미경</a:t>
            </a:r>
            <a:r>
              <a:rPr lang="en-US" altLang="ko-KR" sz="1500" dirty="0">
                <a:latin typeface="+mj-ea"/>
                <a:ea typeface="+mj-ea"/>
              </a:rPr>
              <a:t>(</a:t>
            </a:r>
            <a:r>
              <a:rPr lang="ko-KR" altLang="en-US" sz="1500" dirty="0">
                <a:latin typeface="+mj-ea"/>
                <a:ea typeface="+mj-ea"/>
              </a:rPr>
              <a:t>단아</a:t>
            </a:r>
            <a:r>
              <a:rPr lang="en-US" altLang="ko-KR" sz="1500" dirty="0">
                <a:latin typeface="+mj-ea"/>
                <a:ea typeface="+mj-ea"/>
              </a:rPr>
              <a:t>)(2026), </a:t>
            </a:r>
            <a:r>
              <a:rPr lang="en-US" altLang="ko-KR" sz="1500" dirty="0">
                <a:solidFill>
                  <a:srgbClr val="6B6272"/>
                </a:solidFill>
                <a:latin typeface="+mj-ea"/>
                <a:ea typeface="+mj-ea"/>
                <a:cs typeface="Malgun Gothic" pitchFamily="34" charset="-120"/>
              </a:rPr>
              <a:t>「</a:t>
            </a:r>
            <a:r>
              <a:rPr lang="en-US" altLang="ko-KR" sz="1500" dirty="0" err="1">
                <a:solidFill>
                  <a:srgbClr val="6B6272"/>
                </a:solidFill>
                <a:latin typeface="+mj-ea"/>
                <a:ea typeface="+mj-ea"/>
                <a:cs typeface="Malgun Gothic" pitchFamily="34" charset="-120"/>
              </a:rPr>
              <a:t>젠더기반폭력의</a:t>
            </a:r>
            <a:r>
              <a:rPr lang="en-US" altLang="ko-KR" sz="1500" dirty="0">
                <a:solidFill>
                  <a:srgbClr val="6B6272"/>
                </a:solidFill>
                <a:latin typeface="+mj-ea"/>
                <a:ea typeface="+mj-ea"/>
                <a:cs typeface="Malgun Gothic" pitchFamily="34" charset="-120"/>
              </a:rPr>
              <a:t> </a:t>
            </a:r>
            <a:r>
              <a:rPr lang="en-US" altLang="ko-KR" sz="1500" dirty="0" err="1">
                <a:solidFill>
                  <a:srgbClr val="6B6272"/>
                </a:solidFill>
                <a:latin typeface="+mj-ea"/>
                <a:ea typeface="+mj-ea"/>
                <a:cs typeface="Malgun Gothic" pitchFamily="34" charset="-120"/>
              </a:rPr>
              <a:t>통합적</a:t>
            </a:r>
            <a:r>
              <a:rPr lang="en-US" altLang="ko-KR" sz="1500" dirty="0">
                <a:solidFill>
                  <a:srgbClr val="6B6272"/>
                </a:solidFill>
                <a:latin typeface="+mj-ea"/>
                <a:ea typeface="+mj-ea"/>
                <a:cs typeface="Malgun Gothic" pitchFamily="34" charset="-120"/>
              </a:rPr>
              <a:t> 이해1」, </a:t>
            </a:r>
            <a:r>
              <a:rPr lang="en-US" altLang="ko-KR" sz="1500" dirty="0" err="1">
                <a:solidFill>
                  <a:srgbClr val="6B6272"/>
                </a:solidFill>
                <a:latin typeface="+mj-ea"/>
                <a:ea typeface="+mj-ea"/>
                <a:cs typeface="Malgun Gothic" pitchFamily="34" charset="-120"/>
              </a:rPr>
              <a:t>한국양성평등교육진흥원</a:t>
            </a:r>
            <a:r>
              <a:rPr lang="en-US" altLang="ko-KR" sz="1500" dirty="0">
                <a:solidFill>
                  <a:srgbClr val="6B6272"/>
                </a:solidFill>
                <a:latin typeface="+mj-ea"/>
                <a:ea typeface="+mj-ea"/>
                <a:cs typeface="Malgun Gothic" pitchFamily="34" charset="-120"/>
              </a:rPr>
              <a:t> </a:t>
            </a:r>
            <a:r>
              <a:rPr lang="en-US" altLang="ko-KR" sz="1500" dirty="0" err="1">
                <a:solidFill>
                  <a:srgbClr val="6B6272"/>
                </a:solidFill>
                <a:latin typeface="+mj-ea"/>
                <a:ea typeface="+mj-ea"/>
                <a:cs typeface="Malgun Gothic" pitchFamily="34" charset="-120"/>
              </a:rPr>
              <a:t>자료</a:t>
            </a:r>
            <a:r>
              <a:rPr lang="en-US" altLang="ko-KR" sz="1500" dirty="0">
                <a:solidFill>
                  <a:srgbClr val="6B6272"/>
                </a:solidFill>
                <a:latin typeface="+mj-ea"/>
                <a:ea typeface="+mj-ea"/>
                <a:cs typeface="Malgun Gothic" pitchFamily="34" charset="-120"/>
              </a:rPr>
              <a:t> </a:t>
            </a:r>
            <a:r>
              <a:rPr lang="en-US" altLang="ko-KR" sz="1500" dirty="0" err="1">
                <a:solidFill>
                  <a:srgbClr val="6B6272"/>
                </a:solidFill>
                <a:latin typeface="+mj-ea"/>
                <a:ea typeface="+mj-ea"/>
                <a:cs typeface="Malgun Gothic" pitchFamily="34" charset="-120"/>
              </a:rPr>
              <a:t>재구성</a:t>
            </a:r>
            <a:r>
              <a:rPr lang="en-US" altLang="ko-KR" sz="1500" dirty="0">
                <a:latin typeface="+mj-ea"/>
                <a:ea typeface="+mj-ea"/>
              </a:rPr>
              <a:t>]</a:t>
            </a:r>
            <a:endParaRPr lang="ko-KR" altLang="en-US" sz="1500" dirty="0">
              <a:latin typeface="+mj-ea"/>
              <a:ea typeface="+mj-ea"/>
            </a:endParaRPr>
          </a:p>
        </p:txBody>
      </p:sp>
      <p:sp>
        <p:nvSpPr>
          <p:cNvPr id="17" name="Arrow norms">
            <a:extLst>
              <a:ext uri="{FF2B5EF4-FFF2-40B4-BE49-F238E27FC236}">
                <a16:creationId xmlns:a16="http://schemas.microsoft.com/office/drawing/2014/main" id="{6F87C5D8-4A67-4408-94C5-A6CE1E06DAD9}"/>
              </a:ext>
            </a:extLst>
          </p:cNvPr>
          <p:cNvSpPr/>
          <p:nvPr/>
        </p:nvSpPr>
        <p:spPr>
          <a:xfrm rot="15131897">
            <a:off x="206531" y="2532695"/>
            <a:ext cx="1723017" cy="1690240"/>
          </a:xfrm>
          <a:prstGeom prst="circularArrow">
            <a:avLst>
              <a:gd name="adj1" fmla="val 6500"/>
              <a:gd name="adj2" fmla="val 1142319"/>
              <a:gd name="adj3" fmla="val 20457681"/>
              <a:gd name="adj4" fmla="val 16216490"/>
              <a:gd name="adj5" fmla="val 9000"/>
            </a:avLst>
          </a:prstGeom>
          <a:solidFill>
            <a:srgbClr val="B4B2A9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rrow discrimination">
            <a:extLst>
              <a:ext uri="{FF2B5EF4-FFF2-40B4-BE49-F238E27FC236}">
                <a16:creationId xmlns:a16="http://schemas.microsoft.com/office/drawing/2014/main" id="{E54DC6AA-B95A-4415-98FF-EB070C5462A9}"/>
              </a:ext>
            </a:extLst>
          </p:cNvPr>
          <p:cNvSpPr/>
          <p:nvPr/>
        </p:nvSpPr>
        <p:spPr>
          <a:xfrm rot="19711910">
            <a:off x="2055859" y="2170697"/>
            <a:ext cx="1897809" cy="1616488"/>
          </a:xfrm>
          <a:prstGeom prst="circularArrow">
            <a:avLst>
              <a:gd name="adj1" fmla="val 6500"/>
              <a:gd name="adj2" fmla="val 1142319"/>
              <a:gd name="adj3" fmla="val 20457681"/>
              <a:gd name="adj4" fmla="val 14381165"/>
              <a:gd name="adj5" fmla="val 9000"/>
            </a:avLst>
          </a:prstGeom>
          <a:solidFill>
            <a:srgbClr val="B4B2A9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rrow power">
            <a:extLst>
              <a:ext uri="{FF2B5EF4-FFF2-40B4-BE49-F238E27FC236}">
                <a16:creationId xmlns:a16="http://schemas.microsoft.com/office/drawing/2014/main" id="{52E93CF1-0C04-4013-AC6B-9C7AE872A78D}"/>
              </a:ext>
            </a:extLst>
          </p:cNvPr>
          <p:cNvSpPr/>
          <p:nvPr/>
        </p:nvSpPr>
        <p:spPr>
          <a:xfrm rot="6600000">
            <a:off x="1964838" y="4328834"/>
            <a:ext cx="2283684" cy="1944827"/>
          </a:xfrm>
          <a:prstGeom prst="circularArrow">
            <a:avLst>
              <a:gd name="adj1" fmla="val 6500"/>
              <a:gd name="adj2" fmla="val 1142319"/>
              <a:gd name="adj3" fmla="val 20457681"/>
              <a:gd name="adj4" fmla="val 15004847"/>
              <a:gd name="adj5" fmla="val 9000"/>
            </a:avLst>
          </a:prstGeom>
          <a:solidFill>
            <a:srgbClr val="B4B2A9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직사각형 15"/>
          <p:cNvSpPr/>
          <p:nvPr/>
        </p:nvSpPr>
        <p:spPr>
          <a:xfrm>
            <a:off x="5186932" y="6146272"/>
            <a:ext cx="47136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6B62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[AI </a:t>
            </a:r>
            <a:r>
              <a:rPr lang="ko-KR" altLang="en-US" sz="1400" dirty="0">
                <a:solidFill>
                  <a:srgbClr val="6B62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r>
              <a:rPr lang="en-US" altLang="ko-KR" sz="1400" dirty="0" err="1">
                <a:solidFill>
                  <a:srgbClr val="6B62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r>
              <a:rPr lang="en-US" altLang="ko-KR" sz="1400" dirty="0">
                <a:solidFill>
                  <a:srgbClr val="6B62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‘</a:t>
            </a:r>
            <a:r>
              <a:rPr lang="ko-KR" altLang="en-US" sz="1400" dirty="0" err="1">
                <a:solidFill>
                  <a:srgbClr val="6B62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</a:t>
            </a:r>
            <a:r>
              <a:rPr lang="en-US" altLang="ko-KR" sz="1400" dirty="0">
                <a:solidFill>
                  <a:srgbClr val="6B62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GPT’</a:t>
            </a:r>
            <a:r>
              <a:rPr lang="ko-KR" altLang="en-US" sz="1400" dirty="0">
                <a:solidFill>
                  <a:srgbClr val="6B62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활용한 이미지 생성</a:t>
            </a:r>
            <a:r>
              <a:rPr lang="en-US" altLang="ko-KR" sz="1400" dirty="0">
                <a:solidFill>
                  <a:srgbClr val="6B62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97946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"/>
                            </p:stCondLst>
                            <p:childTnLst>
                              <p:par>
                                <p:cTn id="45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4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0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2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4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56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D5778366-7133-4053-B394-A2E62790EAA4}"/>
              </a:ext>
            </a:extLst>
          </p:cNvPr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EFEAF3"/>
          </a:solidFill>
          <a:ln/>
        </p:spPr>
        <p:txBody>
          <a:bodyPr/>
          <a:lstStyle/>
          <a:p>
            <a:endParaRPr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1EE6156-7CAD-41C9-A994-08DD970E261E}"/>
              </a:ext>
            </a:extLst>
          </p:cNvPr>
          <p:cNvGrpSpPr/>
          <p:nvPr/>
        </p:nvGrpSpPr>
        <p:grpSpPr>
          <a:xfrm>
            <a:off x="352015" y="4486595"/>
            <a:ext cx="8427563" cy="1495987"/>
            <a:chOff x="352015" y="4486595"/>
            <a:chExt cx="8427563" cy="2217714"/>
          </a:xfrm>
        </p:grpSpPr>
        <p:sp>
          <p:nvSpPr>
            <p:cNvPr id="20" name="Shape 18"/>
            <p:cNvSpPr/>
            <p:nvPr/>
          </p:nvSpPr>
          <p:spPr>
            <a:xfrm>
              <a:off x="352015" y="4486595"/>
              <a:ext cx="8427563" cy="2217714"/>
            </a:xfrm>
            <a:prstGeom prst="roundRect">
              <a:avLst>
                <a:gd name="adj" fmla="val 7692"/>
              </a:avLst>
            </a:prstGeom>
            <a:solidFill>
              <a:srgbClr val="F5F2F6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F2FA47D-3531-4FFA-90CC-0A53FA8116A9}"/>
                </a:ext>
              </a:extLst>
            </p:cNvPr>
            <p:cNvSpPr txBox="1"/>
            <p:nvPr/>
          </p:nvSpPr>
          <p:spPr>
            <a:xfrm>
              <a:off x="352015" y="4669197"/>
              <a:ext cx="8347689" cy="1064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en-US" altLang="ko-KR" sz="2400" b="1" dirty="0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네 </a:t>
              </a:r>
              <a:r>
                <a:rPr lang="en-US" altLang="ko-KR" sz="2400" b="1" dirty="0" err="1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개의</a:t>
              </a:r>
              <a:r>
                <a:rPr lang="en-US" altLang="ko-KR" sz="2400" b="1" dirty="0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sz="2400" b="1" dirty="0" err="1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각론에서</a:t>
              </a:r>
              <a:r>
                <a:rPr lang="en-US" altLang="ko-KR" sz="2400" b="1" dirty="0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sz="2400" b="1" dirty="0" err="1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각각</a:t>
              </a:r>
              <a:r>
                <a:rPr lang="en-US" altLang="ko-KR" sz="2400" b="1" dirty="0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sz="2400" b="1" dirty="0" err="1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다른</a:t>
              </a:r>
              <a:r>
                <a:rPr lang="en-US" altLang="ko-KR" sz="2400" b="1" dirty="0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sz="2400" b="1" dirty="0" err="1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법과</a:t>
              </a:r>
              <a:r>
                <a:rPr lang="en-US" altLang="ko-KR" sz="2400" b="1" dirty="0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sz="2400" b="1" dirty="0" err="1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사례를</a:t>
              </a:r>
              <a:r>
                <a:rPr lang="en-US" altLang="ko-KR" sz="2400" b="1" dirty="0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sz="2400" b="1" dirty="0" err="1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만나겠지만</a:t>
              </a:r>
              <a:r>
                <a:rPr lang="en-US" altLang="ko-KR" sz="2400" b="1" dirty="0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, </a:t>
              </a:r>
            </a:p>
            <a:p>
              <a:pPr algn="ctr">
                <a:lnSpc>
                  <a:spcPct val="140000"/>
                </a:lnSpc>
              </a:pPr>
              <a:r>
                <a:rPr lang="en-US" altLang="ko-KR" sz="2400" b="1" dirty="0" err="1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언제나</a:t>
              </a:r>
              <a:r>
                <a:rPr lang="en-US" altLang="ko-KR" sz="2400" b="1" dirty="0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2400" b="1" dirty="0" err="1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젠더기반폭력이라는</a:t>
              </a:r>
              <a:r>
                <a:rPr lang="ko-KR" altLang="en-US" sz="2400" b="1" dirty="0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sz="2400" b="1" dirty="0" err="1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뿌리로</a:t>
              </a:r>
              <a:r>
                <a:rPr lang="en-US" altLang="ko-KR" sz="2400" b="1" dirty="0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sz="2400" b="1" dirty="0" err="1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돌아와서</a:t>
              </a:r>
              <a:r>
                <a:rPr lang="en-US" altLang="ko-KR" sz="2400" b="1" dirty="0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sz="2400" b="1" dirty="0" err="1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들어주십시오</a:t>
              </a:r>
              <a:r>
                <a:rPr lang="en-US" altLang="ko-KR" sz="2400" b="1" dirty="0">
                  <a:solidFill>
                    <a:srgbClr val="211D26"/>
                  </a:solidFill>
                  <a:ea typeface="맑은 고딕" pitchFamily="34" charset="-122"/>
                  <a:cs typeface="맑은 고딕" pitchFamily="34" charset="-120"/>
                </a:rPr>
                <a:t>.</a:t>
              </a:r>
              <a:endParaRPr lang="en-US" altLang="ko-KR" sz="2400" b="1" dirty="0"/>
            </a:p>
          </p:txBody>
        </p:sp>
      </p:grpSp>
      <p:sp>
        <p:nvSpPr>
          <p:cNvPr id="2" name="Text 0"/>
          <p:cNvSpPr/>
          <p:nvPr/>
        </p:nvSpPr>
        <p:spPr>
          <a:xfrm>
            <a:off x="193304" y="210481"/>
            <a:ext cx="7822581" cy="294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83" b="1" kern="0" spc="86" dirty="0" err="1">
                <a:solidFill>
                  <a:srgbClr val="C08A28"/>
                </a:solidFill>
                <a:ea typeface="맑은 고딕" pitchFamily="34" charset="-122"/>
                <a:cs typeface="맑은 고딕" pitchFamily="34" charset="-120"/>
              </a:rPr>
              <a:t>각론</a:t>
            </a:r>
            <a:r>
              <a:rPr lang="ko-KR" altLang="en-US" sz="1283" b="1" kern="0" spc="86" dirty="0">
                <a:solidFill>
                  <a:srgbClr val="C08A28"/>
                </a:solidFill>
                <a:ea typeface="맑은 고딕" pitchFamily="34" charset="-122"/>
                <a:cs typeface="맑은 고딕" pitchFamily="34" charset="-120"/>
              </a:rPr>
              <a:t>으로 들어가더라도</a:t>
            </a:r>
            <a:r>
              <a:rPr lang="en-US" altLang="ko-KR" sz="1283" b="1" kern="0" spc="86" dirty="0">
                <a:solidFill>
                  <a:srgbClr val="C08A28"/>
                </a:solidFill>
                <a:ea typeface="맑은 고딕" pitchFamily="34" charset="-122"/>
                <a:cs typeface="맑은 고딕" pitchFamily="34" charset="-120"/>
              </a:rPr>
              <a:t>.. </a:t>
            </a:r>
            <a:endParaRPr lang="en-US" sz="1283" dirty="0"/>
          </a:p>
        </p:txBody>
      </p:sp>
      <p:sp>
        <p:nvSpPr>
          <p:cNvPr id="3" name="Text 1"/>
          <p:cNvSpPr/>
          <p:nvPr/>
        </p:nvSpPr>
        <p:spPr>
          <a:xfrm>
            <a:off x="191196" y="338524"/>
            <a:ext cx="8284114" cy="939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ko-KR" altLang="en-US" sz="3200" b="1" dirty="0" err="1">
                <a:solidFill>
                  <a:srgbClr val="211D26"/>
                </a:solidFill>
                <a:ea typeface="맑은 고딕" pitchFamily="34" charset="-122"/>
                <a:cs typeface="맑은 고딕" pitchFamily="34" charset="-120"/>
              </a:rPr>
              <a:t>젠더기반폭력은</a:t>
            </a:r>
            <a:r>
              <a:rPr lang="ko-KR" altLang="en-US" sz="3200" b="1" dirty="0">
                <a:solidFill>
                  <a:srgbClr val="211D26"/>
                </a:solidFill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3200" b="1" dirty="0" err="1">
                <a:solidFill>
                  <a:srgbClr val="211D26"/>
                </a:solidFill>
                <a:ea typeface="맑은 고딕" pitchFamily="34" charset="-122"/>
                <a:cs typeface="맑은 고딕" pitchFamily="34" charset="-120"/>
              </a:rPr>
              <a:t>같은</a:t>
            </a:r>
            <a:r>
              <a:rPr lang="en-US" sz="3200" b="1" dirty="0">
                <a:solidFill>
                  <a:srgbClr val="211D26"/>
                </a:solidFill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3200" b="1" dirty="0" err="1">
                <a:solidFill>
                  <a:srgbClr val="211D26"/>
                </a:solidFill>
                <a:ea typeface="맑은 고딕" pitchFamily="34" charset="-122"/>
                <a:cs typeface="맑은 고딕" pitchFamily="34" charset="-120"/>
              </a:rPr>
              <a:t>뿌리</a:t>
            </a:r>
            <a:r>
              <a:rPr lang="en-US" sz="3200" b="1" dirty="0">
                <a:solidFill>
                  <a:srgbClr val="211D26"/>
                </a:solidFill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sz="3200" b="1" dirty="0" err="1">
                <a:solidFill>
                  <a:srgbClr val="211D26"/>
                </a:solidFill>
                <a:ea typeface="맑은 고딕" pitchFamily="34" charset="-122"/>
                <a:cs typeface="맑은 고딕" pitchFamily="34" charset="-120"/>
              </a:rPr>
              <a:t>다른</a:t>
            </a:r>
            <a:r>
              <a:rPr lang="en-US" sz="3200" b="1" dirty="0">
                <a:solidFill>
                  <a:srgbClr val="211D26"/>
                </a:solidFill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3200" b="1" dirty="0">
                <a:solidFill>
                  <a:srgbClr val="211D26"/>
                </a:solidFill>
                <a:ea typeface="맑은 고딕" pitchFamily="34" charset="-122"/>
                <a:cs typeface="맑은 고딕" pitchFamily="34" charset="-120"/>
              </a:rPr>
              <a:t>가지들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85950" y="1789020"/>
            <a:ext cx="1906754" cy="220491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875">
            <a:solidFill>
              <a:srgbClr val="8A5A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385950" y="2017734"/>
            <a:ext cx="1906754" cy="367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b="1" dirty="0">
                <a:solidFill>
                  <a:srgbClr val="8A5A2B"/>
                </a:solidFill>
                <a:ea typeface="맑은 고딕" pitchFamily="34" charset="-122"/>
                <a:cs typeface="맑은 고딕" pitchFamily="34" charset="-120"/>
              </a:rPr>
              <a:t>성희롱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64175" y="2565011"/>
            <a:ext cx="1750303" cy="9801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2400" dirty="0">
                <a:solidFill>
                  <a:srgbClr val="211D26"/>
                </a:solidFill>
                <a:ea typeface="맑은 고딕" pitchFamily="34" charset="-122"/>
                <a:cs typeface="맑은 고딕" pitchFamily="34" charset="-120"/>
              </a:rPr>
              <a:t>조직 안의</a:t>
            </a:r>
            <a:endParaRPr lang="en-US" sz="2400" dirty="0"/>
          </a:p>
          <a:p>
            <a:pPr algn="ctr"/>
            <a:r>
              <a:rPr lang="en-US" sz="2400" dirty="0">
                <a:solidFill>
                  <a:srgbClr val="211D26"/>
                </a:solidFill>
                <a:ea typeface="맑은 고딕" pitchFamily="34" charset="-122"/>
                <a:cs typeface="맑은 고딕" pitchFamily="34" charset="-120"/>
              </a:rPr>
              <a:t>젠더 권력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511736" y="1789020"/>
            <a:ext cx="1906754" cy="223667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875">
            <a:solidFill>
              <a:srgbClr val="8C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511736" y="1789020"/>
            <a:ext cx="1906754" cy="65347"/>
          </a:xfrm>
          <a:prstGeom prst="rect">
            <a:avLst/>
          </a:prstGeom>
          <a:solidFill>
            <a:srgbClr val="8C3B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511736" y="2017734"/>
            <a:ext cx="1906754" cy="367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b="1" dirty="0">
                <a:solidFill>
                  <a:srgbClr val="8C3B4A"/>
                </a:solidFill>
                <a:ea typeface="맑은 고딕" pitchFamily="34" charset="-122"/>
                <a:cs typeface="맑은 고딕" pitchFamily="34" charset="-120"/>
              </a:rPr>
              <a:t>성폭력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89962" y="2565011"/>
            <a:ext cx="1750303" cy="9801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2400" dirty="0">
                <a:solidFill>
                  <a:srgbClr val="211D26"/>
                </a:solidFill>
                <a:ea typeface="맑은 고딕" pitchFamily="34" charset="-122"/>
                <a:cs typeface="맑은 고딕" pitchFamily="34" charset="-120"/>
              </a:rPr>
              <a:t>위력으로</a:t>
            </a:r>
            <a:endParaRPr lang="en-US" sz="2400" dirty="0"/>
          </a:p>
          <a:p>
            <a:pPr algn="ctr"/>
            <a:r>
              <a:rPr lang="en-US" sz="2400" dirty="0">
                <a:solidFill>
                  <a:srgbClr val="211D26"/>
                </a:solidFill>
                <a:ea typeface="맑은 고딕" pitchFamily="34" charset="-122"/>
                <a:cs typeface="맑은 고딕" pitchFamily="34" charset="-120"/>
              </a:rPr>
              <a:t>작동하는 권력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637523" y="1789020"/>
            <a:ext cx="1906754" cy="223667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875">
            <a:solidFill>
              <a:srgbClr val="35597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637523" y="1789020"/>
            <a:ext cx="1906754" cy="65347"/>
          </a:xfrm>
          <a:prstGeom prst="rect">
            <a:avLst/>
          </a:prstGeom>
          <a:solidFill>
            <a:srgbClr val="3559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637523" y="2017734"/>
            <a:ext cx="1906754" cy="367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b="1" dirty="0">
                <a:solidFill>
                  <a:srgbClr val="35597E"/>
                </a:solidFill>
                <a:ea typeface="맑은 고딕" pitchFamily="34" charset="-122"/>
                <a:cs typeface="맑은 고딕" pitchFamily="34" charset="-120"/>
              </a:rPr>
              <a:t>성매매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15748" y="2565011"/>
            <a:ext cx="1828529" cy="9801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2400" dirty="0" err="1">
                <a:solidFill>
                  <a:srgbClr val="211D26"/>
                </a:solidFill>
                <a:ea typeface="맑은 고딕" pitchFamily="34" charset="-122"/>
                <a:cs typeface="맑은 고딕" pitchFamily="34" charset="-120"/>
              </a:rPr>
              <a:t>여성의</a:t>
            </a:r>
            <a:r>
              <a:rPr lang="en-US" sz="2400" dirty="0">
                <a:solidFill>
                  <a:srgbClr val="211D26"/>
                </a:solidFill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400" dirty="0" err="1">
                <a:solidFill>
                  <a:srgbClr val="211D26"/>
                </a:solidFill>
                <a:ea typeface="맑은 고딕" pitchFamily="34" charset="-122"/>
                <a:cs typeface="맑은 고딕" pitchFamily="34" charset="-120"/>
              </a:rPr>
              <a:t>몸을</a:t>
            </a:r>
            <a:endParaRPr lang="en-US" sz="2400" dirty="0"/>
          </a:p>
          <a:p>
            <a:pPr algn="ctr"/>
            <a:r>
              <a:rPr lang="en-US" sz="2400" dirty="0">
                <a:solidFill>
                  <a:srgbClr val="211D26"/>
                </a:solidFill>
                <a:ea typeface="맑은 고딕" pitchFamily="34" charset="-122"/>
                <a:cs typeface="맑은 고딕" pitchFamily="34" charset="-120"/>
              </a:rPr>
              <a:t>대상화하는 권력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763309" y="1789020"/>
            <a:ext cx="1906157" cy="221771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875">
            <a:solidFill>
              <a:srgbClr val="3B7A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763309" y="1789020"/>
            <a:ext cx="1906754" cy="65347"/>
          </a:xfrm>
          <a:prstGeom prst="rect">
            <a:avLst/>
          </a:prstGeom>
          <a:solidFill>
            <a:srgbClr val="3B7A5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653793" y="2029985"/>
            <a:ext cx="2125786" cy="367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b="1" dirty="0">
                <a:solidFill>
                  <a:srgbClr val="3B7A5D"/>
                </a:solidFill>
                <a:ea typeface="맑은 고딕" pitchFamily="34" charset="-122"/>
                <a:cs typeface="맑은 고딕" pitchFamily="34" charset="-120"/>
              </a:rPr>
              <a:t>가정폭력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762713" y="2565011"/>
            <a:ext cx="1829126" cy="9801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ko-KR" altLang="en-US" sz="2000" dirty="0">
                <a:solidFill>
                  <a:srgbClr val="211D26"/>
                </a:solidFill>
                <a:ea typeface="맑은 고딕" pitchFamily="34" charset="-122"/>
                <a:cs typeface="맑은 고딕" pitchFamily="34" charset="-120"/>
              </a:rPr>
              <a:t>친밀한관계의</a:t>
            </a:r>
            <a:r>
              <a:rPr lang="en-US" sz="2400" dirty="0" err="1">
                <a:solidFill>
                  <a:srgbClr val="211D26"/>
                </a:solidFill>
                <a:ea typeface="맑은 고딕" pitchFamily="34" charset="-122"/>
                <a:cs typeface="맑은 고딕" pitchFamily="34" charset="-120"/>
              </a:rPr>
              <a:t>젠더</a:t>
            </a:r>
            <a:r>
              <a:rPr lang="en-US" sz="2400" dirty="0">
                <a:solidFill>
                  <a:srgbClr val="211D26"/>
                </a:solidFill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400" dirty="0" err="1">
                <a:solidFill>
                  <a:srgbClr val="211D26"/>
                </a:solidFill>
                <a:ea typeface="맑은 고딕" pitchFamily="34" charset="-122"/>
                <a:cs typeface="맑은 고딕" pitchFamily="34" charset="-120"/>
              </a:rPr>
              <a:t>권력</a:t>
            </a:r>
            <a:r>
              <a:rPr lang="ko-KR" altLang="en-US" sz="2400" dirty="0">
                <a:solidFill>
                  <a:srgbClr val="211D26"/>
                </a:solidFill>
                <a:ea typeface="맑은 고딕" pitchFamily="34" charset="-122"/>
                <a:cs typeface="맑은 고딕" pitchFamily="34" charset="-120"/>
              </a:rPr>
              <a:t>과 젠더 규범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30082" y="4886868"/>
            <a:ext cx="7736533" cy="10618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endParaRPr lang="en-US" sz="1454" dirty="0"/>
          </a:p>
        </p:txBody>
      </p:sp>
      <p:sp>
        <p:nvSpPr>
          <p:cNvPr id="5" name="Shape 3"/>
          <p:cNvSpPr/>
          <p:nvPr/>
        </p:nvSpPr>
        <p:spPr>
          <a:xfrm>
            <a:off x="404705" y="1796482"/>
            <a:ext cx="1906754" cy="65347"/>
          </a:xfrm>
          <a:prstGeom prst="rect">
            <a:avLst/>
          </a:prstGeom>
          <a:solidFill>
            <a:srgbClr val="8A5A2B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>
            <a:extLst>
              <a:ext uri="{FF2B5EF4-FFF2-40B4-BE49-F238E27FC236}">
                <a16:creationId xmlns:a16="http://schemas.microsoft.com/office/drawing/2014/main" id="{B062919B-2171-4060-B23A-BB005BE7BF88}"/>
              </a:ext>
            </a:extLst>
          </p:cNvPr>
          <p:cNvSpPr/>
          <p:nvPr/>
        </p:nvSpPr>
        <p:spPr>
          <a:xfrm>
            <a:off x="0" y="0"/>
            <a:ext cx="9144000" cy="851636"/>
          </a:xfrm>
          <a:prstGeom prst="rect">
            <a:avLst/>
          </a:prstGeom>
          <a:solidFill>
            <a:srgbClr val="EFEA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36000" y="6203092"/>
            <a:ext cx="3079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</a:t>
            </a:r>
            <a:r>
              <a:rPr lang="ko-KR" altLang="en-US" sz="1400" dirty="0"/>
              <a:t>이미지 출처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미리캔버스</a:t>
            </a:r>
            <a:r>
              <a:rPr lang="en-US" altLang="ko-KR" sz="1400" dirty="0"/>
              <a:t>]</a:t>
            </a:r>
            <a:endParaRPr lang="ko-KR" altLang="en-US" sz="1400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70E6B0B-F3CD-4049-A1FF-81C35D4AF7F6}"/>
              </a:ext>
            </a:extLst>
          </p:cNvPr>
          <p:cNvGrpSpPr/>
          <p:nvPr/>
        </p:nvGrpSpPr>
        <p:grpSpPr>
          <a:xfrm>
            <a:off x="617699" y="1599190"/>
            <a:ext cx="1896224" cy="2326000"/>
            <a:chOff x="485820" y="4343360"/>
            <a:chExt cx="1896224" cy="2326000"/>
          </a:xfrm>
        </p:grpSpPr>
        <p:sp>
          <p:nvSpPr>
            <p:cNvPr id="8" name="Shape 2">
              <a:extLst>
                <a:ext uri="{FF2B5EF4-FFF2-40B4-BE49-F238E27FC236}">
                  <a16:creationId xmlns:a16="http://schemas.microsoft.com/office/drawing/2014/main" id="{6AD27553-A9DC-4BE6-B74F-BCF837AAC0E6}"/>
                </a:ext>
              </a:extLst>
            </p:cNvPr>
            <p:cNvSpPr/>
            <p:nvPr/>
          </p:nvSpPr>
          <p:spPr>
            <a:xfrm>
              <a:off x="485820" y="4343360"/>
              <a:ext cx="1805940" cy="2326000"/>
            </a:xfrm>
            <a:prstGeom prst="roundRect">
              <a:avLst>
                <a:gd name="adj" fmla="val 5063"/>
              </a:avLst>
            </a:prstGeom>
            <a:solidFill>
              <a:srgbClr val="EFEAF3"/>
            </a:solidFill>
            <a:ln w="9525">
              <a:solidFill>
                <a:srgbClr val="6C5B7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DF691166-2F3B-4EB3-8115-DD064D6A0BC9}"/>
                </a:ext>
              </a:extLst>
            </p:cNvPr>
            <p:cNvSpPr/>
            <p:nvPr/>
          </p:nvSpPr>
          <p:spPr>
            <a:xfrm>
              <a:off x="643415" y="4694700"/>
              <a:ext cx="1531620" cy="27690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3B305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의사결정 구조</a:t>
              </a:r>
              <a:endParaRPr lang="en-US" sz="2400" dirty="0"/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F10D5F57-AAEE-4421-B2F3-F56F8FF7606C}"/>
                </a:ext>
              </a:extLst>
            </p:cNvPr>
            <p:cNvSpPr/>
            <p:nvPr/>
          </p:nvSpPr>
          <p:spPr>
            <a:xfrm>
              <a:off x="485820" y="5380275"/>
              <a:ext cx="1896224" cy="115192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우리 </a:t>
              </a:r>
              <a:r>
                <a:rPr lang="en-US" sz="1600" b="1" dirty="0" err="1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조직이</a:t>
              </a:r>
              <a:r>
                <a:rPr lang="en-US" sz="16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ko-KR" altLang="en-US" sz="16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혹시 </a:t>
              </a:r>
              <a:r>
                <a:rPr lang="en-US" sz="1600" b="1" dirty="0" err="1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남성중심적</a:t>
              </a:r>
              <a:r>
                <a:rPr lang="en-US" sz="16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600" b="1" dirty="0" err="1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의사결정</a:t>
              </a:r>
              <a:r>
                <a:rPr lang="en-US" sz="16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구조는 아닌가?</a:t>
              </a:r>
              <a:endParaRPr lang="en-US" sz="1600" b="1" dirty="0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9FDD8D29-0C93-4AD7-9462-48A18B482AF5}"/>
              </a:ext>
            </a:extLst>
          </p:cNvPr>
          <p:cNvGrpSpPr/>
          <p:nvPr/>
        </p:nvGrpSpPr>
        <p:grpSpPr>
          <a:xfrm>
            <a:off x="3718301" y="4957920"/>
            <a:ext cx="2536175" cy="1625785"/>
            <a:chOff x="4465276" y="4930877"/>
            <a:chExt cx="1805940" cy="1625785"/>
          </a:xfrm>
        </p:grpSpPr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2010EA8B-E53B-42E4-BF7D-74FBC7A8E43D}"/>
                </a:ext>
              </a:extLst>
            </p:cNvPr>
            <p:cNvSpPr/>
            <p:nvPr/>
          </p:nvSpPr>
          <p:spPr>
            <a:xfrm>
              <a:off x="4465276" y="4930877"/>
              <a:ext cx="1805940" cy="1625784"/>
            </a:xfrm>
            <a:prstGeom prst="roundRect">
              <a:avLst>
                <a:gd name="adj" fmla="val 5063"/>
              </a:avLst>
            </a:prstGeom>
            <a:solidFill>
              <a:srgbClr val="EFEAF3"/>
            </a:solidFill>
            <a:ln w="9525">
              <a:solidFill>
                <a:srgbClr val="6C5B7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Text 15">
              <a:extLst>
                <a:ext uri="{FF2B5EF4-FFF2-40B4-BE49-F238E27FC236}">
                  <a16:creationId xmlns:a16="http://schemas.microsoft.com/office/drawing/2014/main" id="{73F65E81-7334-40F9-BDA1-D4DFB2FF63C5}"/>
                </a:ext>
              </a:extLst>
            </p:cNvPr>
            <p:cNvSpPr/>
            <p:nvPr/>
          </p:nvSpPr>
          <p:spPr>
            <a:xfrm>
              <a:off x="4619569" y="5142591"/>
              <a:ext cx="1531620" cy="27690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2400" b="1" dirty="0">
                  <a:solidFill>
                    <a:srgbClr val="3B305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성별</a:t>
              </a:r>
              <a:r>
                <a:rPr lang="en-US" sz="2400" b="1" dirty="0" err="1">
                  <a:solidFill>
                    <a:srgbClr val="3B305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권력남용</a:t>
              </a:r>
              <a:endParaRPr lang="en-US" sz="2400" dirty="0"/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1570A16D-E041-431A-A1CD-F2593E4A6900}"/>
                </a:ext>
              </a:extLst>
            </p:cNvPr>
            <p:cNvSpPr/>
            <p:nvPr/>
          </p:nvSpPr>
          <p:spPr>
            <a:xfrm>
              <a:off x="4465276" y="5623754"/>
              <a:ext cx="1805940" cy="9329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성별 </a:t>
              </a:r>
              <a:r>
                <a:rPr lang="en-US" sz="1600" b="1" dirty="0" err="1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권력이</a:t>
              </a:r>
              <a:r>
                <a:rPr lang="en-US" sz="16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600" b="1" dirty="0" err="1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남용되는</a:t>
              </a:r>
              <a:r>
                <a:rPr lang="en-US" sz="16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지점은 없는가?</a:t>
              </a:r>
              <a:endParaRPr lang="en-US" sz="1600" b="1" dirty="0"/>
            </a:p>
          </p:txBody>
        </p:sp>
      </p:grpSp>
      <p:sp>
        <p:nvSpPr>
          <p:cNvPr id="6" name="제목 5">
            <a:extLst>
              <a:ext uri="{FF2B5EF4-FFF2-40B4-BE49-F238E27FC236}">
                <a16:creationId xmlns:a16="http://schemas.microsoft.com/office/drawing/2014/main" id="{C0319178-8F3A-4D4D-A9B2-4D333BEF6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09" y="-48681"/>
            <a:ext cx="8655935" cy="994172"/>
          </a:xfrm>
        </p:spPr>
        <p:txBody>
          <a:bodyPr>
            <a:normAutofit/>
          </a:bodyPr>
          <a:lstStyle/>
          <a:p>
            <a:r>
              <a:rPr lang="ko-KR" altLang="en-US" sz="2800" b="1" dirty="0">
                <a:solidFill>
                  <a:schemeClr val="bg2">
                    <a:lumMod val="50000"/>
                  </a:schemeClr>
                </a:solidFill>
              </a:rPr>
              <a:t>고위직으로서 젠더의 관점으로 주변을 돌아본다면</a:t>
            </a:r>
            <a:r>
              <a:rPr lang="en-US" altLang="ko-KR" sz="2800" b="1" dirty="0">
                <a:solidFill>
                  <a:schemeClr val="bg2">
                    <a:lumMod val="50000"/>
                  </a:schemeClr>
                </a:solidFill>
              </a:rPr>
              <a:t>?</a:t>
            </a:r>
            <a:endParaRPr lang="ko-KR" altLang="en-U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516A2CE-1191-4A91-B0BD-1746C5457A75}"/>
              </a:ext>
            </a:extLst>
          </p:cNvPr>
          <p:cNvGrpSpPr/>
          <p:nvPr/>
        </p:nvGrpSpPr>
        <p:grpSpPr>
          <a:xfrm>
            <a:off x="2781418" y="885507"/>
            <a:ext cx="4094057" cy="3911645"/>
            <a:chOff x="2781418" y="826236"/>
            <a:chExt cx="4094057" cy="3911645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D9D57EDF-E4FA-4946-9A9E-B610DFC431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831" t="7842"/>
            <a:stretch/>
          </p:blipFill>
          <p:spPr>
            <a:xfrm>
              <a:off x="2781418" y="826236"/>
              <a:ext cx="4094057" cy="3911645"/>
            </a:xfrm>
            <a:prstGeom prst="rect">
              <a:avLst/>
            </a:prstGeom>
          </p:spPr>
        </p:pic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BBE157DD-2A05-4A78-B868-3ED17560DF9B}"/>
                </a:ext>
              </a:extLst>
            </p:cNvPr>
            <p:cNvGrpSpPr/>
            <p:nvPr/>
          </p:nvGrpSpPr>
          <p:grpSpPr>
            <a:xfrm>
              <a:off x="5596007" y="1943361"/>
              <a:ext cx="792088" cy="864096"/>
              <a:chOff x="6750983" y="1917492"/>
              <a:chExt cx="906723" cy="934454"/>
            </a:xfrm>
          </p:grpSpPr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C5EC0452-675F-4E57-85F6-AB6CFE7EEB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92280" y="1917492"/>
                <a:ext cx="320360" cy="575404"/>
              </a:xfrm>
              <a:prstGeom prst="rect">
                <a:avLst/>
              </a:prstGeom>
            </p:spPr>
          </p:pic>
          <p:pic>
            <p:nvPicPr>
              <p:cNvPr id="28" name="그림 27">
                <a:extLst>
                  <a:ext uri="{FF2B5EF4-FFF2-40B4-BE49-F238E27FC236}">
                    <a16:creationId xmlns:a16="http://schemas.microsoft.com/office/drawing/2014/main" id="{4EACB9BB-5030-482B-87A3-1ACC3A084B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37548" y="2066099"/>
                <a:ext cx="320360" cy="575404"/>
              </a:xfrm>
              <a:prstGeom prst="rect">
                <a:avLst/>
              </a:prstGeom>
            </p:spPr>
          </p:pic>
          <p:pic>
            <p:nvPicPr>
              <p:cNvPr id="34" name="그림 33">
                <a:extLst>
                  <a:ext uri="{FF2B5EF4-FFF2-40B4-BE49-F238E27FC236}">
                    <a16:creationId xmlns:a16="http://schemas.microsoft.com/office/drawing/2014/main" id="{763B0848-139D-43FE-BE35-A716518391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03551" y="2060848"/>
                <a:ext cx="320360" cy="575404"/>
              </a:xfrm>
              <a:prstGeom prst="rect">
                <a:avLst/>
              </a:prstGeom>
            </p:spPr>
          </p:pic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7173E499-AF4D-4DD8-B4B6-4DBCB8F0CC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45354" y="2276542"/>
                <a:ext cx="320360" cy="575404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FB12811E-9369-4AD9-8C0B-7530113D58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50983" y="2276542"/>
                <a:ext cx="320360" cy="575404"/>
              </a:xfrm>
              <a:prstGeom prst="rect">
                <a:avLst/>
              </a:prstGeom>
            </p:spPr>
          </p:pic>
          <p:pic>
            <p:nvPicPr>
              <p:cNvPr id="31" name="그림 30">
                <a:extLst>
                  <a:ext uri="{FF2B5EF4-FFF2-40B4-BE49-F238E27FC236}">
                    <a16:creationId xmlns:a16="http://schemas.microsoft.com/office/drawing/2014/main" id="{CD824081-E60E-4FDF-A55A-6801D104DE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37346" y="2267084"/>
                <a:ext cx="320360" cy="575404"/>
              </a:xfrm>
              <a:prstGeom prst="rect">
                <a:avLst/>
              </a:prstGeom>
            </p:spPr>
          </p:pic>
        </p:grp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B5F9EEFE-C207-4854-AAA5-D134A6545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90840" y="2542174"/>
              <a:ext cx="320359" cy="675922"/>
            </a:xfrm>
            <a:prstGeom prst="rect">
              <a:avLst/>
            </a:prstGeom>
          </p:spPr>
        </p:pic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38F8D674-2B27-40EF-B770-DDF942B94144}"/>
              </a:ext>
            </a:extLst>
          </p:cNvPr>
          <p:cNvGrpSpPr/>
          <p:nvPr/>
        </p:nvGrpSpPr>
        <p:grpSpPr>
          <a:xfrm>
            <a:off x="6609132" y="3444812"/>
            <a:ext cx="1816680" cy="2326000"/>
            <a:chOff x="6726600" y="4230252"/>
            <a:chExt cx="1816680" cy="2326000"/>
          </a:xfrm>
        </p:grpSpPr>
        <p:sp>
          <p:nvSpPr>
            <p:cNvPr id="18" name="Shape 17">
              <a:extLst>
                <a:ext uri="{FF2B5EF4-FFF2-40B4-BE49-F238E27FC236}">
                  <a16:creationId xmlns:a16="http://schemas.microsoft.com/office/drawing/2014/main" id="{61602000-E45E-4519-84E2-6D1EA571493B}"/>
                </a:ext>
              </a:extLst>
            </p:cNvPr>
            <p:cNvSpPr/>
            <p:nvPr/>
          </p:nvSpPr>
          <p:spPr>
            <a:xfrm>
              <a:off x="6737340" y="4230252"/>
              <a:ext cx="1805940" cy="2326000"/>
            </a:xfrm>
            <a:prstGeom prst="roundRect">
              <a:avLst>
                <a:gd name="adj" fmla="val 5063"/>
              </a:avLst>
            </a:prstGeom>
            <a:solidFill>
              <a:srgbClr val="EFEAF3"/>
            </a:solidFill>
            <a:ln w="9525">
              <a:solidFill>
                <a:srgbClr val="6C5B7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Text 20">
              <a:extLst>
                <a:ext uri="{FF2B5EF4-FFF2-40B4-BE49-F238E27FC236}">
                  <a16:creationId xmlns:a16="http://schemas.microsoft.com/office/drawing/2014/main" id="{B967E417-7C38-4906-AF0A-2390AABEEEBD}"/>
                </a:ext>
              </a:extLst>
            </p:cNvPr>
            <p:cNvSpPr/>
            <p:nvPr/>
          </p:nvSpPr>
          <p:spPr>
            <a:xfrm>
              <a:off x="6937548" y="4732293"/>
              <a:ext cx="1531620" cy="9968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3B305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말할 수 </a:t>
              </a:r>
            </a:p>
            <a:p>
              <a:pPr marL="0" indent="0" algn="ctr">
                <a:buNone/>
              </a:pPr>
              <a:r>
                <a:rPr lang="en-US" sz="2400" b="1" dirty="0" err="1">
                  <a:solidFill>
                    <a:srgbClr val="3B305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있는</a:t>
              </a:r>
              <a:r>
                <a:rPr lang="en-US" sz="2400" b="1" dirty="0">
                  <a:solidFill>
                    <a:srgbClr val="3B305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환경</a:t>
              </a:r>
              <a:endParaRPr lang="en-US" sz="2400" dirty="0"/>
            </a:p>
          </p:txBody>
        </p:sp>
        <p:sp>
          <p:nvSpPr>
            <p:cNvPr id="20" name="Text 21">
              <a:extLst>
                <a:ext uri="{FF2B5EF4-FFF2-40B4-BE49-F238E27FC236}">
                  <a16:creationId xmlns:a16="http://schemas.microsoft.com/office/drawing/2014/main" id="{032E9AB6-0C5C-40FD-968A-AD47B6D91A08}"/>
                </a:ext>
              </a:extLst>
            </p:cNvPr>
            <p:cNvSpPr/>
            <p:nvPr/>
          </p:nvSpPr>
          <p:spPr>
            <a:xfrm>
              <a:off x="6726600" y="5220912"/>
              <a:ext cx="1805940" cy="1211601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600" b="1" dirty="0" err="1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소외되거나</a:t>
              </a:r>
              <a:r>
                <a:rPr lang="en-US" sz="16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1600" b="1" dirty="0" err="1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배제되</a:t>
              </a:r>
              <a:r>
                <a:rPr lang="ko-KR" altLang="en-US" sz="16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더라</a:t>
              </a:r>
              <a:r>
                <a:rPr lang="en-US" sz="16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도 </a:t>
              </a:r>
              <a:r>
                <a:rPr lang="en-US" sz="1600" b="1" dirty="0" err="1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말하지</a:t>
              </a:r>
              <a:r>
                <a:rPr lang="en-US" sz="16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600" b="1" dirty="0" err="1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못하는</a:t>
              </a:r>
              <a:r>
                <a:rPr lang="en-US" sz="16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구성원은 없는가?</a:t>
              </a:r>
              <a:endParaRPr lang="en-US" sz="1600" b="1" dirty="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E1EE78B4-6EDC-4595-B1D3-C2E6FA103D5D}"/>
              </a:ext>
            </a:extLst>
          </p:cNvPr>
          <p:cNvGrpSpPr/>
          <p:nvPr/>
        </p:nvGrpSpPr>
        <p:grpSpPr>
          <a:xfrm>
            <a:off x="617699" y="4230661"/>
            <a:ext cx="2805884" cy="2326000"/>
            <a:chOff x="2566080" y="4335580"/>
            <a:chExt cx="1805940" cy="2326000"/>
          </a:xfrm>
        </p:grpSpPr>
        <p:sp>
          <p:nvSpPr>
            <p:cNvPr id="12" name="Shape 7">
              <a:extLst>
                <a:ext uri="{FF2B5EF4-FFF2-40B4-BE49-F238E27FC236}">
                  <a16:creationId xmlns:a16="http://schemas.microsoft.com/office/drawing/2014/main" id="{2D716ECF-F0E8-41E2-993F-885DC48A4A1C}"/>
                </a:ext>
              </a:extLst>
            </p:cNvPr>
            <p:cNvSpPr/>
            <p:nvPr/>
          </p:nvSpPr>
          <p:spPr>
            <a:xfrm>
              <a:off x="2566080" y="4335580"/>
              <a:ext cx="1805940" cy="2326000"/>
            </a:xfrm>
            <a:prstGeom prst="roundRect">
              <a:avLst>
                <a:gd name="adj" fmla="val 5063"/>
              </a:avLst>
            </a:prstGeom>
            <a:solidFill>
              <a:srgbClr val="EFEAF3"/>
            </a:solidFill>
            <a:ln w="9525">
              <a:solidFill>
                <a:srgbClr val="6C5B7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93D4A8E5-0F35-4EEF-A2A6-6A5073F06B83}"/>
                </a:ext>
              </a:extLst>
            </p:cNvPr>
            <p:cNvSpPr/>
            <p:nvPr/>
          </p:nvSpPr>
          <p:spPr>
            <a:xfrm>
              <a:off x="2703240" y="4555075"/>
              <a:ext cx="1531620" cy="27690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3B305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역할 구분</a:t>
              </a:r>
              <a:endParaRPr lang="en-US" sz="2400" dirty="0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F6D8573B-EA9A-46FC-A841-386252729FFC}"/>
                </a:ext>
              </a:extLst>
            </p:cNvPr>
            <p:cNvSpPr/>
            <p:nvPr/>
          </p:nvSpPr>
          <p:spPr>
            <a:xfrm>
              <a:off x="2703240" y="5001304"/>
              <a:ext cx="1531620" cy="113531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성별에 적합한 </a:t>
              </a:r>
              <a:r>
                <a:rPr lang="en-US" sz="1600" b="1" dirty="0" err="1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역할이</a:t>
              </a:r>
              <a:r>
                <a:rPr lang="en-US" sz="16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600" b="1" dirty="0" err="1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따로</a:t>
              </a:r>
              <a:r>
                <a:rPr lang="en-US" sz="16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1600" b="1" dirty="0" err="1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있다고</a:t>
              </a:r>
              <a:r>
                <a:rPr lang="en-US" sz="16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600" b="1" dirty="0" err="1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무의식적으로</a:t>
              </a:r>
              <a:r>
                <a:rPr lang="en-US" sz="16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600" b="1" dirty="0" err="1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구분하고</a:t>
              </a:r>
              <a:r>
                <a:rPr lang="en-US" sz="1600" b="1" dirty="0">
                  <a:solidFill>
                    <a:srgbClr val="2B22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있지 않은가?</a:t>
              </a:r>
              <a:endParaRPr lang="en-US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425118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3995B9-6EAF-4FB8-B679-CBA6CF855A3B}"/>
              </a:ext>
            </a:extLst>
          </p:cNvPr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EFEA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A4EBA3-26A3-41FE-B0C7-0E9021A5FCBB}"/>
              </a:ext>
            </a:extLst>
          </p:cNvPr>
          <p:cNvSpPr/>
          <p:nvPr/>
        </p:nvSpPr>
        <p:spPr>
          <a:xfrm>
            <a:off x="220138" y="426204"/>
            <a:ext cx="837522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고위직의</a:t>
            </a:r>
            <a:r>
              <a:rPr lang="en-US" sz="28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8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책무</a:t>
            </a:r>
            <a:r>
              <a:rPr lang="en-US" altLang="ko-KR" sz="2800" b="1" dirty="0">
                <a:solidFill>
                  <a:srgbClr val="3B3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2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가해자에 대한 무관용 원칙 천명</a:t>
            </a:r>
            <a:endParaRPr lang="en-US" sz="2800" dirty="0">
              <a:solidFill>
                <a:srgbClr val="C0000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C4A5539-2D3C-449A-81A2-1AD2DEB2A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38" y="2340069"/>
            <a:ext cx="3312368" cy="1697829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83774D41-91CE-42BE-9678-CEF0AF5C37D4}"/>
              </a:ext>
            </a:extLst>
          </p:cNvPr>
          <p:cNvGrpSpPr/>
          <p:nvPr/>
        </p:nvGrpSpPr>
        <p:grpSpPr>
          <a:xfrm>
            <a:off x="514951" y="4221088"/>
            <a:ext cx="2722741" cy="1175438"/>
            <a:chOff x="548640" y="4426638"/>
            <a:chExt cx="2722741" cy="117543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D927FDB-A529-47CE-8990-CB5EE8C99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9956" y="4579492"/>
              <a:ext cx="961546" cy="961546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CFB29163-C6C4-419B-B192-96EE092FC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8640" y="4426638"/>
              <a:ext cx="1143000" cy="1143000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3BD5B2E-680E-4C91-9070-B2108C750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8381" y="4459076"/>
              <a:ext cx="1143000" cy="1143000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1DA56F92-D02C-48A4-ACFD-2CC4AA9CC136}"/>
              </a:ext>
            </a:extLst>
          </p:cNvPr>
          <p:cNvGrpSpPr/>
          <p:nvPr/>
        </p:nvGrpSpPr>
        <p:grpSpPr>
          <a:xfrm>
            <a:off x="3851920" y="1226464"/>
            <a:ext cx="5184576" cy="5504170"/>
            <a:chOff x="3851920" y="1226464"/>
            <a:chExt cx="5184576" cy="5504170"/>
          </a:xfrm>
        </p:grpSpPr>
        <p:sp>
          <p:nvSpPr>
            <p:cNvPr id="12" name="말풍선: 타원형 11">
              <a:extLst>
                <a:ext uri="{FF2B5EF4-FFF2-40B4-BE49-F238E27FC236}">
                  <a16:creationId xmlns:a16="http://schemas.microsoft.com/office/drawing/2014/main" id="{44A697E7-8EA7-420D-BFA0-0DF0D5DC0C6F}"/>
                </a:ext>
              </a:extLst>
            </p:cNvPr>
            <p:cNvSpPr/>
            <p:nvPr/>
          </p:nvSpPr>
          <p:spPr>
            <a:xfrm>
              <a:off x="3851920" y="1362964"/>
              <a:ext cx="5184576" cy="5239004"/>
            </a:xfrm>
            <a:prstGeom prst="wedgeEllipseCallout">
              <a:avLst>
                <a:gd name="adj1" fmla="val -55378"/>
                <a:gd name="adj2" fmla="val 8177"/>
              </a:avLst>
            </a:prstGeom>
            <a:noFill/>
            <a:ln w="19050">
              <a:solidFill>
                <a:srgbClr val="0066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A4BCB04-9BCA-4EB5-9E7F-8A0F1663E7A2}"/>
                </a:ext>
              </a:extLst>
            </p:cNvPr>
            <p:cNvSpPr txBox="1"/>
            <p:nvPr/>
          </p:nvSpPr>
          <p:spPr>
            <a:xfrm>
              <a:off x="3851920" y="2083208"/>
              <a:ext cx="5184576" cy="46474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/>
                <a:t>저는 </a:t>
              </a:r>
              <a:r>
                <a:rPr lang="ko-KR" altLang="en-US" sz="3200" b="1" dirty="0"/>
                <a:t>총장</a:t>
              </a:r>
              <a:r>
                <a:rPr lang="en-US" altLang="ko-KR" sz="3200" b="1" dirty="0"/>
                <a:t>(</a:t>
              </a:r>
              <a:r>
                <a:rPr lang="ko-KR" altLang="en-US" sz="3200" b="1" dirty="0"/>
                <a:t>기관장</a:t>
              </a:r>
              <a:r>
                <a:rPr lang="en-US" altLang="ko-KR" sz="3200" b="1" dirty="0"/>
                <a:t>)</a:t>
              </a:r>
              <a:r>
                <a:rPr lang="ko-KR" altLang="en-US" b="1" dirty="0"/>
                <a:t>으로서</a:t>
              </a:r>
              <a:endParaRPr lang="en-US" altLang="ko-KR" b="1" dirty="0"/>
            </a:p>
            <a:p>
              <a:pPr algn="ctr"/>
              <a:r>
                <a:rPr lang="ko-KR" altLang="en-US" b="1" dirty="0"/>
                <a:t>여러분들이 </a:t>
              </a:r>
              <a:r>
                <a:rPr lang="ko-KR" altLang="en-US" b="1" dirty="0">
                  <a:solidFill>
                    <a:srgbClr val="006600"/>
                  </a:solidFill>
                </a:rPr>
                <a:t>성평등한</a:t>
              </a:r>
              <a:r>
                <a:rPr lang="en-US" altLang="ko-KR" b="1" dirty="0">
                  <a:solidFill>
                    <a:srgbClr val="006600"/>
                  </a:solidFill>
                </a:rPr>
                <a:t> </a:t>
              </a:r>
              <a:r>
                <a:rPr lang="ko-KR" altLang="en-US" b="1" dirty="0">
                  <a:solidFill>
                    <a:srgbClr val="006600"/>
                  </a:solidFill>
                </a:rPr>
                <a:t>환경</a:t>
              </a:r>
              <a:r>
                <a:rPr lang="ko-KR" altLang="en-US" b="1" dirty="0"/>
                <a:t>에서</a:t>
              </a:r>
              <a:endParaRPr lang="en-US" altLang="ko-KR" b="1" dirty="0"/>
            </a:p>
            <a:p>
              <a:pPr algn="ctr"/>
              <a:r>
                <a:rPr lang="ko-KR" altLang="en-US" b="1" dirty="0"/>
                <a:t>업무 역량을 마음껏 발휘할 수 있도록 </a:t>
              </a:r>
              <a:endParaRPr lang="en-US" altLang="ko-KR" b="1" dirty="0"/>
            </a:p>
            <a:p>
              <a:pPr algn="ctr"/>
              <a:r>
                <a:rPr lang="ko-KR" altLang="en-US" b="1" dirty="0"/>
                <a:t>최선을 다할 것입니다</a:t>
              </a:r>
              <a:r>
                <a:rPr lang="en-US" altLang="ko-KR" b="1" dirty="0"/>
                <a:t>. </a:t>
              </a:r>
            </a:p>
            <a:p>
              <a:pPr algn="ctr"/>
              <a:r>
                <a:rPr lang="ko-KR" altLang="en-US" b="1" dirty="0"/>
                <a:t>어떠한 차별도 사소한 일이 아닙니다</a:t>
              </a:r>
              <a:r>
                <a:rPr lang="en-US" altLang="ko-KR" b="1" dirty="0"/>
                <a:t>. </a:t>
              </a:r>
            </a:p>
            <a:p>
              <a:pPr algn="ctr"/>
              <a:r>
                <a:rPr lang="ko-KR" altLang="en-US" b="1" dirty="0"/>
                <a:t>어떠한 이유로도 성희롱</a:t>
              </a:r>
              <a:r>
                <a:rPr lang="en-US" altLang="ko-KR" b="1" dirty="0"/>
                <a:t>·</a:t>
              </a:r>
              <a:r>
                <a:rPr lang="ko-KR" altLang="en-US" b="1" dirty="0"/>
                <a:t>성폭력을 </a:t>
              </a:r>
              <a:endParaRPr lang="en-US" altLang="ko-KR" b="1" dirty="0"/>
            </a:p>
            <a:p>
              <a:pPr algn="ctr"/>
              <a:r>
                <a:rPr lang="ko-KR" altLang="en-US" b="1" dirty="0"/>
                <a:t>용납하는 조직 분위기가 되어서는 안됩니다</a:t>
              </a:r>
              <a:r>
                <a:rPr lang="en-US" altLang="ko-KR" b="1" dirty="0"/>
                <a:t>.</a:t>
              </a:r>
            </a:p>
            <a:p>
              <a:pPr algn="ctr"/>
              <a:r>
                <a:rPr lang="ko-KR" altLang="en-US" sz="2400" b="1" dirty="0"/>
                <a:t>누구라도</a:t>
              </a:r>
              <a:r>
                <a:rPr lang="ko-KR" altLang="en-US" b="1" dirty="0">
                  <a:solidFill>
                    <a:srgbClr val="006600"/>
                  </a:solidFill>
                </a:rPr>
                <a:t> 피해를 당하거나 목격하면 </a:t>
              </a:r>
              <a:endParaRPr lang="en-US" altLang="ko-KR" b="1" dirty="0">
                <a:solidFill>
                  <a:srgbClr val="006600"/>
                </a:solidFill>
              </a:endParaRPr>
            </a:p>
            <a:p>
              <a:pPr algn="ctr"/>
              <a:r>
                <a:rPr lang="ko-KR" altLang="en-US" b="1" dirty="0">
                  <a:solidFill>
                    <a:srgbClr val="006600"/>
                  </a:solidFill>
                </a:rPr>
                <a:t>즉시 인권센터에 알려주십시오</a:t>
              </a:r>
              <a:r>
                <a:rPr lang="en-US" altLang="ko-KR" b="1" dirty="0">
                  <a:solidFill>
                    <a:srgbClr val="006600"/>
                  </a:solidFill>
                </a:rPr>
                <a:t>.</a:t>
              </a:r>
            </a:p>
            <a:p>
              <a:pPr algn="ctr"/>
              <a:r>
                <a:rPr lang="ko-KR" altLang="en-US" sz="2000" b="1" dirty="0">
                  <a:solidFill>
                    <a:srgbClr val="FF0000"/>
                  </a:solidFill>
                </a:rPr>
                <a:t>피해자 보호와 </a:t>
              </a:r>
              <a:r>
                <a:rPr lang="en-US" altLang="ko-KR" sz="2000" b="1" dirty="0">
                  <a:solidFill>
                    <a:srgbClr val="FF0000"/>
                  </a:solidFill>
                </a:rPr>
                <a:t>2</a:t>
              </a:r>
              <a:r>
                <a:rPr lang="ko-KR" altLang="en-US" sz="2000" b="1" dirty="0">
                  <a:solidFill>
                    <a:srgbClr val="FF0000"/>
                  </a:solidFill>
                </a:rPr>
                <a:t>차 피해 방지를 </a:t>
              </a:r>
              <a:endParaRPr lang="en-US" altLang="ko-KR" sz="2000" b="1" dirty="0">
                <a:solidFill>
                  <a:srgbClr val="FF0000"/>
                </a:solidFill>
              </a:endParaRPr>
            </a:p>
            <a:p>
              <a:pPr algn="ctr"/>
              <a:r>
                <a:rPr lang="ko-KR" altLang="en-US" sz="2000" b="1" dirty="0">
                  <a:solidFill>
                    <a:srgbClr val="FF0000"/>
                  </a:solidFill>
                </a:rPr>
                <a:t>최우선으로</a:t>
              </a:r>
              <a:r>
                <a:rPr lang="en-US" altLang="ko-KR" sz="2000" b="1" dirty="0">
                  <a:solidFill>
                    <a:srgbClr val="FF0000"/>
                  </a:solidFill>
                </a:rPr>
                <a:t>, </a:t>
              </a:r>
              <a:r>
                <a:rPr lang="ko-KR" altLang="en-US" sz="2000" b="1" dirty="0">
                  <a:solidFill>
                    <a:srgbClr val="FF0000"/>
                  </a:solidFill>
                </a:rPr>
                <a:t>행위자에게는 </a:t>
              </a:r>
              <a:endParaRPr lang="en-US" altLang="ko-KR" sz="2000" b="1" dirty="0">
                <a:solidFill>
                  <a:srgbClr val="FF0000"/>
                </a:solidFill>
              </a:endParaRPr>
            </a:p>
            <a:p>
              <a:pPr algn="ctr"/>
              <a:r>
                <a:rPr lang="ko-KR" altLang="en-US" sz="2000" b="1" dirty="0">
                  <a:solidFill>
                    <a:srgbClr val="FF0000"/>
                  </a:solidFill>
                </a:rPr>
                <a:t>무관용 원칙</a:t>
              </a:r>
              <a:r>
                <a:rPr lang="ko-KR" altLang="en-US" b="1" dirty="0">
                  <a:solidFill>
                    <a:srgbClr val="006600"/>
                  </a:solidFill>
                </a:rPr>
                <a:t>으로 엄정 </a:t>
              </a:r>
              <a:endParaRPr lang="en-US" altLang="ko-KR" b="1" dirty="0">
                <a:solidFill>
                  <a:srgbClr val="006600"/>
                </a:solidFill>
              </a:endParaRPr>
            </a:p>
            <a:p>
              <a:pPr algn="ctr"/>
              <a:r>
                <a:rPr lang="ko-KR" altLang="en-US" b="1" dirty="0">
                  <a:solidFill>
                    <a:srgbClr val="006600"/>
                  </a:solidFill>
                </a:rPr>
                <a:t>처리할 것입니다</a:t>
              </a:r>
              <a:r>
                <a:rPr lang="en-US" altLang="ko-KR" b="1" dirty="0">
                  <a:solidFill>
                    <a:srgbClr val="006600"/>
                  </a:solidFill>
                </a:rPr>
                <a:t>.</a:t>
              </a:r>
            </a:p>
            <a:p>
              <a:pPr algn="ctr"/>
              <a:endParaRPr lang="en-US" altLang="ko-KR" b="1" dirty="0">
                <a:solidFill>
                  <a:srgbClr val="006600"/>
                </a:solidFill>
              </a:endParaRPr>
            </a:p>
            <a:p>
              <a:pPr algn="ctr"/>
              <a:endParaRPr lang="ko-KR" altLang="en-US" b="1" dirty="0">
                <a:solidFill>
                  <a:srgbClr val="006600"/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AD5E37D-D716-4804-95F4-BC4F0A295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11960" y="1226464"/>
              <a:ext cx="919291" cy="881186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9B23987-0E3C-419B-B701-05F94CC74638}"/>
              </a:ext>
            </a:extLst>
          </p:cNvPr>
          <p:cNvSpPr txBox="1"/>
          <p:nvPr/>
        </p:nvSpPr>
        <p:spPr>
          <a:xfrm>
            <a:off x="220138" y="1677236"/>
            <a:ext cx="47320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/>
              <a:t>즉시 실천 노력</a:t>
            </a:r>
            <a:endParaRPr lang="ko-KR" altLang="en-US" sz="2400" dirty="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915BFEA7-37BD-42B6-82CC-9A708BD9F6E8}"/>
              </a:ext>
            </a:extLst>
          </p:cNvPr>
          <p:cNvSpPr/>
          <p:nvPr/>
        </p:nvSpPr>
        <p:spPr>
          <a:xfrm>
            <a:off x="224367" y="237442"/>
            <a:ext cx="7822581" cy="294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283" b="1" kern="0" spc="86" dirty="0">
                <a:solidFill>
                  <a:srgbClr val="C08A28"/>
                </a:solidFill>
                <a:ea typeface="맑은 고딕" pitchFamily="34" charset="-122"/>
                <a:cs typeface="맑은 고딕" pitchFamily="34" charset="-120"/>
              </a:rPr>
              <a:t>다시 한번 기억합니다</a:t>
            </a:r>
            <a:r>
              <a:rPr lang="en-US" altLang="ko-KR" sz="1283" b="1" kern="0" spc="86" dirty="0">
                <a:solidFill>
                  <a:srgbClr val="C08A28"/>
                </a:solidFill>
                <a:ea typeface="맑은 고딕" pitchFamily="34" charset="-122"/>
                <a:cs typeface="맑은 고딕" pitchFamily="34" charset="-120"/>
              </a:rPr>
              <a:t> </a:t>
            </a:r>
            <a:endParaRPr lang="en-US" sz="1283" dirty="0"/>
          </a:p>
        </p:txBody>
      </p:sp>
      <p:sp>
        <p:nvSpPr>
          <p:cNvPr id="16" name="TextBox 15"/>
          <p:cNvSpPr txBox="1"/>
          <p:nvPr/>
        </p:nvSpPr>
        <p:spPr>
          <a:xfrm>
            <a:off x="336486" y="6393838"/>
            <a:ext cx="3079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</a:t>
            </a:r>
            <a:r>
              <a:rPr lang="ko-KR" altLang="en-US" sz="1400" dirty="0"/>
              <a:t>이미지 출처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미리캔버스</a:t>
            </a:r>
            <a:r>
              <a:rPr lang="en-US" altLang="ko-KR" sz="1400" dirty="0"/>
              <a:t>]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41192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12894</TotalTime>
  <Words>3574</Words>
  <Application>Microsoft Office PowerPoint</Application>
  <PresentationFormat>화면 슬라이드 쇼(4:3)</PresentationFormat>
  <Paragraphs>510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맑은 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고위직으로서 젠더의 관점으로 주변을 돌아본다면?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sobi2000@naver.com</cp:lastModifiedBy>
  <cp:revision>528</cp:revision>
  <cp:lastPrinted>2026-10-13T11:37:56Z</cp:lastPrinted>
  <dcterms:created xsi:type="dcterms:W3CDTF">2017-08-23T01:04:19Z</dcterms:created>
  <dcterms:modified xsi:type="dcterms:W3CDTF">2026-10-13T11:51:33Z</dcterms:modified>
</cp:coreProperties>
</file>